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301" r:id="rId2"/>
    <p:sldId id="256" r:id="rId3"/>
    <p:sldId id="309" r:id="rId4"/>
    <p:sldId id="316" r:id="rId5"/>
    <p:sldId id="330" r:id="rId6"/>
    <p:sldId id="315" r:id="rId7"/>
    <p:sldId id="321" r:id="rId8"/>
    <p:sldId id="328" r:id="rId9"/>
    <p:sldId id="317" r:id="rId10"/>
    <p:sldId id="318" r:id="rId11"/>
    <p:sldId id="331" r:id="rId12"/>
    <p:sldId id="332" r:id="rId13"/>
    <p:sldId id="319" r:id="rId14"/>
    <p:sldId id="335" r:id="rId15"/>
    <p:sldId id="320" r:id="rId16"/>
    <p:sldId id="334" r:id="rId17"/>
    <p:sldId id="333" r:id="rId18"/>
    <p:sldId id="322" r:id="rId19"/>
    <p:sldId id="336" r:id="rId20"/>
    <p:sldId id="337" r:id="rId21"/>
    <p:sldId id="262" r:id="rId22"/>
    <p:sldId id="323" r:id="rId23"/>
    <p:sldId id="268" r:id="rId24"/>
    <p:sldId id="324" r:id="rId25"/>
    <p:sldId id="329" r:id="rId26"/>
    <p:sldId id="325" r:id="rId27"/>
    <p:sldId id="281" r:id="rId28"/>
    <p:sldId id="326" r:id="rId29"/>
    <p:sldId id="327" r:id="rId30"/>
    <p:sldId id="265" r:id="rId31"/>
    <p:sldId id="276" r:id="rId32"/>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9AD5"/>
    <a:srgbClr val="BDD7EE"/>
    <a:srgbClr val="C7DDF1"/>
    <a:srgbClr val="317CC1"/>
    <a:srgbClr val="468ED0"/>
    <a:srgbClr val="FFFFFF"/>
    <a:srgbClr val="2C2C2C"/>
    <a:srgbClr val="000000"/>
    <a:srgbClr val="CE293D"/>
    <a:srgbClr val="1DA9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03" autoAdjust="0"/>
    <p:restoredTop sz="87797" autoAdjust="0"/>
  </p:normalViewPr>
  <p:slideViewPr>
    <p:cSldViewPr snapToGrid="0">
      <p:cViewPr varScale="1">
        <p:scale>
          <a:sx n="97" d="100"/>
          <a:sy n="97" d="100"/>
        </p:scale>
        <p:origin x="704" y="60"/>
      </p:cViewPr>
      <p:guideLst>
        <p:guide orient="horz" pos="2160"/>
        <p:guide pos="3840"/>
      </p:guideLst>
    </p:cSldViewPr>
  </p:slideViewPr>
  <p:notesTextViewPr>
    <p:cViewPr>
      <p:scale>
        <a:sx n="1" d="1"/>
        <a:sy n="1" d="1"/>
      </p:scale>
      <p:origin x="0" y="0"/>
    </p:cViewPr>
  </p:notesTextViewPr>
  <p:sorterViewPr>
    <p:cViewPr>
      <p:scale>
        <a:sx n="100" d="100"/>
        <a:sy n="100" d="100"/>
      </p:scale>
      <p:origin x="0" y="-888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B5EDD-FF9E-4057-A488-E848CDD604EF}" type="datetimeFigureOut">
              <a:rPr lang="zh-CN" altLang="en-US" smtClean="0"/>
              <a:t>2025/6/3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1E4CA6-4D40-4370-8D93-DA5309A02198}" type="slidenum">
              <a:rPr lang="zh-CN" altLang="en-US" smtClean="0"/>
              <a:t>‹#›</a:t>
            </a:fld>
            <a:endParaRPr lang="zh-CN" altLang="en-US"/>
          </a:p>
        </p:txBody>
      </p:sp>
    </p:spTree>
    <p:extLst>
      <p:ext uri="{BB962C8B-B14F-4D97-AF65-F5344CB8AC3E}">
        <p14:creationId xmlns:p14="http://schemas.microsoft.com/office/powerpoint/2010/main" val="1276145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1E4CA6-4D40-4370-8D93-DA5309A02198}" type="slidenum">
              <a:rPr lang="zh-CN" altLang="en-US" smtClean="0"/>
              <a:t>1</a:t>
            </a:fld>
            <a:endParaRPr lang="zh-CN" altLang="en-US"/>
          </a:p>
        </p:txBody>
      </p:sp>
    </p:spTree>
    <p:extLst>
      <p:ext uri="{BB962C8B-B14F-4D97-AF65-F5344CB8AC3E}">
        <p14:creationId xmlns:p14="http://schemas.microsoft.com/office/powerpoint/2010/main" val="3321195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1E4CA6-4D40-4370-8D93-DA5309A02198}" type="slidenum">
              <a:rPr lang="zh-CN" altLang="en-US" smtClean="0"/>
              <a:t>2</a:t>
            </a:fld>
            <a:endParaRPr lang="zh-CN" altLang="en-US"/>
          </a:p>
        </p:txBody>
      </p:sp>
    </p:spTree>
    <p:extLst>
      <p:ext uri="{BB962C8B-B14F-4D97-AF65-F5344CB8AC3E}">
        <p14:creationId xmlns:p14="http://schemas.microsoft.com/office/powerpoint/2010/main" val="3202765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81E4CA6-4D40-4370-8D93-DA5309A02198}" type="slidenum">
              <a:rPr lang="zh-CN" altLang="en-US" smtClean="0"/>
              <a:t>3</a:t>
            </a:fld>
            <a:endParaRPr lang="zh-CN" altLang="en-US"/>
          </a:p>
        </p:txBody>
      </p:sp>
    </p:spTree>
    <p:extLst>
      <p:ext uri="{BB962C8B-B14F-4D97-AF65-F5344CB8AC3E}">
        <p14:creationId xmlns:p14="http://schemas.microsoft.com/office/powerpoint/2010/main" val="3778348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F11E9-6A7D-43A5-54D7-FA2BC141E8F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6BE741C-F419-B7E4-6B19-D763B59A1F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3F3D6E3-0A6B-B615-0B4D-13E05D20147C}"/>
              </a:ext>
            </a:extLst>
          </p:cNvPr>
          <p:cNvSpPr>
            <a:spLocks noGrp="1"/>
          </p:cNvSpPr>
          <p:nvPr>
            <p:ph type="body" idx="1"/>
          </p:nvPr>
        </p:nvSpPr>
        <p:spPr/>
        <p:txBody>
          <a:bodyPr/>
          <a:lstStyle/>
          <a:p>
            <a:r>
              <a:rPr lang="zh-CN" altLang="en-US" dirty="0"/>
              <a:t>市面上的几乎所有大模型都依赖</a:t>
            </a:r>
            <a:r>
              <a:rPr lang="en-US" altLang="zh-CN" dirty="0"/>
              <a:t>transformer</a:t>
            </a:r>
            <a:r>
              <a:rPr lang="zh-CN" altLang="en-US" dirty="0"/>
              <a:t>架构，但其中许多我们熟悉的</a:t>
            </a:r>
            <a:r>
              <a:rPr lang="en-US" altLang="zh-CN" dirty="0"/>
              <a:t>LLM</a:t>
            </a:r>
            <a:r>
              <a:rPr lang="zh-CN" altLang="en-US" dirty="0"/>
              <a:t>并不是完全使用了经典的</a:t>
            </a:r>
            <a:r>
              <a:rPr lang="en-US" altLang="zh-CN" dirty="0"/>
              <a:t>transformer</a:t>
            </a:r>
            <a:r>
              <a:rPr lang="zh-CN" altLang="en-US" dirty="0"/>
              <a:t>，我们能从这张图中发现大部分的大模型都是</a:t>
            </a:r>
            <a:endParaRPr lang="en-US" altLang="zh-CN" dirty="0"/>
          </a:p>
          <a:p>
            <a:r>
              <a:rPr lang="zh-CN" altLang="en-US" dirty="0"/>
              <a:t>“</a:t>
            </a:r>
            <a:r>
              <a:rPr lang="en-US" altLang="zh-CN" dirty="0"/>
              <a:t>decoder-only</a:t>
            </a:r>
            <a:r>
              <a:rPr lang="zh-CN" altLang="en-US" dirty="0"/>
              <a:t>”的？我们以</a:t>
            </a:r>
            <a:r>
              <a:rPr lang="en-US" altLang="zh-CN" dirty="0"/>
              <a:t>gpt-2</a:t>
            </a:r>
            <a:r>
              <a:rPr lang="zh-CN" altLang="en-US" dirty="0"/>
              <a:t>为例</a:t>
            </a:r>
          </a:p>
        </p:txBody>
      </p:sp>
      <p:sp>
        <p:nvSpPr>
          <p:cNvPr id="4" name="灯片编号占位符 3">
            <a:extLst>
              <a:ext uri="{FF2B5EF4-FFF2-40B4-BE49-F238E27FC236}">
                <a16:creationId xmlns:a16="http://schemas.microsoft.com/office/drawing/2014/main" id="{F3BC652C-4CA5-A6A7-F7A1-D105848535F5}"/>
              </a:ext>
            </a:extLst>
          </p:cNvPr>
          <p:cNvSpPr>
            <a:spLocks noGrp="1"/>
          </p:cNvSpPr>
          <p:nvPr>
            <p:ph type="sldNum" sz="quarter" idx="10"/>
          </p:nvPr>
        </p:nvSpPr>
        <p:spPr/>
        <p:txBody>
          <a:bodyPr/>
          <a:lstStyle/>
          <a:p>
            <a:fld id="{281E4CA6-4D40-4370-8D93-DA5309A02198}" type="slidenum">
              <a:rPr lang="zh-CN" altLang="en-US" smtClean="0"/>
              <a:t>4</a:t>
            </a:fld>
            <a:endParaRPr lang="zh-CN" altLang="en-US"/>
          </a:p>
        </p:txBody>
      </p:sp>
    </p:spTree>
    <p:extLst>
      <p:ext uri="{BB962C8B-B14F-4D97-AF65-F5344CB8AC3E}">
        <p14:creationId xmlns:p14="http://schemas.microsoft.com/office/powerpoint/2010/main" val="3841284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FCE97-2A73-6A81-7723-4061B56B20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E87653-7E87-4656-3711-C96062B8D73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ACBB886-8C0E-1DEF-2803-F1A8F8F9A982}"/>
              </a:ext>
            </a:extLst>
          </p:cNvPr>
          <p:cNvSpPr>
            <a:spLocks noGrp="1"/>
          </p:cNvSpPr>
          <p:nvPr>
            <p:ph type="body" idx="1"/>
          </p:nvPr>
        </p:nvSpPr>
        <p:spPr/>
        <p:txBody>
          <a:bodyPr/>
          <a:lstStyle/>
          <a:p>
            <a:r>
              <a:rPr lang="zh-CN" altLang="en-US" dirty="0"/>
              <a:t>这是</a:t>
            </a:r>
            <a:r>
              <a:rPr lang="en-US" altLang="zh-CN" dirty="0"/>
              <a:t>gpt-2</a:t>
            </a:r>
            <a:r>
              <a:rPr lang="zh-CN" altLang="en-US" dirty="0"/>
              <a:t>的主要架构</a:t>
            </a:r>
          </a:p>
        </p:txBody>
      </p:sp>
      <p:sp>
        <p:nvSpPr>
          <p:cNvPr id="4" name="灯片编号占位符 3">
            <a:extLst>
              <a:ext uri="{FF2B5EF4-FFF2-40B4-BE49-F238E27FC236}">
                <a16:creationId xmlns:a16="http://schemas.microsoft.com/office/drawing/2014/main" id="{2EEEEDA3-FC8D-A927-1178-E5B6BB8AC93E}"/>
              </a:ext>
            </a:extLst>
          </p:cNvPr>
          <p:cNvSpPr>
            <a:spLocks noGrp="1"/>
          </p:cNvSpPr>
          <p:nvPr>
            <p:ph type="sldNum" sz="quarter" idx="10"/>
          </p:nvPr>
        </p:nvSpPr>
        <p:spPr/>
        <p:txBody>
          <a:bodyPr/>
          <a:lstStyle/>
          <a:p>
            <a:fld id="{281E4CA6-4D40-4370-8D93-DA5309A02198}" type="slidenum">
              <a:rPr lang="zh-CN" altLang="en-US" smtClean="0"/>
              <a:t>5</a:t>
            </a:fld>
            <a:endParaRPr lang="zh-CN" altLang="en-US"/>
          </a:p>
        </p:txBody>
      </p:sp>
    </p:spTree>
    <p:extLst>
      <p:ext uri="{BB962C8B-B14F-4D97-AF65-F5344CB8AC3E}">
        <p14:creationId xmlns:p14="http://schemas.microsoft.com/office/powerpoint/2010/main" val="3835086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06B25-81AA-BAEE-D742-4C07502C1E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1A5527-B0F6-CE0F-A211-88FED2B4442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0CF66E9-5D4D-9749-CF4F-38013C39F4C5}"/>
              </a:ext>
            </a:extLst>
          </p:cNvPr>
          <p:cNvSpPr>
            <a:spLocks noGrp="1"/>
          </p:cNvSpPr>
          <p:nvPr>
            <p:ph type="body" idx="1"/>
          </p:nvPr>
        </p:nvSpPr>
        <p:spPr/>
        <p:txBody>
          <a:bodyPr/>
          <a:lstStyle/>
          <a:p>
            <a:r>
              <a:rPr lang="zh-CN" altLang="en-US" b="0" i="0" dirty="0">
                <a:solidFill>
                  <a:srgbClr val="191B1F"/>
                </a:solidFill>
                <a:effectLst/>
                <a:latin typeface="-apple-system"/>
              </a:rPr>
              <a:t>与我们前面提到的经典</a:t>
            </a:r>
            <a:r>
              <a:rPr lang="en-US" altLang="zh-CN" b="0" i="0" dirty="0">
                <a:solidFill>
                  <a:srgbClr val="191B1F"/>
                </a:solidFill>
                <a:effectLst/>
                <a:latin typeface="-apple-system"/>
              </a:rPr>
              <a:t>transformer</a:t>
            </a:r>
            <a:r>
              <a:rPr lang="zh-CN" altLang="en-US" b="0" i="0" dirty="0">
                <a:solidFill>
                  <a:srgbClr val="191B1F"/>
                </a:solidFill>
                <a:effectLst/>
                <a:latin typeface="-apple-system"/>
              </a:rPr>
              <a:t>的架构对比，我们发现</a:t>
            </a:r>
            <a:r>
              <a:rPr lang="en-US" altLang="zh-CN" b="0" i="0" dirty="0">
                <a:solidFill>
                  <a:srgbClr val="191B1F"/>
                </a:solidFill>
                <a:effectLst/>
                <a:latin typeface="-apple-system"/>
              </a:rPr>
              <a:t>gpt-2</a:t>
            </a:r>
            <a:r>
              <a:rPr lang="zh-CN" altLang="en-US" b="0" i="0" dirty="0">
                <a:solidFill>
                  <a:srgbClr val="191B1F"/>
                </a:solidFill>
                <a:effectLst/>
                <a:latin typeface="-apple-system"/>
              </a:rPr>
              <a:t>是没有</a:t>
            </a:r>
            <a:r>
              <a:rPr lang="en-US" altLang="zh-CN" b="0" i="0" dirty="0">
                <a:solidFill>
                  <a:srgbClr val="191B1F"/>
                </a:solidFill>
                <a:effectLst/>
                <a:latin typeface="-apple-system"/>
              </a:rPr>
              <a:t>encoder</a:t>
            </a:r>
            <a:r>
              <a:rPr lang="zh-CN" altLang="en-US" b="0" i="0" dirty="0">
                <a:solidFill>
                  <a:srgbClr val="191B1F"/>
                </a:solidFill>
                <a:effectLst/>
                <a:latin typeface="-apple-system"/>
              </a:rPr>
              <a:t>这一部分的？至于为什么大部分的大模型都在沿用这种结构，这并不是我们工作的重点，我也不做过多赘述，但是我们可以从</a:t>
            </a:r>
            <a:r>
              <a:rPr lang="zh-CN" altLang="en-US" b="1" i="0" dirty="0">
                <a:solidFill>
                  <a:srgbClr val="191B1F"/>
                </a:solidFill>
                <a:effectLst/>
                <a:latin typeface="-apple-system"/>
              </a:rPr>
              <a:t>注意力矩阵满秩、隐式位置编码</a:t>
            </a:r>
            <a:r>
              <a:rPr lang="zh-CN" altLang="en-US" b="0" i="0" dirty="0">
                <a:solidFill>
                  <a:srgbClr val="191B1F"/>
                </a:solidFill>
                <a:effectLst/>
                <a:latin typeface="-apple-system"/>
              </a:rPr>
              <a:t>等角度来理解</a:t>
            </a:r>
            <a:endParaRPr lang="en-US" altLang="zh-CN" b="0" i="0" dirty="0">
              <a:solidFill>
                <a:srgbClr val="191B1F"/>
              </a:solidFill>
              <a:effectLst/>
              <a:latin typeface="-apple-system"/>
            </a:endParaRPr>
          </a:p>
        </p:txBody>
      </p:sp>
      <p:sp>
        <p:nvSpPr>
          <p:cNvPr id="4" name="灯片编号占位符 3">
            <a:extLst>
              <a:ext uri="{FF2B5EF4-FFF2-40B4-BE49-F238E27FC236}">
                <a16:creationId xmlns:a16="http://schemas.microsoft.com/office/drawing/2014/main" id="{6B8DA444-5D96-9A53-04C0-3C139E5EFE21}"/>
              </a:ext>
            </a:extLst>
          </p:cNvPr>
          <p:cNvSpPr>
            <a:spLocks noGrp="1"/>
          </p:cNvSpPr>
          <p:nvPr>
            <p:ph type="sldNum" sz="quarter" idx="10"/>
          </p:nvPr>
        </p:nvSpPr>
        <p:spPr/>
        <p:txBody>
          <a:bodyPr/>
          <a:lstStyle/>
          <a:p>
            <a:fld id="{281E4CA6-4D40-4370-8D93-DA5309A02198}" type="slidenum">
              <a:rPr lang="zh-CN" altLang="en-US" smtClean="0"/>
              <a:t>6</a:t>
            </a:fld>
            <a:endParaRPr lang="zh-CN" altLang="en-US"/>
          </a:p>
        </p:txBody>
      </p:sp>
    </p:spTree>
    <p:extLst>
      <p:ext uri="{BB962C8B-B14F-4D97-AF65-F5344CB8AC3E}">
        <p14:creationId xmlns:p14="http://schemas.microsoft.com/office/powerpoint/2010/main" val="3802990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19A0D-4F80-74A5-98BC-E59FF186A2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A79ABD5-0660-BE38-87C7-962EB072F11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9D6AC2-FE37-8F06-FBB6-A234A43E99E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B346ABD-0034-9C3F-B0B3-093C7B67328A}"/>
              </a:ext>
            </a:extLst>
          </p:cNvPr>
          <p:cNvSpPr>
            <a:spLocks noGrp="1"/>
          </p:cNvSpPr>
          <p:nvPr>
            <p:ph type="sldNum" sz="quarter" idx="10"/>
          </p:nvPr>
        </p:nvSpPr>
        <p:spPr/>
        <p:txBody>
          <a:bodyPr/>
          <a:lstStyle/>
          <a:p>
            <a:fld id="{281E4CA6-4D40-4370-8D93-DA5309A02198}" type="slidenum">
              <a:rPr lang="zh-CN" altLang="en-US" smtClean="0"/>
              <a:t>7</a:t>
            </a:fld>
            <a:endParaRPr lang="zh-CN" altLang="en-US"/>
          </a:p>
        </p:txBody>
      </p:sp>
    </p:spTree>
    <p:extLst>
      <p:ext uri="{BB962C8B-B14F-4D97-AF65-F5344CB8AC3E}">
        <p14:creationId xmlns:p14="http://schemas.microsoft.com/office/powerpoint/2010/main" val="8732283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EBF49-DC11-2BD5-24BF-66CA1451E6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CD7C23-4EE9-BF7F-B309-81D7F4D9E9A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229AAF-3850-F2B5-2F86-5E44D1CE4B51}"/>
              </a:ext>
            </a:extLst>
          </p:cNvPr>
          <p:cNvSpPr>
            <a:spLocks noGrp="1"/>
          </p:cNvSpPr>
          <p:nvPr>
            <p:ph type="body" idx="1"/>
          </p:nvPr>
        </p:nvSpPr>
        <p:spPr/>
        <p:txBody>
          <a:bodyPr/>
          <a:lstStyle/>
          <a:p>
            <a:r>
              <a:rPr lang="zh-CN" altLang="en-US" b="0" i="0" dirty="0">
                <a:solidFill>
                  <a:srgbClr val="1A1A1A"/>
                </a:solidFill>
                <a:effectLst/>
                <a:latin typeface="Segoe UI" panose="020B0502040204020203" pitchFamily="34" charset="0"/>
              </a:rPr>
              <a:t>最近对大型语言模型（</a:t>
            </a:r>
            <a:r>
              <a:rPr lang="en-US" altLang="zh-CN" b="0" i="0" dirty="0">
                <a:solidFill>
                  <a:srgbClr val="1A1A1A"/>
                </a:solidFill>
                <a:effectLst/>
                <a:latin typeface="Segoe UI" panose="020B0502040204020203" pitchFamily="34" charset="0"/>
              </a:rPr>
              <a:t>LLMs</a:t>
            </a:r>
            <a:r>
              <a:rPr lang="zh-CN" altLang="en-US" b="0" i="0" dirty="0">
                <a:solidFill>
                  <a:srgbClr val="1A1A1A"/>
                </a:solidFill>
                <a:effectLst/>
                <a:latin typeface="Segoe UI" panose="020B0502040204020203" pitchFamily="34" charset="0"/>
              </a:rPr>
              <a:t>）评估的努力主要依赖于</a:t>
            </a:r>
            <a:r>
              <a:rPr lang="en-US" altLang="zh-CN" b="0" i="0" dirty="0">
                <a:solidFill>
                  <a:srgbClr val="1A1A1A"/>
                </a:solidFill>
                <a:effectLst/>
                <a:latin typeface="Segoe UI" panose="020B0502040204020203" pitchFamily="34" charset="0"/>
              </a:rPr>
              <a:t>prompt-based evaluation</a:t>
            </a:r>
            <a:r>
              <a:rPr lang="zh-CN" altLang="en-US" b="0" i="0" dirty="0">
                <a:solidFill>
                  <a:srgbClr val="1A1A1A"/>
                </a:solidFill>
                <a:effectLst/>
                <a:latin typeface="Segoe UI" panose="020B0502040204020203" pitchFamily="34" charset="0"/>
              </a:rPr>
              <a:t>。我们发现已有的很多工作通常使用固定或有限的指令模板来测量模型性能。然而，研究表明</a:t>
            </a:r>
            <a:r>
              <a:rPr lang="en-US" altLang="zh-CN" b="0" i="0" dirty="0">
                <a:solidFill>
                  <a:srgbClr val="1A1A1A"/>
                </a:solidFill>
                <a:effectLst/>
                <a:latin typeface="Segoe UI" panose="020B0502040204020203" pitchFamily="34" charset="0"/>
              </a:rPr>
              <a:t>LLMs</a:t>
            </a:r>
            <a:r>
              <a:rPr lang="zh-CN" altLang="en-US" b="0" i="0" dirty="0">
                <a:solidFill>
                  <a:srgbClr val="1A1A1A"/>
                </a:solidFill>
                <a:effectLst/>
                <a:latin typeface="Segoe UI" panose="020B0502040204020203" pitchFamily="34" charset="0"/>
              </a:rPr>
              <a:t>对提示措辞非常敏感，这导致评估结果出现显著的变动</a:t>
            </a:r>
            <a:r>
              <a:rPr lang="en-US" altLang="zh-CN" b="0" i="0" dirty="0">
                <a:solidFill>
                  <a:srgbClr val="1A1A1A"/>
                </a:solidFill>
                <a:effectLst/>
                <a:latin typeface="Segoe UI" panose="020B0502040204020203" pitchFamily="34" charset="0"/>
              </a:rPr>
              <a:t>[6]</a:t>
            </a:r>
            <a:r>
              <a:rPr lang="zh-CN" altLang="en-US" b="0" i="0" dirty="0">
                <a:solidFill>
                  <a:srgbClr val="1A1A1A"/>
                </a:solidFill>
                <a:effectLst/>
                <a:latin typeface="Segoe UI" panose="020B0502040204020203" pitchFamily="34" charset="0"/>
              </a:rPr>
              <a:t>。</a:t>
            </a:r>
            <a:endParaRPr lang="zh-CN" altLang="en-US" dirty="0"/>
          </a:p>
        </p:txBody>
      </p:sp>
      <p:sp>
        <p:nvSpPr>
          <p:cNvPr id="4" name="灯片编号占位符 3">
            <a:extLst>
              <a:ext uri="{FF2B5EF4-FFF2-40B4-BE49-F238E27FC236}">
                <a16:creationId xmlns:a16="http://schemas.microsoft.com/office/drawing/2014/main" id="{3A778E8E-3A06-AE4E-41C2-C7258908568D}"/>
              </a:ext>
            </a:extLst>
          </p:cNvPr>
          <p:cNvSpPr>
            <a:spLocks noGrp="1"/>
          </p:cNvSpPr>
          <p:nvPr>
            <p:ph type="sldNum" sz="quarter" idx="10"/>
          </p:nvPr>
        </p:nvSpPr>
        <p:spPr/>
        <p:txBody>
          <a:bodyPr/>
          <a:lstStyle/>
          <a:p>
            <a:fld id="{281E4CA6-4D40-4370-8D93-DA5309A02198}" type="slidenum">
              <a:rPr lang="zh-CN" altLang="en-US" smtClean="0"/>
              <a:t>8</a:t>
            </a:fld>
            <a:endParaRPr lang="zh-CN" altLang="en-US"/>
          </a:p>
        </p:txBody>
      </p:sp>
    </p:spTree>
    <p:extLst>
      <p:ext uri="{BB962C8B-B14F-4D97-AF65-F5344CB8AC3E}">
        <p14:creationId xmlns:p14="http://schemas.microsoft.com/office/powerpoint/2010/main" val="1615916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5E089-2AE3-D56F-4332-0D9B90838D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7A70B74-9405-512F-50AB-C094BD5ADD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487E7EC-4676-DDF7-C45D-76CCAD1979A0}"/>
              </a:ext>
            </a:extLst>
          </p:cNvPr>
          <p:cNvSpPr>
            <a:spLocks noGrp="1"/>
          </p:cNvSpPr>
          <p:nvPr>
            <p:ph type="body" idx="1"/>
          </p:nvPr>
        </p:nvSpPr>
        <p:spPr/>
        <p:txBody>
          <a:bodyPr/>
          <a:lstStyle/>
          <a:p>
            <a:r>
              <a:rPr lang="zh-CN" altLang="en-US" dirty="0"/>
              <a:t>这种针对事实性知识的</a:t>
            </a:r>
            <a:r>
              <a:rPr lang="en-US" altLang="zh-CN" dirty="0"/>
              <a:t>evaluation</a:t>
            </a:r>
            <a:r>
              <a:rPr lang="zh-CN" altLang="en-US" dirty="0"/>
              <a:t>方法通常</a:t>
            </a:r>
            <a:r>
              <a:rPr lang="zh-CN" altLang="en-US" b="0" i="0" dirty="0">
                <a:solidFill>
                  <a:srgbClr val="1A1A1A"/>
                </a:solidFill>
                <a:effectLst/>
                <a:latin typeface="Segoe UI" panose="020B0502040204020203" pitchFamily="34" charset="0"/>
              </a:rPr>
              <a:t>仅依赖于大模型最后一层“</a:t>
            </a:r>
            <a:r>
              <a:rPr lang="en-US" altLang="zh-CN" b="0" i="0" dirty="0">
                <a:solidFill>
                  <a:srgbClr val="1A1A1A"/>
                </a:solidFill>
                <a:effectLst/>
                <a:latin typeface="Segoe UI" panose="020B0502040204020203" pitchFamily="34" charset="0"/>
              </a:rPr>
              <a:t>hidden states</a:t>
            </a:r>
            <a:r>
              <a:rPr lang="zh-CN" altLang="en-US" b="0" i="0" dirty="0">
                <a:solidFill>
                  <a:srgbClr val="1A1A1A"/>
                </a:solidFill>
                <a:effectLst/>
                <a:latin typeface="Segoe UI" panose="020B0502040204020203" pitchFamily="34" charset="0"/>
              </a:rPr>
              <a:t>” 的知识，</a:t>
            </a:r>
            <a:endParaRPr lang="zh-CN" altLang="en-US" dirty="0"/>
          </a:p>
        </p:txBody>
      </p:sp>
      <p:sp>
        <p:nvSpPr>
          <p:cNvPr id="4" name="灯片编号占位符 3">
            <a:extLst>
              <a:ext uri="{FF2B5EF4-FFF2-40B4-BE49-F238E27FC236}">
                <a16:creationId xmlns:a16="http://schemas.microsoft.com/office/drawing/2014/main" id="{C719DE56-DB25-021F-DE84-3AEC40B80325}"/>
              </a:ext>
            </a:extLst>
          </p:cNvPr>
          <p:cNvSpPr>
            <a:spLocks noGrp="1"/>
          </p:cNvSpPr>
          <p:nvPr>
            <p:ph type="sldNum" sz="quarter" idx="10"/>
          </p:nvPr>
        </p:nvSpPr>
        <p:spPr/>
        <p:txBody>
          <a:bodyPr/>
          <a:lstStyle/>
          <a:p>
            <a:fld id="{281E4CA6-4D40-4370-8D93-DA5309A02198}" type="slidenum">
              <a:rPr lang="zh-CN" altLang="en-US" smtClean="0"/>
              <a:t>9</a:t>
            </a:fld>
            <a:endParaRPr lang="zh-CN" altLang="en-US"/>
          </a:p>
        </p:txBody>
      </p:sp>
    </p:spTree>
    <p:extLst>
      <p:ext uri="{BB962C8B-B14F-4D97-AF65-F5344CB8AC3E}">
        <p14:creationId xmlns:p14="http://schemas.microsoft.com/office/powerpoint/2010/main" val="16027237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604DA-C554-3C39-71A5-99AA9586183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A6BCF06-C9FA-BBAA-9EEC-5A81301790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B83494-E9EC-FCA5-895F-A73EA31DC25C}"/>
              </a:ext>
            </a:extLst>
          </p:cNvPr>
          <p:cNvSpPr>
            <a:spLocks noGrp="1"/>
          </p:cNvSpPr>
          <p:nvPr>
            <p:ph type="body" idx="1"/>
          </p:nvPr>
        </p:nvSpPr>
        <p:spPr/>
        <p:txBody>
          <a:bodyPr/>
          <a:lstStyle/>
          <a:p>
            <a:r>
              <a:rPr lang="zh-CN" altLang="en-US" b="0" i="0" dirty="0">
                <a:solidFill>
                  <a:srgbClr val="1A1A1A"/>
                </a:solidFill>
                <a:effectLst/>
                <a:latin typeface="Segoe UI" panose="020B0502040204020203" pitchFamily="34" charset="0"/>
              </a:rPr>
              <a:t>但实际上，大型语言模型在其参数中编码了比其输出中表达的更多事实知识。这表明，在许多情况下，大型语言模型并不缺乏事实知识。然而，它未能有效利用这些知识来提供正确的答案。</a:t>
            </a:r>
            <a:endParaRPr lang="en-US" altLang="zh-CN" b="0" i="0" dirty="0">
              <a:solidFill>
                <a:srgbClr val="1A1A1A"/>
              </a:solidFill>
              <a:effectLst/>
              <a:latin typeface="Segoe UI" panose="020B0502040204020203" pitchFamily="34" charset="0"/>
            </a:endParaRPr>
          </a:p>
          <a:p>
            <a:r>
              <a:rPr lang="zh-CN" altLang="en-US" dirty="0"/>
              <a:t>“有话说不出”、“隐藏信息”</a:t>
            </a:r>
            <a:r>
              <a:rPr lang="en-US" altLang="zh-CN" dirty="0"/>
              <a:t>,</a:t>
            </a:r>
            <a:r>
              <a:rPr lang="zh-CN" altLang="en-US" dirty="0"/>
              <a:t>因此传统的评估方法是欠佳的，并不能完全代表一个模型学习知识的能力。</a:t>
            </a:r>
          </a:p>
          <a:p>
            <a:endParaRPr lang="zh-CN" altLang="en-US" dirty="0"/>
          </a:p>
        </p:txBody>
      </p:sp>
      <p:sp>
        <p:nvSpPr>
          <p:cNvPr id="4" name="灯片编号占位符 3">
            <a:extLst>
              <a:ext uri="{FF2B5EF4-FFF2-40B4-BE49-F238E27FC236}">
                <a16:creationId xmlns:a16="http://schemas.microsoft.com/office/drawing/2014/main" id="{D0053092-B489-963E-2857-E4851BA84489}"/>
              </a:ext>
            </a:extLst>
          </p:cNvPr>
          <p:cNvSpPr>
            <a:spLocks noGrp="1"/>
          </p:cNvSpPr>
          <p:nvPr>
            <p:ph type="sldNum" sz="quarter" idx="10"/>
          </p:nvPr>
        </p:nvSpPr>
        <p:spPr/>
        <p:txBody>
          <a:bodyPr/>
          <a:lstStyle/>
          <a:p>
            <a:fld id="{281E4CA6-4D40-4370-8D93-DA5309A02198}" type="slidenum">
              <a:rPr lang="zh-CN" altLang="en-US" smtClean="0"/>
              <a:t>10</a:t>
            </a:fld>
            <a:endParaRPr lang="zh-CN" altLang="en-US"/>
          </a:p>
        </p:txBody>
      </p:sp>
    </p:spTree>
    <p:extLst>
      <p:ext uri="{BB962C8B-B14F-4D97-AF65-F5344CB8AC3E}">
        <p14:creationId xmlns:p14="http://schemas.microsoft.com/office/powerpoint/2010/main" val="8909153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3ECFE-4088-A726-3416-2C01C83B08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0E835A-4BAC-CC84-8A3E-89E170344B0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ED3677-343E-405F-06EC-A5330E7E1B7F}"/>
              </a:ext>
            </a:extLst>
          </p:cNvPr>
          <p:cNvSpPr>
            <a:spLocks noGrp="1"/>
          </p:cNvSpPr>
          <p:nvPr>
            <p:ph type="body" idx="1"/>
          </p:nvPr>
        </p:nvSpPr>
        <p:spPr/>
        <p:txBody>
          <a:bodyPr/>
          <a:lstStyle/>
          <a:p>
            <a:r>
              <a:rPr lang="zh-CN" altLang="en-US" b="0" i="0" dirty="0">
                <a:solidFill>
                  <a:srgbClr val="1A1A1A"/>
                </a:solidFill>
                <a:effectLst/>
                <a:latin typeface="Segoe UI" panose="020B0502040204020203" pitchFamily="34" charset="0"/>
              </a:rPr>
              <a:t>但实际上，大型语言模型在其参数中编码了比其输出中表达的更多事实知识。这表明，在许多情况下，大型语言模型并不缺乏事实知识。然而，它未能有效利用这些知识来提供正确的答案。</a:t>
            </a:r>
            <a:endParaRPr lang="en-US" altLang="zh-CN" b="0" i="0" dirty="0">
              <a:solidFill>
                <a:srgbClr val="1A1A1A"/>
              </a:solidFill>
              <a:effectLst/>
              <a:latin typeface="Segoe UI" panose="020B0502040204020203" pitchFamily="34" charset="0"/>
            </a:endParaRPr>
          </a:p>
          <a:p>
            <a:r>
              <a:rPr lang="zh-CN" altLang="en-US" dirty="0"/>
              <a:t>“有话说不出”、“隐藏信息”</a:t>
            </a:r>
            <a:r>
              <a:rPr lang="en-US" altLang="zh-CN" dirty="0"/>
              <a:t>,</a:t>
            </a:r>
            <a:r>
              <a:rPr lang="zh-CN" altLang="en-US" dirty="0"/>
              <a:t>因此传统的评估方法是欠佳的，并不能完全代表一个模型学习知识的能力。</a:t>
            </a:r>
          </a:p>
          <a:p>
            <a:endParaRPr lang="zh-CN" altLang="en-US" dirty="0"/>
          </a:p>
        </p:txBody>
      </p:sp>
      <p:sp>
        <p:nvSpPr>
          <p:cNvPr id="4" name="灯片编号占位符 3">
            <a:extLst>
              <a:ext uri="{FF2B5EF4-FFF2-40B4-BE49-F238E27FC236}">
                <a16:creationId xmlns:a16="http://schemas.microsoft.com/office/drawing/2014/main" id="{14D58DA5-1925-9C03-F9D2-530826D43213}"/>
              </a:ext>
            </a:extLst>
          </p:cNvPr>
          <p:cNvSpPr>
            <a:spLocks noGrp="1"/>
          </p:cNvSpPr>
          <p:nvPr>
            <p:ph type="sldNum" sz="quarter" idx="10"/>
          </p:nvPr>
        </p:nvSpPr>
        <p:spPr/>
        <p:txBody>
          <a:bodyPr/>
          <a:lstStyle/>
          <a:p>
            <a:fld id="{281E4CA6-4D40-4370-8D93-DA5309A02198}" type="slidenum">
              <a:rPr lang="zh-CN" altLang="en-US" smtClean="0"/>
              <a:t>11</a:t>
            </a:fld>
            <a:endParaRPr lang="zh-CN" altLang="en-US"/>
          </a:p>
        </p:txBody>
      </p:sp>
    </p:spTree>
    <p:extLst>
      <p:ext uri="{BB962C8B-B14F-4D97-AF65-F5344CB8AC3E}">
        <p14:creationId xmlns:p14="http://schemas.microsoft.com/office/powerpoint/2010/main" val="3602305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39F24-E0BC-6251-5A6D-2DAABF3474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CB98CCA-1BCA-635C-FB30-47955E08B12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C1DCF57-76B2-8317-0408-F6A68F371CF8}"/>
              </a:ext>
            </a:extLst>
          </p:cNvPr>
          <p:cNvSpPr>
            <a:spLocks noGrp="1"/>
          </p:cNvSpPr>
          <p:nvPr>
            <p:ph type="body" idx="1"/>
          </p:nvPr>
        </p:nvSpPr>
        <p:spPr/>
        <p:txBody>
          <a:bodyPr/>
          <a:lstStyle/>
          <a:p>
            <a:r>
              <a:rPr lang="zh-CN" altLang="en-US" b="0" i="0" dirty="0">
                <a:solidFill>
                  <a:srgbClr val="1A1A1A"/>
                </a:solidFill>
                <a:effectLst/>
                <a:latin typeface="Segoe UI" panose="020B0502040204020203" pitchFamily="34" charset="0"/>
              </a:rPr>
              <a:t>但实际上，大型语言模型在其参数中编码了比其输出中表达的更多事实知识。这表明，在许多情况下，大型语言模型并不缺乏事实知识。然而，它未能有效利用这些知识来提供正确的答案。</a:t>
            </a:r>
            <a:endParaRPr lang="en-US" altLang="zh-CN" b="0" i="0" dirty="0">
              <a:solidFill>
                <a:srgbClr val="1A1A1A"/>
              </a:solidFill>
              <a:effectLst/>
              <a:latin typeface="Segoe UI" panose="020B0502040204020203" pitchFamily="34" charset="0"/>
            </a:endParaRPr>
          </a:p>
          <a:p>
            <a:r>
              <a:rPr lang="zh-CN" altLang="en-US" dirty="0"/>
              <a:t>“有话说不出”、“隐藏信息”</a:t>
            </a:r>
            <a:r>
              <a:rPr lang="en-US" altLang="zh-CN" dirty="0"/>
              <a:t>,</a:t>
            </a:r>
            <a:r>
              <a:rPr lang="zh-CN" altLang="en-US" dirty="0"/>
              <a:t>因此传统的评估方法是欠佳的，并不能完全代表一个模型学习知识的能力。</a:t>
            </a:r>
          </a:p>
          <a:p>
            <a:endParaRPr lang="zh-CN" altLang="en-US" dirty="0"/>
          </a:p>
        </p:txBody>
      </p:sp>
      <p:sp>
        <p:nvSpPr>
          <p:cNvPr id="4" name="灯片编号占位符 3">
            <a:extLst>
              <a:ext uri="{FF2B5EF4-FFF2-40B4-BE49-F238E27FC236}">
                <a16:creationId xmlns:a16="http://schemas.microsoft.com/office/drawing/2014/main" id="{0112BEE5-E4ED-8A3A-9C1B-48E157721BD8}"/>
              </a:ext>
            </a:extLst>
          </p:cNvPr>
          <p:cNvSpPr>
            <a:spLocks noGrp="1"/>
          </p:cNvSpPr>
          <p:nvPr>
            <p:ph type="sldNum" sz="quarter" idx="10"/>
          </p:nvPr>
        </p:nvSpPr>
        <p:spPr/>
        <p:txBody>
          <a:bodyPr/>
          <a:lstStyle/>
          <a:p>
            <a:fld id="{281E4CA6-4D40-4370-8D93-DA5309A02198}" type="slidenum">
              <a:rPr lang="zh-CN" altLang="en-US" smtClean="0"/>
              <a:t>12</a:t>
            </a:fld>
            <a:endParaRPr lang="zh-CN" altLang="en-US"/>
          </a:p>
        </p:txBody>
      </p:sp>
    </p:spTree>
    <p:extLst>
      <p:ext uri="{BB962C8B-B14F-4D97-AF65-F5344CB8AC3E}">
        <p14:creationId xmlns:p14="http://schemas.microsoft.com/office/powerpoint/2010/main" val="18620354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46FDB-55C7-4BBA-BDBB-CE66E2CB21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697BC2-5BD3-34E9-022F-C8D34C11A4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A22884F-DC64-7902-2FCB-A19473FB1E8E}"/>
              </a:ext>
            </a:extLst>
          </p:cNvPr>
          <p:cNvSpPr>
            <a:spLocks noGrp="1"/>
          </p:cNvSpPr>
          <p:nvPr>
            <p:ph type="body" idx="1"/>
          </p:nvPr>
        </p:nvSpPr>
        <p:spPr/>
        <p:txBody>
          <a:bodyPr/>
          <a:lstStyle/>
          <a:p>
            <a:r>
              <a:rPr lang="zh-CN" altLang="en-US" b="0" i="0" dirty="0">
                <a:solidFill>
                  <a:srgbClr val="1A1A1A"/>
                </a:solidFill>
                <a:effectLst/>
                <a:latin typeface="Segoe UI" panose="020B0502040204020203" pitchFamily="34" charset="0"/>
              </a:rPr>
              <a:t>探测分类器已成为检查神经网络隐藏表示的标准工具 </a:t>
            </a:r>
            <a:r>
              <a:rPr lang="en-US" altLang="zh-CN" b="0" i="0" dirty="0">
                <a:solidFill>
                  <a:srgbClr val="1A1A1A"/>
                </a:solidFill>
                <a:effectLst/>
                <a:latin typeface="Segoe UI" panose="020B0502040204020203" pitchFamily="34" charset="0"/>
              </a:rPr>
              <a:t>[1]</a:t>
            </a:r>
            <a:r>
              <a:rPr lang="zh-CN" altLang="en-US" b="0" i="0" dirty="0">
                <a:solidFill>
                  <a:srgbClr val="1A1A1A"/>
                </a:solidFill>
                <a:effectLst/>
                <a:latin typeface="Segoe UI" panose="020B0502040204020203" pitchFamily="34" charset="0"/>
              </a:rPr>
              <a:t>。将隐藏状态投影到词汇空间的方法（例如，</a:t>
            </a:r>
            <a:r>
              <a:rPr lang="en-US" altLang="zh-CN" b="0" i="0" dirty="0">
                <a:solidFill>
                  <a:srgbClr val="1A1A1A"/>
                </a:solidFill>
                <a:effectLst/>
                <a:latin typeface="Segoe UI" panose="020B0502040204020203" pitchFamily="34" charset="0"/>
              </a:rPr>
              <a:t>[11]</a:t>
            </a:r>
            <a:r>
              <a:rPr lang="zh-CN" altLang="en-US" b="0" i="0" dirty="0">
                <a:solidFill>
                  <a:srgbClr val="1A1A1A"/>
                </a:solidFill>
                <a:effectLst/>
                <a:latin typeface="Segoe UI" panose="020B0502040204020203" pitchFamily="34" charset="0"/>
              </a:rPr>
              <a:t>）或将这些想法扩展到其他领域 </a:t>
            </a:r>
            <a:r>
              <a:rPr lang="en-US" altLang="zh-CN" b="0" i="0" dirty="0">
                <a:solidFill>
                  <a:srgbClr val="1A1A1A"/>
                </a:solidFill>
                <a:effectLst/>
                <a:latin typeface="Segoe UI" panose="020B0502040204020203" pitchFamily="34" charset="0"/>
              </a:rPr>
              <a:t>[9] </a:t>
            </a:r>
            <a:r>
              <a:rPr lang="zh-CN" altLang="en-US" b="0" i="0" dirty="0">
                <a:solidFill>
                  <a:srgbClr val="1A1A1A"/>
                </a:solidFill>
                <a:effectLst/>
                <a:latin typeface="Segoe UI" panose="020B0502040204020203" pitchFamily="34" charset="0"/>
              </a:rPr>
              <a:t>也得到了广泛研究。</a:t>
            </a:r>
            <a:endParaRPr lang="en-US" altLang="zh-CN" b="0" i="0" dirty="0">
              <a:solidFill>
                <a:srgbClr val="1A1A1A"/>
              </a:solidFill>
              <a:effectLst/>
              <a:latin typeface="Segoe UI" panose="020B0502040204020203" pitchFamily="34" charset="0"/>
            </a:endParaRPr>
          </a:p>
          <a:p>
            <a:r>
              <a:rPr lang="en-US" altLang="zh-CN" dirty="0"/>
              <a:t>Probe classifier </a:t>
            </a:r>
            <a:r>
              <a:rPr lang="zh-CN" altLang="en-US" dirty="0"/>
              <a:t>是一个非常简单的分类器，例如</a:t>
            </a:r>
            <a:r>
              <a:rPr lang="en-US" altLang="zh-CN" dirty="0"/>
              <a:t>MLP</a:t>
            </a:r>
            <a:r>
              <a:rPr lang="zh-CN" altLang="en-US" dirty="0"/>
              <a:t>、</a:t>
            </a:r>
            <a:r>
              <a:rPr lang="en-US" altLang="zh-CN" dirty="0"/>
              <a:t>SVM</a:t>
            </a:r>
            <a:r>
              <a:rPr lang="zh-CN" altLang="en-US" dirty="0"/>
              <a:t> </a:t>
            </a:r>
            <a:r>
              <a:rPr lang="en-US" altLang="zh-CN" dirty="0"/>
              <a:t>etc.</a:t>
            </a:r>
          </a:p>
          <a:p>
            <a:r>
              <a:rPr lang="zh-CN" altLang="en-US" dirty="0"/>
              <a:t>但相比于单独训练一个很简单的分类器而言，如果我们能利用大模型自身编码的信息来解决这个问题会更加适配</a:t>
            </a:r>
          </a:p>
        </p:txBody>
      </p:sp>
      <p:sp>
        <p:nvSpPr>
          <p:cNvPr id="4" name="灯片编号占位符 3">
            <a:extLst>
              <a:ext uri="{FF2B5EF4-FFF2-40B4-BE49-F238E27FC236}">
                <a16:creationId xmlns:a16="http://schemas.microsoft.com/office/drawing/2014/main" id="{9CEE2000-42FC-4E01-467A-F0EB2F909D64}"/>
              </a:ext>
            </a:extLst>
          </p:cNvPr>
          <p:cNvSpPr>
            <a:spLocks noGrp="1"/>
          </p:cNvSpPr>
          <p:nvPr>
            <p:ph type="sldNum" sz="quarter" idx="10"/>
          </p:nvPr>
        </p:nvSpPr>
        <p:spPr/>
        <p:txBody>
          <a:bodyPr/>
          <a:lstStyle/>
          <a:p>
            <a:fld id="{281E4CA6-4D40-4370-8D93-DA5309A02198}" type="slidenum">
              <a:rPr lang="zh-CN" altLang="en-US" smtClean="0"/>
              <a:t>13</a:t>
            </a:fld>
            <a:endParaRPr lang="zh-CN" altLang="en-US"/>
          </a:p>
        </p:txBody>
      </p:sp>
    </p:spTree>
    <p:extLst>
      <p:ext uri="{BB962C8B-B14F-4D97-AF65-F5344CB8AC3E}">
        <p14:creationId xmlns:p14="http://schemas.microsoft.com/office/powerpoint/2010/main" val="6923968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751D8-4CB2-1465-9844-701D38F2AA2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0EC98B-5DC6-FFA4-3038-6863A148C5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059E3FD-6F53-A047-BFC2-5C92F22657F5}"/>
              </a:ext>
            </a:extLst>
          </p:cNvPr>
          <p:cNvSpPr>
            <a:spLocks noGrp="1"/>
          </p:cNvSpPr>
          <p:nvPr>
            <p:ph type="body" idx="1"/>
          </p:nvPr>
        </p:nvSpPr>
        <p:spPr/>
        <p:txBody>
          <a:bodyPr/>
          <a:lstStyle/>
          <a:p>
            <a:r>
              <a:rPr lang="zh-CN" altLang="en-US" b="0" i="0" dirty="0">
                <a:solidFill>
                  <a:srgbClr val="1A1A1A"/>
                </a:solidFill>
                <a:effectLst/>
                <a:latin typeface="Segoe UI" panose="020B0502040204020203" pitchFamily="34" charset="0"/>
              </a:rPr>
              <a:t>但实际上，大型语言模型在其参数中编码了比其输出中表达的更多事实知识。这表明，在许多情况下，大型语言模型并不缺乏事实知识。然而，它未能有效利用这些知识来提供正确的答案。</a:t>
            </a:r>
            <a:endParaRPr lang="en-US" altLang="zh-CN" b="0" i="0" dirty="0">
              <a:solidFill>
                <a:srgbClr val="1A1A1A"/>
              </a:solidFill>
              <a:effectLst/>
              <a:latin typeface="Segoe UI" panose="020B0502040204020203" pitchFamily="34" charset="0"/>
            </a:endParaRPr>
          </a:p>
          <a:p>
            <a:r>
              <a:rPr lang="zh-CN" altLang="en-US" dirty="0"/>
              <a:t>“有话说不出”、“隐藏信息”</a:t>
            </a:r>
            <a:r>
              <a:rPr lang="en-US" altLang="zh-CN" dirty="0"/>
              <a:t>,</a:t>
            </a:r>
            <a:r>
              <a:rPr lang="zh-CN" altLang="en-US" dirty="0"/>
              <a:t>因此传统的评估方法是欠佳的，并不能完全代表一个模型学习知识的能力。</a:t>
            </a:r>
          </a:p>
          <a:p>
            <a:endParaRPr lang="zh-CN" altLang="en-US" dirty="0"/>
          </a:p>
        </p:txBody>
      </p:sp>
      <p:sp>
        <p:nvSpPr>
          <p:cNvPr id="4" name="灯片编号占位符 3">
            <a:extLst>
              <a:ext uri="{FF2B5EF4-FFF2-40B4-BE49-F238E27FC236}">
                <a16:creationId xmlns:a16="http://schemas.microsoft.com/office/drawing/2014/main" id="{AAD6A18D-025B-F198-547A-830A3A6F4B19}"/>
              </a:ext>
            </a:extLst>
          </p:cNvPr>
          <p:cNvSpPr>
            <a:spLocks noGrp="1"/>
          </p:cNvSpPr>
          <p:nvPr>
            <p:ph type="sldNum" sz="quarter" idx="10"/>
          </p:nvPr>
        </p:nvSpPr>
        <p:spPr/>
        <p:txBody>
          <a:bodyPr/>
          <a:lstStyle/>
          <a:p>
            <a:fld id="{281E4CA6-4D40-4370-8D93-DA5309A02198}" type="slidenum">
              <a:rPr lang="zh-CN" altLang="en-US" smtClean="0"/>
              <a:t>14</a:t>
            </a:fld>
            <a:endParaRPr lang="zh-CN" altLang="en-US"/>
          </a:p>
        </p:txBody>
      </p:sp>
    </p:spTree>
    <p:extLst>
      <p:ext uri="{BB962C8B-B14F-4D97-AF65-F5344CB8AC3E}">
        <p14:creationId xmlns:p14="http://schemas.microsoft.com/office/powerpoint/2010/main" val="19767141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9651B-6E4D-9E22-BA81-032B7DA3A1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B9C27B-4219-59B8-A57F-0160FAD4B12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E1E5860-5DBA-A1A6-822B-A0A2BA186AC1}"/>
              </a:ext>
            </a:extLst>
          </p:cNvPr>
          <p:cNvSpPr>
            <a:spLocks noGrp="1"/>
          </p:cNvSpPr>
          <p:nvPr>
            <p:ph type="body" idx="1"/>
          </p:nvPr>
        </p:nvSpPr>
        <p:spPr/>
        <p:txBody>
          <a:bodyPr/>
          <a:lstStyle/>
          <a:p>
            <a:r>
              <a:rPr lang="en-US" altLang="zh-CN" b="0" i="0" dirty="0" err="1">
                <a:solidFill>
                  <a:srgbClr val="1A1A1A"/>
                </a:solidFill>
                <a:effectLst/>
                <a:latin typeface="Segoe UI" panose="020B0502040204020203" pitchFamily="34" charset="0"/>
              </a:rPr>
              <a:t>Patchscope</a:t>
            </a:r>
            <a:r>
              <a:rPr lang="zh-CN" altLang="en-US" b="0" i="0" dirty="0">
                <a:solidFill>
                  <a:srgbClr val="1A1A1A"/>
                </a:solidFill>
                <a:effectLst/>
                <a:latin typeface="Segoe UI" panose="020B0502040204020203" pitchFamily="34" charset="0"/>
              </a:rPr>
              <a:t>通过从包含实体的句子中提取相应的隐藏表示来解决这个问题，因为句子的上下文往往暗示了实体的含义。</a:t>
            </a:r>
            <a:endParaRPr lang="zh-CN" altLang="en-US" dirty="0"/>
          </a:p>
        </p:txBody>
      </p:sp>
      <p:sp>
        <p:nvSpPr>
          <p:cNvPr id="4" name="灯片编号占位符 3">
            <a:extLst>
              <a:ext uri="{FF2B5EF4-FFF2-40B4-BE49-F238E27FC236}">
                <a16:creationId xmlns:a16="http://schemas.microsoft.com/office/drawing/2014/main" id="{07194DCA-BB8F-5ED6-C1B3-A7F04F5BBFCF}"/>
              </a:ext>
            </a:extLst>
          </p:cNvPr>
          <p:cNvSpPr>
            <a:spLocks noGrp="1"/>
          </p:cNvSpPr>
          <p:nvPr>
            <p:ph type="sldNum" sz="quarter" idx="10"/>
          </p:nvPr>
        </p:nvSpPr>
        <p:spPr/>
        <p:txBody>
          <a:bodyPr/>
          <a:lstStyle/>
          <a:p>
            <a:fld id="{281E4CA6-4D40-4370-8D93-DA5309A02198}" type="slidenum">
              <a:rPr lang="zh-CN" altLang="en-US" smtClean="0"/>
              <a:t>15</a:t>
            </a:fld>
            <a:endParaRPr lang="zh-CN" altLang="en-US"/>
          </a:p>
        </p:txBody>
      </p:sp>
    </p:spTree>
    <p:extLst>
      <p:ext uri="{BB962C8B-B14F-4D97-AF65-F5344CB8AC3E}">
        <p14:creationId xmlns:p14="http://schemas.microsoft.com/office/powerpoint/2010/main" val="2851871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9C0BE-664E-4632-07D4-FA2D29C66C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AA4C7C-047E-79D4-6A89-948C3551B7F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645435-FADB-D68B-AB1E-B59032AD26FB}"/>
              </a:ext>
            </a:extLst>
          </p:cNvPr>
          <p:cNvSpPr>
            <a:spLocks noGrp="1"/>
          </p:cNvSpPr>
          <p:nvPr>
            <p:ph type="body" idx="1"/>
          </p:nvPr>
        </p:nvSpPr>
        <p:spPr/>
        <p:txBody>
          <a:bodyPr/>
          <a:lstStyle/>
          <a:p>
            <a:r>
              <a:rPr lang="zh-CN" altLang="en-US" b="0" i="0" dirty="0">
                <a:solidFill>
                  <a:srgbClr val="1A1A1A"/>
                </a:solidFill>
                <a:effectLst/>
                <a:latin typeface="Segoe UI" panose="020B0502040204020203" pitchFamily="34" charset="0"/>
              </a:rPr>
              <a:t>但实际上，大型语言模型在其参数中编码了比其输出中表达的更多事实知识。这表明，在许多情况下，大型语言模型并不缺乏事实知识。然而，它未能有效利用这些知识来提供正确的答案。</a:t>
            </a:r>
            <a:endParaRPr lang="en-US" altLang="zh-CN" b="0" i="0" dirty="0">
              <a:solidFill>
                <a:srgbClr val="1A1A1A"/>
              </a:solidFill>
              <a:effectLst/>
              <a:latin typeface="Segoe UI" panose="020B0502040204020203" pitchFamily="34" charset="0"/>
            </a:endParaRPr>
          </a:p>
          <a:p>
            <a:r>
              <a:rPr lang="zh-CN" altLang="en-US" dirty="0"/>
              <a:t>“有话说不出”、“隐藏信息”</a:t>
            </a:r>
            <a:r>
              <a:rPr lang="en-US" altLang="zh-CN" dirty="0"/>
              <a:t>,</a:t>
            </a:r>
            <a:r>
              <a:rPr lang="zh-CN" altLang="en-US" dirty="0"/>
              <a:t>因此传统的评估方法是欠佳的，并不能完全代表一个模型学习知识的能力。</a:t>
            </a:r>
          </a:p>
          <a:p>
            <a:endParaRPr lang="zh-CN" altLang="en-US" dirty="0"/>
          </a:p>
        </p:txBody>
      </p:sp>
      <p:sp>
        <p:nvSpPr>
          <p:cNvPr id="4" name="灯片编号占位符 3">
            <a:extLst>
              <a:ext uri="{FF2B5EF4-FFF2-40B4-BE49-F238E27FC236}">
                <a16:creationId xmlns:a16="http://schemas.microsoft.com/office/drawing/2014/main" id="{859788CA-A8B4-805B-E362-82D19D23FDBF}"/>
              </a:ext>
            </a:extLst>
          </p:cNvPr>
          <p:cNvSpPr>
            <a:spLocks noGrp="1"/>
          </p:cNvSpPr>
          <p:nvPr>
            <p:ph type="sldNum" sz="quarter" idx="10"/>
          </p:nvPr>
        </p:nvSpPr>
        <p:spPr/>
        <p:txBody>
          <a:bodyPr/>
          <a:lstStyle/>
          <a:p>
            <a:fld id="{281E4CA6-4D40-4370-8D93-DA5309A02198}" type="slidenum">
              <a:rPr lang="zh-CN" altLang="en-US" smtClean="0"/>
              <a:t>16</a:t>
            </a:fld>
            <a:endParaRPr lang="zh-CN" altLang="en-US"/>
          </a:p>
        </p:txBody>
      </p:sp>
    </p:spTree>
    <p:extLst>
      <p:ext uri="{BB962C8B-B14F-4D97-AF65-F5344CB8AC3E}">
        <p14:creationId xmlns:p14="http://schemas.microsoft.com/office/powerpoint/2010/main" val="16186235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3D06A-FE9C-4032-7155-FF39AF5821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0D5E6E-D1CF-BC72-1BC3-203B1282603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F42D942-A38E-F1BC-890F-2139DE68DBCB}"/>
              </a:ext>
            </a:extLst>
          </p:cNvPr>
          <p:cNvSpPr>
            <a:spLocks noGrp="1"/>
          </p:cNvSpPr>
          <p:nvPr>
            <p:ph type="body" idx="1"/>
          </p:nvPr>
        </p:nvSpPr>
        <p:spPr/>
        <p:txBody>
          <a:bodyPr/>
          <a:lstStyle/>
          <a:p>
            <a:r>
              <a:rPr lang="zh-CN" altLang="en-US" b="0" i="0" dirty="0">
                <a:solidFill>
                  <a:srgbClr val="1A1A1A"/>
                </a:solidFill>
                <a:effectLst/>
                <a:latin typeface="Segoe UI" panose="020B0502040204020203" pitchFamily="34" charset="0"/>
              </a:rPr>
              <a:t>但实际上，大型语言模型在其参数中编码了比其输出中表达的更多事实知识。这表明，在许多情况下，大型语言模型并不缺乏事实知识。然而，它未能有效利用这些知识来提供正确的答案。</a:t>
            </a:r>
            <a:endParaRPr lang="en-US" altLang="zh-CN" b="0" i="0" dirty="0">
              <a:solidFill>
                <a:srgbClr val="1A1A1A"/>
              </a:solidFill>
              <a:effectLst/>
              <a:latin typeface="Segoe UI" panose="020B0502040204020203" pitchFamily="34" charset="0"/>
            </a:endParaRPr>
          </a:p>
          <a:p>
            <a:r>
              <a:rPr lang="zh-CN" altLang="en-US" dirty="0"/>
              <a:t>“有话说不出”、“隐藏信息”</a:t>
            </a:r>
            <a:r>
              <a:rPr lang="en-US" altLang="zh-CN" dirty="0"/>
              <a:t>,</a:t>
            </a:r>
            <a:r>
              <a:rPr lang="zh-CN" altLang="en-US" dirty="0"/>
              <a:t>因此传统的评估方法是欠佳的，并不能完全代表一个模型学习知识的能力。</a:t>
            </a:r>
          </a:p>
          <a:p>
            <a:endParaRPr lang="zh-CN" altLang="en-US" dirty="0"/>
          </a:p>
        </p:txBody>
      </p:sp>
      <p:sp>
        <p:nvSpPr>
          <p:cNvPr id="4" name="灯片编号占位符 3">
            <a:extLst>
              <a:ext uri="{FF2B5EF4-FFF2-40B4-BE49-F238E27FC236}">
                <a16:creationId xmlns:a16="http://schemas.microsoft.com/office/drawing/2014/main" id="{2B166D0F-4889-104A-2D91-CC32D5C65775}"/>
              </a:ext>
            </a:extLst>
          </p:cNvPr>
          <p:cNvSpPr>
            <a:spLocks noGrp="1"/>
          </p:cNvSpPr>
          <p:nvPr>
            <p:ph type="sldNum" sz="quarter" idx="10"/>
          </p:nvPr>
        </p:nvSpPr>
        <p:spPr/>
        <p:txBody>
          <a:bodyPr/>
          <a:lstStyle/>
          <a:p>
            <a:fld id="{281E4CA6-4D40-4370-8D93-DA5309A02198}" type="slidenum">
              <a:rPr lang="zh-CN" altLang="en-US" smtClean="0"/>
              <a:t>17</a:t>
            </a:fld>
            <a:endParaRPr lang="zh-CN" altLang="en-US"/>
          </a:p>
        </p:txBody>
      </p:sp>
    </p:spTree>
    <p:extLst>
      <p:ext uri="{BB962C8B-B14F-4D97-AF65-F5344CB8AC3E}">
        <p14:creationId xmlns:p14="http://schemas.microsoft.com/office/powerpoint/2010/main" val="24688616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EB504-9CA6-8770-6A71-76FBEF91A9A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86FA42-1F98-DB38-0C11-3D56C41A7B4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B1A8145-F1FD-975C-2755-42D0D6BDA9C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FC7BC29-177C-594F-9D70-3A8E36E8690B}"/>
              </a:ext>
            </a:extLst>
          </p:cNvPr>
          <p:cNvSpPr>
            <a:spLocks noGrp="1"/>
          </p:cNvSpPr>
          <p:nvPr>
            <p:ph type="sldNum" sz="quarter" idx="10"/>
          </p:nvPr>
        </p:nvSpPr>
        <p:spPr/>
        <p:txBody>
          <a:bodyPr/>
          <a:lstStyle/>
          <a:p>
            <a:fld id="{281E4CA6-4D40-4370-8D93-DA5309A02198}" type="slidenum">
              <a:rPr lang="zh-CN" altLang="en-US" smtClean="0"/>
              <a:t>18</a:t>
            </a:fld>
            <a:endParaRPr lang="zh-CN" altLang="en-US"/>
          </a:p>
        </p:txBody>
      </p:sp>
    </p:spTree>
    <p:extLst>
      <p:ext uri="{BB962C8B-B14F-4D97-AF65-F5344CB8AC3E}">
        <p14:creationId xmlns:p14="http://schemas.microsoft.com/office/powerpoint/2010/main" val="3268709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3544E-1047-D257-0E12-103AECF0A0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F5D6B3-BE9C-636C-8BE0-E05B8EA634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DED0BA-0735-A573-4BFB-3AAB1929BBF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F0D2355-56A9-84C4-40A4-59892548C777}"/>
              </a:ext>
            </a:extLst>
          </p:cNvPr>
          <p:cNvSpPr>
            <a:spLocks noGrp="1"/>
          </p:cNvSpPr>
          <p:nvPr>
            <p:ph type="sldNum" sz="quarter" idx="10"/>
          </p:nvPr>
        </p:nvSpPr>
        <p:spPr/>
        <p:txBody>
          <a:bodyPr/>
          <a:lstStyle/>
          <a:p>
            <a:fld id="{281E4CA6-4D40-4370-8D93-DA5309A02198}" type="slidenum">
              <a:rPr lang="zh-CN" altLang="en-US" smtClean="0"/>
              <a:t>19</a:t>
            </a:fld>
            <a:endParaRPr lang="zh-CN" altLang="en-US"/>
          </a:p>
        </p:txBody>
      </p:sp>
    </p:spTree>
    <p:extLst>
      <p:ext uri="{BB962C8B-B14F-4D97-AF65-F5344CB8AC3E}">
        <p14:creationId xmlns:p14="http://schemas.microsoft.com/office/powerpoint/2010/main" val="24934213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13E40-24D7-55F0-2AA0-ABCEA615BF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522D49-FA83-2B5F-1813-315CD621DAA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E5AC74C-E219-B343-CF1A-0E8C6F5006F5}"/>
              </a:ext>
            </a:extLst>
          </p:cNvPr>
          <p:cNvSpPr>
            <a:spLocks noGrp="1"/>
          </p:cNvSpPr>
          <p:nvPr>
            <p:ph type="body" idx="1"/>
          </p:nvPr>
        </p:nvSpPr>
        <p:spPr/>
        <p:txBody>
          <a:bodyPr/>
          <a:lstStyle/>
          <a:p>
            <a:r>
              <a:rPr lang="zh-CN" altLang="en-US" b="0" i="0" dirty="0">
                <a:solidFill>
                  <a:srgbClr val="1A1A1A"/>
                </a:solidFill>
                <a:effectLst/>
                <a:latin typeface="Segoe UI" panose="020B0502040204020203" pitchFamily="34" charset="0"/>
              </a:rPr>
              <a:t>鉴于</a:t>
            </a:r>
            <a:r>
              <a:rPr lang="en-US" altLang="zh-CN" b="0" i="0" dirty="0" err="1">
                <a:solidFill>
                  <a:srgbClr val="1A1A1A"/>
                </a:solidFill>
                <a:effectLst/>
                <a:latin typeface="Segoe UI" panose="020B0502040204020203" pitchFamily="34" charset="0"/>
              </a:rPr>
              <a:t>Patchscope</a:t>
            </a:r>
            <a:r>
              <a:rPr lang="zh-CN" altLang="en-US" b="0" i="0" dirty="0">
                <a:solidFill>
                  <a:srgbClr val="1A1A1A"/>
                </a:solidFill>
                <a:effectLst/>
                <a:latin typeface="Segoe UI" panose="020B0502040204020203" pitchFamily="34" charset="0"/>
              </a:rPr>
              <a:t>的实验结果显示其在反映大型语言模型对知识的掌握方面的准确性优于传统方法（例如探测），我们已经增强了</a:t>
            </a:r>
            <a:r>
              <a:rPr lang="en-US" altLang="zh-CN" b="0" i="0" dirty="0" err="1">
                <a:solidFill>
                  <a:srgbClr val="1A1A1A"/>
                </a:solidFill>
                <a:effectLst/>
                <a:latin typeface="Segoe UI" panose="020B0502040204020203" pitchFamily="34" charset="0"/>
              </a:rPr>
              <a:t>Patchscope</a:t>
            </a:r>
            <a:r>
              <a:rPr lang="zh-CN" altLang="en-US" b="0" i="0" dirty="0">
                <a:solidFill>
                  <a:srgbClr val="1A1A1A"/>
                </a:solidFill>
                <a:effectLst/>
                <a:latin typeface="Segoe UI" panose="020B0502040204020203" pitchFamily="34" charset="0"/>
              </a:rPr>
              <a:t>以更好地评估大型语言模型的知识边界。然而，</a:t>
            </a:r>
            <a:r>
              <a:rPr lang="en-US" altLang="zh-CN" b="0" i="0" dirty="0" err="1">
                <a:solidFill>
                  <a:srgbClr val="1A1A1A"/>
                </a:solidFill>
                <a:effectLst/>
                <a:latin typeface="Segoe UI" panose="020B0502040204020203" pitchFamily="34" charset="0"/>
              </a:rPr>
              <a:t>Patchscope</a:t>
            </a:r>
            <a:r>
              <a:rPr lang="zh-CN" altLang="en-US" b="0" i="0" dirty="0">
                <a:solidFill>
                  <a:srgbClr val="1A1A1A"/>
                </a:solidFill>
                <a:effectLst/>
                <a:latin typeface="Segoe UI" panose="020B0502040204020203" pitchFamily="34" charset="0"/>
              </a:rPr>
              <a:t>仅使用一个源层的一个隐藏表示来进行修补，这不足以准确捕捉实体的身份。为了解决这一限制，我们建议整合跨多个层的连续隐藏表示，以更好地代表一个主题。</a:t>
            </a:r>
            <a:endParaRPr lang="zh-CN" altLang="en-US" dirty="0"/>
          </a:p>
        </p:txBody>
      </p:sp>
      <p:sp>
        <p:nvSpPr>
          <p:cNvPr id="4" name="灯片编号占位符 3">
            <a:extLst>
              <a:ext uri="{FF2B5EF4-FFF2-40B4-BE49-F238E27FC236}">
                <a16:creationId xmlns:a16="http://schemas.microsoft.com/office/drawing/2014/main" id="{ECE478B2-E48F-3E07-0C76-85F73ACBE5AE}"/>
              </a:ext>
            </a:extLst>
          </p:cNvPr>
          <p:cNvSpPr>
            <a:spLocks noGrp="1"/>
          </p:cNvSpPr>
          <p:nvPr>
            <p:ph type="sldNum" sz="quarter" idx="10"/>
          </p:nvPr>
        </p:nvSpPr>
        <p:spPr/>
        <p:txBody>
          <a:bodyPr/>
          <a:lstStyle/>
          <a:p>
            <a:fld id="{281E4CA6-4D40-4370-8D93-DA5309A02198}" type="slidenum">
              <a:rPr lang="zh-CN" altLang="en-US" smtClean="0"/>
              <a:t>20</a:t>
            </a:fld>
            <a:endParaRPr lang="zh-CN" altLang="en-US"/>
          </a:p>
        </p:txBody>
      </p:sp>
    </p:spTree>
    <p:extLst>
      <p:ext uri="{BB962C8B-B14F-4D97-AF65-F5344CB8AC3E}">
        <p14:creationId xmlns:p14="http://schemas.microsoft.com/office/powerpoint/2010/main" val="42104675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A1A1A"/>
                </a:solidFill>
                <a:effectLst/>
                <a:latin typeface="Segoe UI" panose="020B0502040204020203" pitchFamily="34" charset="0"/>
              </a:rPr>
              <a:t>鉴于</a:t>
            </a:r>
            <a:r>
              <a:rPr lang="en-US" altLang="zh-CN" b="0" i="0" dirty="0" err="1">
                <a:solidFill>
                  <a:srgbClr val="1A1A1A"/>
                </a:solidFill>
                <a:effectLst/>
                <a:latin typeface="Segoe UI" panose="020B0502040204020203" pitchFamily="34" charset="0"/>
              </a:rPr>
              <a:t>Patchscope</a:t>
            </a:r>
            <a:r>
              <a:rPr lang="zh-CN" altLang="en-US" b="0" i="0" dirty="0">
                <a:solidFill>
                  <a:srgbClr val="1A1A1A"/>
                </a:solidFill>
                <a:effectLst/>
                <a:latin typeface="Segoe UI" panose="020B0502040204020203" pitchFamily="34" charset="0"/>
              </a:rPr>
              <a:t>的实验结果显示其在反映大型语言模型对知识的掌握方面的准确性优于传统方法（例如探测），我们已经增强了</a:t>
            </a:r>
            <a:r>
              <a:rPr lang="en-US" altLang="zh-CN" b="0" i="0" dirty="0" err="1">
                <a:solidFill>
                  <a:srgbClr val="1A1A1A"/>
                </a:solidFill>
                <a:effectLst/>
                <a:latin typeface="Segoe UI" panose="020B0502040204020203" pitchFamily="34" charset="0"/>
              </a:rPr>
              <a:t>Patchscope</a:t>
            </a:r>
            <a:r>
              <a:rPr lang="zh-CN" altLang="en-US" b="0" i="0" dirty="0">
                <a:solidFill>
                  <a:srgbClr val="1A1A1A"/>
                </a:solidFill>
                <a:effectLst/>
                <a:latin typeface="Segoe UI" panose="020B0502040204020203" pitchFamily="34" charset="0"/>
              </a:rPr>
              <a:t>以更好地评估大型语言模型的知识边界。然而，</a:t>
            </a:r>
            <a:r>
              <a:rPr lang="en-US" altLang="zh-CN" b="0" i="0" dirty="0" err="1">
                <a:solidFill>
                  <a:srgbClr val="1A1A1A"/>
                </a:solidFill>
                <a:effectLst/>
                <a:latin typeface="Segoe UI" panose="020B0502040204020203" pitchFamily="34" charset="0"/>
              </a:rPr>
              <a:t>Patchscope</a:t>
            </a:r>
            <a:r>
              <a:rPr lang="zh-CN" altLang="en-US" b="0" i="0" dirty="0">
                <a:solidFill>
                  <a:srgbClr val="1A1A1A"/>
                </a:solidFill>
                <a:effectLst/>
                <a:latin typeface="Segoe UI" panose="020B0502040204020203" pitchFamily="34" charset="0"/>
              </a:rPr>
              <a:t>仅使用一个源层的一个隐藏表示来进行修补，这不足以准确捕捉实体的身份。为了解决这一限制，我们建议整合跨多个层的连续隐藏表示，以更好地代表一个主题。</a:t>
            </a:r>
            <a:endParaRPr lang="zh-CN" altLang="en-US" dirty="0"/>
          </a:p>
        </p:txBody>
      </p:sp>
      <p:sp>
        <p:nvSpPr>
          <p:cNvPr id="4" name="灯片编号占位符 3"/>
          <p:cNvSpPr>
            <a:spLocks noGrp="1"/>
          </p:cNvSpPr>
          <p:nvPr>
            <p:ph type="sldNum" sz="quarter" idx="10"/>
          </p:nvPr>
        </p:nvSpPr>
        <p:spPr/>
        <p:txBody>
          <a:bodyPr/>
          <a:lstStyle/>
          <a:p>
            <a:fld id="{281E4CA6-4D40-4370-8D93-DA5309A02198}" type="slidenum">
              <a:rPr lang="zh-CN" altLang="en-US" smtClean="0"/>
              <a:t>21</a:t>
            </a:fld>
            <a:endParaRPr lang="zh-CN" altLang="en-US"/>
          </a:p>
        </p:txBody>
      </p:sp>
    </p:spTree>
    <p:extLst>
      <p:ext uri="{BB962C8B-B14F-4D97-AF65-F5344CB8AC3E}">
        <p14:creationId xmlns:p14="http://schemas.microsoft.com/office/powerpoint/2010/main" val="36171335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E40B6-7868-DC39-6299-02E6AC69636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479D79-0EDF-B7A0-01FE-081DAF26ACB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294C20D-871B-14F8-F495-07465D91473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7108CBE-730B-466A-D0B9-F5E621C0F2BD}"/>
              </a:ext>
            </a:extLst>
          </p:cNvPr>
          <p:cNvSpPr>
            <a:spLocks noGrp="1"/>
          </p:cNvSpPr>
          <p:nvPr>
            <p:ph type="sldNum" sz="quarter" idx="10"/>
          </p:nvPr>
        </p:nvSpPr>
        <p:spPr/>
        <p:txBody>
          <a:bodyPr/>
          <a:lstStyle/>
          <a:p>
            <a:fld id="{281E4CA6-4D40-4370-8D93-DA5309A02198}" type="slidenum">
              <a:rPr lang="zh-CN" altLang="en-US" smtClean="0"/>
              <a:t>22</a:t>
            </a:fld>
            <a:endParaRPr lang="zh-CN" altLang="en-US"/>
          </a:p>
        </p:txBody>
      </p:sp>
    </p:spTree>
    <p:extLst>
      <p:ext uri="{BB962C8B-B14F-4D97-AF65-F5344CB8AC3E}">
        <p14:creationId xmlns:p14="http://schemas.microsoft.com/office/powerpoint/2010/main" val="35836757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bg1"/>
                </a:solidFill>
                <a:ea typeface="Gulim" panose="020B0600000101010101" pitchFamily="34" charset="-127"/>
              </a:rPr>
              <a:t>For each triple , our ML-Patch method and </a:t>
            </a:r>
            <a:r>
              <a:rPr lang="en-US" altLang="zh-CN" sz="1200" dirty="0" err="1">
                <a:solidFill>
                  <a:schemeClr val="bg1"/>
                </a:solidFill>
                <a:ea typeface="Gulim" panose="020B0600000101010101" pitchFamily="34" charset="-127"/>
              </a:rPr>
              <a:t>Patchscope</a:t>
            </a:r>
            <a:r>
              <a:rPr lang="en-US" altLang="zh-CN" sz="1200" dirty="0">
                <a:solidFill>
                  <a:schemeClr val="bg1"/>
                </a:solidFill>
                <a:ea typeface="Gulim" panose="020B0600000101010101" pitchFamily="34" charset="-127"/>
              </a:rPr>
              <a:t> are considered correct if ∃</a:t>
            </a:r>
            <a:r>
              <a:rPr lang="en-US" altLang="zh-CN" sz="1200" dirty="0" err="1">
                <a:solidFill>
                  <a:schemeClr val="bg1"/>
                </a:solidFill>
                <a:ea typeface="Gulim" panose="020B0600000101010101" pitchFamily="34" charset="-127"/>
              </a:rPr>
              <a:t>l,l</a:t>
            </a:r>
            <a:r>
              <a:rPr lang="en-US" altLang="zh-CN" sz="1200" dirty="0">
                <a:solidFill>
                  <a:schemeClr val="bg1"/>
                </a:solidFill>
                <a:ea typeface="Gulim" panose="020B0600000101010101" pitchFamily="34" charset="-127"/>
              </a:rPr>
              <a:t>∗ ∈ {1,2,··· ,L} where the generated text up to 20 tokens includes the object</a:t>
            </a:r>
          </a:p>
          <a:p>
            <a:endParaRPr lang="zh-CN" altLang="en-US" dirty="0"/>
          </a:p>
        </p:txBody>
      </p:sp>
      <p:sp>
        <p:nvSpPr>
          <p:cNvPr id="4" name="灯片编号占位符 3"/>
          <p:cNvSpPr>
            <a:spLocks noGrp="1"/>
          </p:cNvSpPr>
          <p:nvPr>
            <p:ph type="sldNum" sz="quarter" idx="10"/>
          </p:nvPr>
        </p:nvSpPr>
        <p:spPr/>
        <p:txBody>
          <a:bodyPr/>
          <a:lstStyle/>
          <a:p>
            <a:fld id="{281E4CA6-4D40-4370-8D93-DA5309A02198}" type="slidenum">
              <a:rPr lang="zh-CN" altLang="en-US" smtClean="0"/>
              <a:t>23</a:t>
            </a:fld>
            <a:endParaRPr lang="zh-CN" altLang="en-US"/>
          </a:p>
        </p:txBody>
      </p:sp>
    </p:spTree>
    <p:extLst>
      <p:ext uri="{BB962C8B-B14F-4D97-AF65-F5344CB8AC3E}">
        <p14:creationId xmlns:p14="http://schemas.microsoft.com/office/powerpoint/2010/main" val="32559326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21AE4-AABA-7AF2-FCD9-FAE64C0B516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9C04B1-5021-DB0E-8C6D-C29226185CC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E8CFF1-2B9D-2170-3C4B-E7C337C39498}"/>
              </a:ext>
            </a:extLst>
          </p:cNvPr>
          <p:cNvSpPr>
            <a:spLocks noGrp="1"/>
          </p:cNvSpPr>
          <p:nvPr>
            <p:ph type="body" idx="1"/>
          </p:nvPr>
        </p:nvSpPr>
        <p:spPr/>
        <p:txBody>
          <a:bodyPr/>
          <a:lstStyle/>
          <a:p>
            <a:r>
              <a:rPr lang="zh-CN" altLang="en-US" b="0" i="0" dirty="0">
                <a:solidFill>
                  <a:srgbClr val="1A1A1A"/>
                </a:solidFill>
                <a:effectLst/>
                <a:latin typeface="Segoe UI" panose="020B0502040204020203" pitchFamily="34" charset="0"/>
              </a:rPr>
              <a:t>表</a:t>
            </a:r>
            <a:r>
              <a:rPr lang="en-US" altLang="zh-CN" b="0" i="0" dirty="0">
                <a:solidFill>
                  <a:srgbClr val="1A1A1A"/>
                </a:solidFill>
                <a:effectLst/>
                <a:latin typeface="Segoe UI" panose="020B0502040204020203" pitchFamily="34" charset="0"/>
              </a:rPr>
              <a:t>1</a:t>
            </a:r>
            <a:r>
              <a:rPr lang="zh-CN" altLang="en-US" b="0" i="0" dirty="0">
                <a:solidFill>
                  <a:srgbClr val="1A1A1A"/>
                </a:solidFill>
                <a:effectLst/>
                <a:latin typeface="Segoe UI" panose="020B0502040204020203" pitchFamily="34" charset="0"/>
              </a:rPr>
              <a:t>：基于事实的数据集的评估结果（</a:t>
            </a:r>
            <a:r>
              <a:rPr lang="en-US" altLang="zh-CN" b="0" i="0" dirty="0">
                <a:solidFill>
                  <a:srgbClr val="1A1A1A"/>
                </a:solidFill>
                <a:effectLst/>
                <a:latin typeface="Segoe UI" panose="020B0502040204020203" pitchFamily="34" charset="0"/>
              </a:rPr>
              <a:t>%</a:t>
            </a:r>
            <a:r>
              <a:rPr lang="zh-CN" altLang="en-US" b="0" i="0" dirty="0">
                <a:solidFill>
                  <a:srgbClr val="1A1A1A"/>
                </a:solidFill>
                <a:effectLst/>
                <a:latin typeface="Segoe UI" panose="020B0502040204020203" pitchFamily="34" charset="0"/>
              </a:rPr>
              <a:t>），包括不同领域的事实知识。所有数据集名称均已缩写。我们比较了模型在直接提问和经过</a:t>
            </a:r>
            <a:r>
              <a:rPr lang="en-US" altLang="zh-CN" b="0" i="0" dirty="0">
                <a:solidFill>
                  <a:srgbClr val="1A1A1A"/>
                </a:solidFill>
                <a:effectLst/>
                <a:latin typeface="Segoe UI" panose="020B0502040204020203" pitchFamily="34" charset="0"/>
              </a:rPr>
              <a:t>1</a:t>
            </a:r>
            <a:r>
              <a:rPr lang="zh-CN" altLang="en-US" b="0" i="0" dirty="0">
                <a:solidFill>
                  <a:srgbClr val="1A1A1A"/>
                </a:solidFill>
                <a:effectLst/>
                <a:latin typeface="Segoe UI" panose="020B0502040204020203" pitchFamily="34" charset="0"/>
              </a:rPr>
              <a:t>层、</a:t>
            </a:r>
            <a:r>
              <a:rPr lang="en-US" altLang="zh-CN" b="0" i="0" dirty="0">
                <a:solidFill>
                  <a:srgbClr val="1A1A1A"/>
                </a:solidFill>
                <a:effectLst/>
                <a:latin typeface="Segoe UI" panose="020B0502040204020203" pitchFamily="34" charset="0"/>
              </a:rPr>
              <a:t>3</a:t>
            </a:r>
            <a:r>
              <a:rPr lang="zh-CN" altLang="en-US" b="0" i="0" dirty="0">
                <a:solidFill>
                  <a:srgbClr val="1A1A1A"/>
                </a:solidFill>
                <a:effectLst/>
                <a:latin typeface="Segoe UI" panose="020B0502040204020203" pitchFamily="34" charset="0"/>
              </a:rPr>
              <a:t>层和</a:t>
            </a:r>
            <a:r>
              <a:rPr lang="en-US" altLang="zh-CN" b="0" i="0" dirty="0">
                <a:solidFill>
                  <a:srgbClr val="1A1A1A"/>
                </a:solidFill>
                <a:effectLst/>
                <a:latin typeface="Segoe UI" panose="020B0502040204020203" pitchFamily="34" charset="0"/>
              </a:rPr>
              <a:t>5</a:t>
            </a:r>
            <a:r>
              <a:rPr lang="zh-CN" altLang="en-US" b="0" i="0" dirty="0">
                <a:solidFill>
                  <a:srgbClr val="1A1A1A"/>
                </a:solidFill>
                <a:effectLst/>
                <a:latin typeface="Segoe UI" panose="020B0502040204020203" pitchFamily="34" charset="0"/>
              </a:rPr>
              <a:t>层补丁后表现的性能。</a:t>
            </a:r>
            <a:endParaRPr lang="en-US" altLang="zh-CN" b="0" i="0" dirty="0">
              <a:solidFill>
                <a:srgbClr val="1A1A1A"/>
              </a:solidFill>
              <a:effectLst/>
              <a:latin typeface="Segoe UI" panose="020B0502040204020203" pitchFamily="34" charset="0"/>
            </a:endParaRPr>
          </a:p>
          <a:p>
            <a:r>
              <a:rPr lang="zh-CN" altLang="en-US" dirty="0"/>
              <a:t>对于每个三元组，数据集包含包含主题的</a:t>
            </a:r>
            <a:r>
              <a:rPr lang="en-US" altLang="zh-CN" dirty="0"/>
              <a:t>5</a:t>
            </a:r>
            <a:r>
              <a:rPr lang="zh-CN" altLang="en-US" dirty="0"/>
              <a:t>个句子</a:t>
            </a:r>
            <a:r>
              <a:rPr lang="en-US" altLang="zh-CN" dirty="0"/>
              <a:t>S</a:t>
            </a:r>
            <a:r>
              <a:rPr lang="zh-CN" altLang="en-US" dirty="0"/>
              <a:t>，旨在为模型提供该主题的相应隐藏状态。我们利用</a:t>
            </a:r>
            <a:r>
              <a:rPr lang="en-US" altLang="zh-CN" dirty="0"/>
              <a:t>11</a:t>
            </a:r>
            <a:r>
              <a:rPr lang="zh-CN" altLang="en-US" dirty="0"/>
              <a:t>个基于事实的数据集进行了实验，这些数据集包括公司</a:t>
            </a:r>
            <a:r>
              <a:rPr lang="en-US" altLang="zh-CN" dirty="0" err="1"/>
              <a:t>ceo</a:t>
            </a:r>
            <a:r>
              <a:rPr lang="zh-CN" altLang="en-US" dirty="0"/>
              <a:t>（</a:t>
            </a:r>
            <a:r>
              <a:rPr lang="en-US" altLang="zh-CN" dirty="0" err="1"/>
              <a:t>ceo</a:t>
            </a:r>
            <a:r>
              <a:rPr lang="zh-CN" altLang="en-US" dirty="0"/>
              <a:t>）、国家首都（</a:t>
            </a:r>
            <a:r>
              <a:rPr lang="en-US" altLang="zh-CN" dirty="0"/>
              <a:t>CCC</a:t>
            </a:r>
            <a:r>
              <a:rPr lang="zh-CN" altLang="en-US" dirty="0"/>
              <a:t>）、国家货币（</a:t>
            </a:r>
            <a:r>
              <a:rPr lang="en-US" altLang="zh-CN" dirty="0"/>
              <a:t>CCY</a:t>
            </a:r>
            <a:r>
              <a:rPr lang="zh-CN" altLang="en-US" dirty="0"/>
              <a:t>）、国家最大城市（</a:t>
            </a:r>
            <a:r>
              <a:rPr lang="en-US" altLang="zh-CN" dirty="0"/>
              <a:t>CLC</a:t>
            </a:r>
            <a:r>
              <a:rPr lang="zh-CN" altLang="en-US" dirty="0"/>
              <a:t>）、来自国家的食物（</a:t>
            </a:r>
            <a:r>
              <a:rPr lang="en-US" altLang="zh-CN" dirty="0"/>
              <a:t>FFC</a:t>
            </a:r>
            <a:r>
              <a:rPr lang="zh-CN" altLang="en-US" dirty="0"/>
              <a:t>）、人在运动中扮演的角色（</a:t>
            </a:r>
            <a:r>
              <a:rPr lang="en-US" altLang="zh-CN" dirty="0" err="1"/>
              <a:t>PPoS</a:t>
            </a:r>
            <a:r>
              <a:rPr lang="zh-CN" altLang="en-US" dirty="0"/>
              <a:t>）、人在运动中扮演的角色（</a:t>
            </a:r>
            <a:r>
              <a:rPr lang="en-US" altLang="zh-CN" dirty="0"/>
              <a:t>pro</a:t>
            </a:r>
            <a:r>
              <a:rPr lang="zh-CN" altLang="en-US" dirty="0"/>
              <a:t>）、公司产品（</a:t>
            </a:r>
            <a:r>
              <a:rPr lang="en-US" altLang="zh-CN" dirty="0"/>
              <a:t>Prod.</a:t>
            </a:r>
            <a:r>
              <a:rPr lang="zh-CN" altLang="en-US" dirty="0"/>
              <a:t>）、星座（</a:t>
            </a:r>
            <a:r>
              <a:rPr lang="en-US" altLang="zh-CN" dirty="0"/>
              <a:t>Const.</a:t>
            </a:r>
            <a:r>
              <a:rPr lang="zh-CN" altLang="en-US" dirty="0"/>
              <a:t>）、超级英雄的宿敌（</a:t>
            </a:r>
            <a:r>
              <a:rPr lang="en-US" altLang="zh-CN" dirty="0"/>
              <a:t>Arch.</a:t>
            </a:r>
            <a:r>
              <a:rPr lang="zh-CN" altLang="en-US" dirty="0"/>
              <a:t>）、超级英雄的人物（</a:t>
            </a:r>
            <a:r>
              <a:rPr lang="en-US" altLang="zh-CN" dirty="0" err="1"/>
              <a:t>S.Hero</a:t>
            </a:r>
            <a:r>
              <a:rPr lang="zh-CN" altLang="en-US" dirty="0"/>
              <a:t>）。该数据集总共包含</a:t>
            </a:r>
            <a:r>
              <a:rPr lang="en-US" altLang="zh-CN" dirty="0"/>
              <a:t>1396</a:t>
            </a:r>
            <a:r>
              <a:rPr lang="zh-CN" altLang="en-US" dirty="0"/>
              <a:t>个事实三元组和</a:t>
            </a:r>
            <a:r>
              <a:rPr lang="en-US" altLang="zh-CN" dirty="0"/>
              <a:t>6980</a:t>
            </a:r>
            <a:r>
              <a:rPr lang="zh-CN" altLang="en-US" dirty="0"/>
              <a:t>个句子，用于提供主题的隐藏状态。我们使用综合数据集评估了一系列</a:t>
            </a:r>
            <a:r>
              <a:rPr lang="en-US" altLang="zh-CN" dirty="0" err="1"/>
              <a:t>llm</a:t>
            </a:r>
            <a:r>
              <a:rPr lang="zh-CN" altLang="en-US" dirty="0"/>
              <a:t>，如</a:t>
            </a:r>
            <a:r>
              <a:rPr lang="en-US" altLang="zh-CN" dirty="0"/>
              <a:t>gpt-j-6b</a:t>
            </a:r>
            <a:r>
              <a:rPr lang="zh-CN" altLang="en-US" dirty="0"/>
              <a:t>， </a:t>
            </a:r>
            <a:r>
              <a:rPr lang="en-US" altLang="zh-CN" dirty="0"/>
              <a:t>Qwen2.5-7b, Mistral-7b, pythia-12b, llama2-13b</a:t>
            </a:r>
            <a:r>
              <a:rPr lang="zh-CN" altLang="en-US" dirty="0"/>
              <a:t>。</a:t>
            </a:r>
          </a:p>
        </p:txBody>
      </p:sp>
      <p:sp>
        <p:nvSpPr>
          <p:cNvPr id="4" name="灯片编号占位符 3">
            <a:extLst>
              <a:ext uri="{FF2B5EF4-FFF2-40B4-BE49-F238E27FC236}">
                <a16:creationId xmlns:a16="http://schemas.microsoft.com/office/drawing/2014/main" id="{AE614306-8A60-63C1-CDA2-2A840FBFBA26}"/>
              </a:ext>
            </a:extLst>
          </p:cNvPr>
          <p:cNvSpPr>
            <a:spLocks noGrp="1"/>
          </p:cNvSpPr>
          <p:nvPr>
            <p:ph type="sldNum" sz="quarter" idx="10"/>
          </p:nvPr>
        </p:nvSpPr>
        <p:spPr/>
        <p:txBody>
          <a:bodyPr/>
          <a:lstStyle/>
          <a:p>
            <a:fld id="{281E4CA6-4D40-4370-8D93-DA5309A02198}" type="slidenum">
              <a:rPr lang="zh-CN" altLang="en-US" smtClean="0"/>
              <a:t>24</a:t>
            </a:fld>
            <a:endParaRPr lang="zh-CN" altLang="en-US"/>
          </a:p>
        </p:txBody>
      </p:sp>
    </p:spTree>
    <p:extLst>
      <p:ext uri="{BB962C8B-B14F-4D97-AF65-F5344CB8AC3E}">
        <p14:creationId xmlns:p14="http://schemas.microsoft.com/office/powerpoint/2010/main" val="25526224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6D531-C51E-926A-E49D-5760880E21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3AD7A1-8F36-5B2D-13BB-CACD8421FDF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886C981-CF8E-4DF7-970B-42FB07ABDE9E}"/>
              </a:ext>
            </a:extLst>
          </p:cNvPr>
          <p:cNvSpPr>
            <a:spLocks noGrp="1"/>
          </p:cNvSpPr>
          <p:nvPr>
            <p:ph type="body" idx="1"/>
          </p:nvPr>
        </p:nvSpPr>
        <p:spPr/>
        <p:txBody>
          <a:bodyPr/>
          <a:lstStyle/>
          <a:p>
            <a:r>
              <a:rPr lang="zh-CN" altLang="en-US" b="0" i="0" dirty="0">
                <a:solidFill>
                  <a:srgbClr val="1A1A1A"/>
                </a:solidFill>
                <a:effectLst/>
                <a:latin typeface="Segoe UI" panose="020B0502040204020203" pitchFamily="34" charset="0"/>
              </a:rPr>
              <a:t>鉴于</a:t>
            </a:r>
            <a:r>
              <a:rPr lang="en-US" altLang="zh-CN" b="0" i="0" dirty="0" err="1">
                <a:solidFill>
                  <a:srgbClr val="1A1A1A"/>
                </a:solidFill>
                <a:effectLst/>
                <a:latin typeface="Segoe UI" panose="020B0502040204020203" pitchFamily="34" charset="0"/>
              </a:rPr>
              <a:t>Patchscope</a:t>
            </a:r>
            <a:r>
              <a:rPr lang="zh-CN" altLang="en-US" b="0" i="0" dirty="0">
                <a:solidFill>
                  <a:srgbClr val="1A1A1A"/>
                </a:solidFill>
                <a:effectLst/>
                <a:latin typeface="Segoe UI" panose="020B0502040204020203" pitchFamily="34" charset="0"/>
              </a:rPr>
              <a:t>的实验结果显示其在反映大型语言模型对知识的掌握方面的准确性优于传统方法（例如探测），我们已经增强了</a:t>
            </a:r>
            <a:r>
              <a:rPr lang="en-US" altLang="zh-CN" b="0" i="0" dirty="0" err="1">
                <a:solidFill>
                  <a:srgbClr val="1A1A1A"/>
                </a:solidFill>
                <a:effectLst/>
                <a:latin typeface="Segoe UI" panose="020B0502040204020203" pitchFamily="34" charset="0"/>
              </a:rPr>
              <a:t>Patchscope</a:t>
            </a:r>
            <a:r>
              <a:rPr lang="zh-CN" altLang="en-US" b="0" i="0" dirty="0">
                <a:solidFill>
                  <a:srgbClr val="1A1A1A"/>
                </a:solidFill>
                <a:effectLst/>
                <a:latin typeface="Segoe UI" panose="020B0502040204020203" pitchFamily="34" charset="0"/>
              </a:rPr>
              <a:t>以更好地评估大型语言模型的知识边界。然而，</a:t>
            </a:r>
            <a:r>
              <a:rPr lang="en-US" altLang="zh-CN" b="0" i="0" dirty="0" err="1">
                <a:solidFill>
                  <a:srgbClr val="1A1A1A"/>
                </a:solidFill>
                <a:effectLst/>
                <a:latin typeface="Segoe UI" panose="020B0502040204020203" pitchFamily="34" charset="0"/>
              </a:rPr>
              <a:t>Patchscope</a:t>
            </a:r>
            <a:r>
              <a:rPr lang="zh-CN" altLang="en-US" b="0" i="0" dirty="0">
                <a:solidFill>
                  <a:srgbClr val="1A1A1A"/>
                </a:solidFill>
                <a:effectLst/>
                <a:latin typeface="Segoe UI" panose="020B0502040204020203" pitchFamily="34" charset="0"/>
              </a:rPr>
              <a:t>仅使用一个源层的一个隐藏表示来进行修补，这不足以准确捕捉实体的身份。为了解决这一限制，我们建议整合跨多个层的连续隐藏表示，以更好地代表一个主题。</a:t>
            </a:r>
            <a:endParaRPr lang="zh-CN" altLang="en-US" dirty="0"/>
          </a:p>
        </p:txBody>
      </p:sp>
      <p:sp>
        <p:nvSpPr>
          <p:cNvPr id="4" name="灯片编号占位符 3">
            <a:extLst>
              <a:ext uri="{FF2B5EF4-FFF2-40B4-BE49-F238E27FC236}">
                <a16:creationId xmlns:a16="http://schemas.microsoft.com/office/drawing/2014/main" id="{926C4F11-5F7C-3970-A0BC-2D1F3BD2C42B}"/>
              </a:ext>
            </a:extLst>
          </p:cNvPr>
          <p:cNvSpPr>
            <a:spLocks noGrp="1"/>
          </p:cNvSpPr>
          <p:nvPr>
            <p:ph type="sldNum" sz="quarter" idx="10"/>
          </p:nvPr>
        </p:nvSpPr>
        <p:spPr/>
        <p:txBody>
          <a:bodyPr/>
          <a:lstStyle/>
          <a:p>
            <a:fld id="{281E4CA6-4D40-4370-8D93-DA5309A02198}" type="slidenum">
              <a:rPr lang="zh-CN" altLang="en-US" smtClean="0"/>
              <a:t>25</a:t>
            </a:fld>
            <a:endParaRPr lang="zh-CN" altLang="en-US"/>
          </a:p>
        </p:txBody>
      </p:sp>
    </p:spTree>
    <p:extLst>
      <p:ext uri="{BB962C8B-B14F-4D97-AF65-F5344CB8AC3E}">
        <p14:creationId xmlns:p14="http://schemas.microsoft.com/office/powerpoint/2010/main" val="39898747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E43C5-6680-7B12-9BA7-466443A8B6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D1739A-8B8B-09FE-13F0-4A8E60A90D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E51E410-CAFE-83F3-66CB-EDA521DB3DF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D58AD6C-57D8-B772-1208-FC0920530766}"/>
              </a:ext>
            </a:extLst>
          </p:cNvPr>
          <p:cNvSpPr>
            <a:spLocks noGrp="1"/>
          </p:cNvSpPr>
          <p:nvPr>
            <p:ph type="sldNum" sz="quarter" idx="10"/>
          </p:nvPr>
        </p:nvSpPr>
        <p:spPr/>
        <p:txBody>
          <a:bodyPr/>
          <a:lstStyle/>
          <a:p>
            <a:fld id="{281E4CA6-4D40-4370-8D93-DA5309A02198}" type="slidenum">
              <a:rPr lang="zh-CN" altLang="en-US" smtClean="0"/>
              <a:t>26</a:t>
            </a:fld>
            <a:endParaRPr lang="zh-CN" altLang="en-US"/>
          </a:p>
        </p:txBody>
      </p:sp>
    </p:spTree>
    <p:extLst>
      <p:ext uri="{BB962C8B-B14F-4D97-AF65-F5344CB8AC3E}">
        <p14:creationId xmlns:p14="http://schemas.microsoft.com/office/powerpoint/2010/main" val="41657352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我们总结了</a:t>
            </a:r>
            <a:r>
              <a:rPr lang="en-US" altLang="zh-CN" dirty="0"/>
              <a:t>11</a:t>
            </a:r>
            <a:r>
              <a:rPr lang="zh-CN" altLang="en-US" dirty="0"/>
              <a:t>个事实数据集的实验结果。</a:t>
            </a:r>
            <a:endParaRPr lang="en-US" altLang="zh-CN" dirty="0"/>
          </a:p>
          <a:p>
            <a:r>
              <a:rPr lang="en-US" altLang="zh-CN" dirty="0" err="1"/>
              <a:t>Patchscope</a:t>
            </a:r>
            <a:r>
              <a:rPr lang="zh-CN" altLang="en-US" dirty="0"/>
              <a:t>和</a:t>
            </a:r>
            <a:r>
              <a:rPr lang="en-US" altLang="zh-CN" dirty="0"/>
              <a:t>ML-Patch</a:t>
            </a:r>
            <a:r>
              <a:rPr lang="zh-CN" altLang="en-US" dirty="0"/>
              <a:t>都明显优于对</a:t>
            </a:r>
            <a:r>
              <a:rPr lang="en-US" altLang="zh-CN" dirty="0" err="1"/>
              <a:t>llm</a:t>
            </a:r>
            <a:r>
              <a:rPr lang="zh-CN" altLang="en-US" dirty="0"/>
              <a:t>的直接查询。</a:t>
            </a:r>
            <a:endParaRPr lang="en-US" altLang="zh-CN" dirty="0"/>
          </a:p>
          <a:p>
            <a:r>
              <a:rPr lang="zh-CN" altLang="en-US" dirty="0"/>
              <a:t>结果进一步表明，</a:t>
            </a:r>
            <a:r>
              <a:rPr lang="zh-CN" altLang="en-US" b="1" dirty="0"/>
              <a:t>在大多数情况下，</a:t>
            </a:r>
            <a:r>
              <a:rPr lang="en-US" altLang="zh-CN" b="1" dirty="0"/>
              <a:t>ML-Patch</a:t>
            </a:r>
            <a:r>
              <a:rPr lang="zh-CN" altLang="en-US" b="1" dirty="0"/>
              <a:t>优于</a:t>
            </a:r>
            <a:r>
              <a:rPr lang="en-US" altLang="zh-CN" b="1" dirty="0" err="1"/>
              <a:t>Patchscope</a:t>
            </a:r>
            <a:r>
              <a:rPr lang="zh-CN" altLang="en-US" b="1" dirty="0"/>
              <a:t>，特别是在大模型不熟悉的领域</a:t>
            </a:r>
            <a:r>
              <a:rPr lang="zh-CN" altLang="en-US" dirty="0"/>
              <a:t>。我们将此归因于大模型中包含了额外的层次，这使他们对不熟悉的主题有了更多的了解，从而提高了他们识别和回忆与这些主题相关信息的能力。</a:t>
            </a:r>
          </a:p>
        </p:txBody>
      </p:sp>
      <p:sp>
        <p:nvSpPr>
          <p:cNvPr id="4" name="灯片编号占位符 3"/>
          <p:cNvSpPr>
            <a:spLocks noGrp="1"/>
          </p:cNvSpPr>
          <p:nvPr>
            <p:ph type="sldNum" sz="quarter" idx="10"/>
          </p:nvPr>
        </p:nvSpPr>
        <p:spPr/>
        <p:txBody>
          <a:bodyPr/>
          <a:lstStyle/>
          <a:p>
            <a:fld id="{281E4CA6-4D40-4370-8D93-DA5309A02198}" type="slidenum">
              <a:rPr lang="zh-CN" altLang="en-US" smtClean="0"/>
              <a:t>27</a:t>
            </a:fld>
            <a:endParaRPr lang="zh-CN" altLang="en-US"/>
          </a:p>
        </p:txBody>
      </p:sp>
    </p:spTree>
    <p:extLst>
      <p:ext uri="{BB962C8B-B14F-4D97-AF65-F5344CB8AC3E}">
        <p14:creationId xmlns:p14="http://schemas.microsoft.com/office/powerpoint/2010/main" val="175754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92C4A-E65C-2EE3-D909-80299C549E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5C89CD-6FB4-B1B0-DCCB-4EB45A34DA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C56CED1-3D54-56A9-7070-1263CC8850F7}"/>
              </a:ext>
            </a:extLst>
          </p:cNvPr>
          <p:cNvSpPr>
            <a:spLocks noGrp="1"/>
          </p:cNvSpPr>
          <p:nvPr>
            <p:ph type="body" idx="1"/>
          </p:nvPr>
        </p:nvSpPr>
        <p:spPr/>
        <p:txBody>
          <a:bodyPr/>
          <a:lstStyle/>
          <a:p>
            <a:r>
              <a:rPr lang="zh-CN" altLang="en-US" b="0" i="0" dirty="0">
                <a:solidFill>
                  <a:srgbClr val="1A1A1A"/>
                </a:solidFill>
                <a:effectLst/>
                <a:latin typeface="Segoe UI" panose="020B0502040204020203" pitchFamily="34" charset="0"/>
              </a:rPr>
              <a:t>为了验证 </a:t>
            </a:r>
            <a:r>
              <a:rPr lang="en-US" altLang="zh-CN" b="0" i="0" dirty="0">
                <a:solidFill>
                  <a:srgbClr val="1A1A1A"/>
                </a:solidFill>
                <a:effectLst/>
                <a:latin typeface="Segoe UI" panose="020B0502040204020203" pitchFamily="34" charset="0"/>
              </a:rPr>
              <a:t>ML-Patch </a:t>
            </a:r>
            <a:r>
              <a:rPr lang="zh-CN" altLang="en-US" b="0" i="0" dirty="0">
                <a:solidFill>
                  <a:srgbClr val="1A1A1A"/>
                </a:solidFill>
                <a:effectLst/>
                <a:latin typeface="Segoe UI" panose="020B0502040204020203" pitchFamily="34" charset="0"/>
              </a:rPr>
              <a:t>的有效性，我们通过改变修补层的数量进行了一系列消融研究。我们独立评估了 </a:t>
            </a:r>
            <a:r>
              <a:rPr lang="en-US" altLang="zh-CN" b="0" i="0" dirty="0">
                <a:solidFill>
                  <a:srgbClr val="1A1A1A"/>
                </a:solidFill>
                <a:effectLst/>
                <a:latin typeface="Segoe UI" panose="020B0502040204020203" pitchFamily="34" charset="0"/>
              </a:rPr>
              <a:t>1 </a:t>
            </a:r>
            <a:r>
              <a:rPr lang="zh-CN" altLang="en-US" b="0" i="0" dirty="0">
                <a:solidFill>
                  <a:srgbClr val="1A1A1A"/>
                </a:solidFill>
                <a:effectLst/>
                <a:latin typeface="Segoe UI" panose="020B0502040204020203" pitchFamily="34" charset="0"/>
              </a:rPr>
              <a:t>、 </a:t>
            </a:r>
            <a:r>
              <a:rPr lang="en-US" altLang="zh-CN" b="0" i="0" dirty="0">
                <a:solidFill>
                  <a:srgbClr val="1A1A1A"/>
                </a:solidFill>
                <a:effectLst/>
                <a:latin typeface="Segoe UI" panose="020B0502040204020203" pitchFamily="34" charset="0"/>
              </a:rPr>
              <a:t>3 </a:t>
            </a:r>
            <a:r>
              <a:rPr lang="zh-CN" altLang="en-US" b="0" i="0" dirty="0">
                <a:solidFill>
                  <a:srgbClr val="1A1A1A"/>
                </a:solidFill>
                <a:effectLst/>
                <a:latin typeface="Segoe UI" panose="020B0502040204020203" pitchFamily="34" charset="0"/>
              </a:rPr>
              <a:t>和 </a:t>
            </a:r>
            <a:r>
              <a:rPr lang="en-US" altLang="zh-CN" b="0" i="0" dirty="0">
                <a:solidFill>
                  <a:srgbClr val="1A1A1A"/>
                </a:solidFill>
                <a:effectLst/>
                <a:latin typeface="Segoe UI" panose="020B0502040204020203" pitchFamily="34" charset="0"/>
              </a:rPr>
              <a:t>5 </a:t>
            </a:r>
            <a:r>
              <a:rPr lang="zh-CN" altLang="en-US" b="0" i="0" dirty="0">
                <a:solidFill>
                  <a:srgbClr val="1A1A1A"/>
                </a:solidFill>
                <a:effectLst/>
                <a:latin typeface="Segoe UI" panose="020B0502040204020203" pitchFamily="34" charset="0"/>
              </a:rPr>
              <a:t>个修补层的模型的精度。值得注意的是，当修补层的数量为 </a:t>
            </a:r>
            <a:r>
              <a:rPr lang="en-US" altLang="zh-CN" b="0" i="0" dirty="0">
                <a:solidFill>
                  <a:srgbClr val="1A1A1A"/>
                </a:solidFill>
                <a:effectLst/>
                <a:latin typeface="Segoe UI" panose="020B0502040204020203" pitchFamily="34" charset="0"/>
              </a:rPr>
              <a:t>3 </a:t>
            </a:r>
            <a:r>
              <a:rPr lang="zh-CN" altLang="en-US" b="0" i="0" dirty="0">
                <a:solidFill>
                  <a:srgbClr val="1A1A1A"/>
                </a:solidFill>
                <a:effectLst/>
                <a:latin typeface="Segoe UI" panose="020B0502040204020203" pitchFamily="34" charset="0"/>
              </a:rPr>
              <a:t>或 </a:t>
            </a:r>
            <a:r>
              <a:rPr lang="en-US" altLang="zh-CN" b="0" i="0" dirty="0">
                <a:solidFill>
                  <a:srgbClr val="1A1A1A"/>
                </a:solidFill>
                <a:effectLst/>
                <a:latin typeface="Segoe UI" panose="020B0502040204020203" pitchFamily="34" charset="0"/>
              </a:rPr>
              <a:t>5 </a:t>
            </a:r>
            <a:r>
              <a:rPr lang="zh-CN" altLang="en-US" b="0" i="0" dirty="0">
                <a:solidFill>
                  <a:srgbClr val="1A1A1A"/>
                </a:solidFill>
                <a:effectLst/>
                <a:latin typeface="Segoe UI" panose="020B0502040204020203" pitchFamily="34" charset="0"/>
              </a:rPr>
              <a:t>个时，</a:t>
            </a:r>
            <a:r>
              <a:rPr lang="en-US" altLang="zh-CN" b="0" i="0" dirty="0">
                <a:solidFill>
                  <a:srgbClr val="1A1A1A"/>
                </a:solidFill>
                <a:effectLst/>
                <a:latin typeface="Segoe UI" panose="020B0502040204020203" pitchFamily="34" charset="0"/>
              </a:rPr>
              <a:t>ML-Patch </a:t>
            </a:r>
            <a:r>
              <a:rPr lang="zh-CN" altLang="en-US" b="0" i="0" dirty="0">
                <a:solidFill>
                  <a:srgbClr val="1A1A1A"/>
                </a:solidFill>
                <a:effectLst/>
                <a:latin typeface="Segoe UI" panose="020B0502040204020203" pitchFamily="34" charset="0"/>
              </a:rPr>
              <a:t>的性能明显优于 </a:t>
            </a:r>
            <a:r>
              <a:rPr lang="en-US" altLang="zh-CN" b="0" i="0" dirty="0" err="1">
                <a:solidFill>
                  <a:srgbClr val="1A1A1A"/>
                </a:solidFill>
                <a:effectLst/>
                <a:latin typeface="Segoe UI" panose="020B0502040204020203" pitchFamily="34" charset="0"/>
              </a:rPr>
              <a:t>Patchscope</a:t>
            </a:r>
            <a:r>
              <a:rPr lang="zh-CN" altLang="en-US" b="0" i="0" dirty="0">
                <a:solidFill>
                  <a:srgbClr val="1A1A1A"/>
                </a:solidFill>
                <a:effectLst/>
                <a:latin typeface="Segoe UI" panose="020B0502040204020203" pitchFamily="34" charset="0"/>
              </a:rPr>
              <a:t>，证明了 </a:t>
            </a:r>
            <a:r>
              <a:rPr lang="en-US" altLang="zh-CN" b="0" i="0" dirty="0">
                <a:solidFill>
                  <a:srgbClr val="1A1A1A"/>
                </a:solidFill>
                <a:effectLst/>
                <a:latin typeface="Segoe UI" panose="020B0502040204020203" pitchFamily="34" charset="0"/>
              </a:rPr>
              <a:t>ML-Patch </a:t>
            </a:r>
            <a:r>
              <a:rPr lang="zh-CN" altLang="en-US" b="0" i="0" dirty="0">
                <a:solidFill>
                  <a:srgbClr val="1A1A1A"/>
                </a:solidFill>
                <a:effectLst/>
                <a:latin typeface="Segoe UI" panose="020B0502040204020203" pitchFamily="34" charset="0"/>
              </a:rPr>
              <a:t>的优越性。</a:t>
            </a:r>
            <a:endParaRPr lang="zh-CN" altLang="en-US" dirty="0"/>
          </a:p>
        </p:txBody>
      </p:sp>
      <p:sp>
        <p:nvSpPr>
          <p:cNvPr id="4" name="灯片编号占位符 3">
            <a:extLst>
              <a:ext uri="{FF2B5EF4-FFF2-40B4-BE49-F238E27FC236}">
                <a16:creationId xmlns:a16="http://schemas.microsoft.com/office/drawing/2014/main" id="{F0D492D1-7C45-4EF7-9F04-3E7E6DE91321}"/>
              </a:ext>
            </a:extLst>
          </p:cNvPr>
          <p:cNvSpPr>
            <a:spLocks noGrp="1"/>
          </p:cNvSpPr>
          <p:nvPr>
            <p:ph type="sldNum" sz="quarter" idx="10"/>
          </p:nvPr>
        </p:nvSpPr>
        <p:spPr/>
        <p:txBody>
          <a:bodyPr/>
          <a:lstStyle/>
          <a:p>
            <a:fld id="{281E4CA6-4D40-4370-8D93-DA5309A02198}" type="slidenum">
              <a:rPr lang="zh-CN" altLang="en-US" smtClean="0"/>
              <a:t>28</a:t>
            </a:fld>
            <a:endParaRPr lang="zh-CN" altLang="en-US"/>
          </a:p>
        </p:txBody>
      </p:sp>
    </p:spTree>
    <p:extLst>
      <p:ext uri="{BB962C8B-B14F-4D97-AF65-F5344CB8AC3E}">
        <p14:creationId xmlns:p14="http://schemas.microsoft.com/office/powerpoint/2010/main" val="28022821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06550-22B7-10D5-AB52-FD1B78648F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45A9E8-5E04-F8C1-8E05-3E362399B16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11A9649-C569-8A90-AF4E-67872D21CA5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425F51E-6EEA-0510-6114-9AFADEAB8A05}"/>
              </a:ext>
            </a:extLst>
          </p:cNvPr>
          <p:cNvSpPr>
            <a:spLocks noGrp="1"/>
          </p:cNvSpPr>
          <p:nvPr>
            <p:ph type="sldNum" sz="quarter" idx="10"/>
          </p:nvPr>
        </p:nvSpPr>
        <p:spPr/>
        <p:txBody>
          <a:bodyPr/>
          <a:lstStyle/>
          <a:p>
            <a:fld id="{281E4CA6-4D40-4370-8D93-DA5309A02198}" type="slidenum">
              <a:rPr lang="zh-CN" altLang="en-US" smtClean="0"/>
              <a:t>29</a:t>
            </a:fld>
            <a:endParaRPr lang="zh-CN" altLang="en-US"/>
          </a:p>
        </p:txBody>
      </p:sp>
    </p:spTree>
    <p:extLst>
      <p:ext uri="{BB962C8B-B14F-4D97-AF65-F5344CB8AC3E}">
        <p14:creationId xmlns:p14="http://schemas.microsoft.com/office/powerpoint/2010/main" val="2943357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1E4CA6-4D40-4370-8D93-DA5309A02198}" type="slidenum">
              <a:rPr lang="zh-CN" altLang="en-US" smtClean="0"/>
              <a:t>30</a:t>
            </a:fld>
            <a:endParaRPr lang="zh-CN" altLang="en-US"/>
          </a:p>
        </p:txBody>
      </p:sp>
    </p:spTree>
    <p:extLst>
      <p:ext uri="{BB962C8B-B14F-4D97-AF65-F5344CB8AC3E}">
        <p14:creationId xmlns:p14="http://schemas.microsoft.com/office/powerpoint/2010/main" val="25075343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1E4CA6-4D40-4370-8D93-DA5309A02198}" type="slidenum">
              <a:rPr lang="zh-CN" altLang="en-US" smtClean="0"/>
              <a:t>31</a:t>
            </a:fld>
            <a:endParaRPr lang="zh-CN" altLang="en-US"/>
          </a:p>
        </p:txBody>
      </p:sp>
    </p:spTree>
    <p:extLst>
      <p:ext uri="{BB962C8B-B14F-4D97-AF65-F5344CB8AC3E}">
        <p14:creationId xmlns:p14="http://schemas.microsoft.com/office/powerpoint/2010/main" val="2033369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4374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06711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453613"/>
      </p:ext>
    </p:extLst>
  </p:cSld>
  <p:clrMap bg1="lt1" tx1="dk1" bg2="lt2" tx2="dk2" accent1="accent1" accent2="accent2" accent3="accent3" accent4="accent4" accent5="accent5" accent6="accent6" hlink="hlink" folHlink="folHlink"/>
  <p:sldLayoutIdLst>
    <p:sldLayoutId id="2147483649" r:id="rId1"/>
    <p:sldLayoutId id="2147483676"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80.png"/></Relationships>
</file>

<file path=ppt/slides/_rels/slide2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00.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7.jpeg"/><Relationship Id="rId4" Type="http://schemas.openxmlformats.org/officeDocument/2006/relationships/image" Target="../media/image16.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227884" y="1998213"/>
            <a:ext cx="9736228" cy="1938992"/>
          </a:xfrm>
          <a:prstGeom prst="rect">
            <a:avLst/>
          </a:prstGeom>
          <a:noFill/>
        </p:spPr>
        <p:txBody>
          <a:bodyPr wrap="square" rtlCol="0">
            <a:spAutoFit/>
          </a:bodyPr>
          <a:lstStyle/>
          <a:p>
            <a:pPr algn="ctr"/>
            <a:r>
              <a:rPr lang="en-US" altLang="zh-CN" sz="4000" b="1" dirty="0">
                <a:solidFill>
                  <a:schemeClr val="bg1"/>
                </a:solidFill>
                <a:latin typeface="Gulim" panose="020B0600000101010101" pitchFamily="34" charset="-127"/>
                <a:ea typeface="Gulim" panose="020B0600000101010101" pitchFamily="34" charset="-127"/>
                <a:cs typeface="Aharoni" panose="02010803020104030203" pitchFamily="2" charset="-79"/>
              </a:rPr>
              <a:t>Carefully Evaluating Hidden Knowledge of Language Models via </a:t>
            </a:r>
          </a:p>
          <a:p>
            <a:pPr algn="ctr"/>
            <a:r>
              <a:rPr lang="en-US" altLang="zh-CN" sz="4000" b="1" dirty="0">
                <a:solidFill>
                  <a:schemeClr val="accent1"/>
                </a:solidFill>
                <a:latin typeface="Gulim" panose="020B0600000101010101" pitchFamily="34" charset="-127"/>
                <a:ea typeface="Gulim" panose="020B0600000101010101" pitchFamily="34" charset="-127"/>
                <a:cs typeface="Aharoni" panose="02010803020104030203" pitchFamily="2" charset="-79"/>
              </a:rPr>
              <a:t>Multi-Layer Patching</a:t>
            </a:r>
            <a:endParaRPr lang="zh-CN" altLang="en-US" sz="4000" b="1" dirty="0">
              <a:solidFill>
                <a:schemeClr val="accent1"/>
              </a:solidFill>
              <a:latin typeface="Gulim" panose="020B0600000101010101" pitchFamily="34" charset="-127"/>
              <a:ea typeface="Gulim" panose="020B0600000101010101" pitchFamily="34" charset="-127"/>
              <a:cs typeface="Aharoni" panose="02010803020104030203" pitchFamily="2" charset="-79"/>
            </a:endParaRPr>
          </a:p>
        </p:txBody>
      </p:sp>
      <p:sp>
        <p:nvSpPr>
          <p:cNvPr id="43" name="五边形 42"/>
          <p:cNvSpPr/>
          <p:nvPr/>
        </p:nvSpPr>
        <p:spPr>
          <a:xfrm rot="5400000">
            <a:off x="10469880" y="-118382"/>
            <a:ext cx="1066802" cy="1303567"/>
          </a:xfrm>
          <a:prstGeom prst="homePlate">
            <a:avLst>
              <a:gd name="adj" fmla="val 1960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txBox="1"/>
          <p:nvPr/>
        </p:nvSpPr>
        <p:spPr>
          <a:xfrm>
            <a:off x="3445426" y="4470507"/>
            <a:ext cx="5301143" cy="523220"/>
          </a:xfrm>
          <a:prstGeom prst="rect">
            <a:avLst/>
          </a:prstGeom>
          <a:noFill/>
        </p:spPr>
        <p:txBody>
          <a:bodyPr wrap="square" rtlCol="0">
            <a:spAutoFit/>
          </a:bodyPr>
          <a:lstStyle/>
          <a:p>
            <a:r>
              <a:rPr lang="en-US" altLang="zh-CN" sz="2800" dirty="0">
                <a:solidFill>
                  <a:schemeClr val="bg1">
                    <a:lumMod val="95000"/>
                  </a:schemeClr>
                </a:solidFill>
                <a:ea typeface="Gulim" panose="020B0600000101010101" pitchFamily="34" charset="-127"/>
              </a:rPr>
              <a:t>Yaxuan Li,  Yuetong Li,  </a:t>
            </a:r>
            <a:r>
              <a:rPr lang="en-US" altLang="zh-CN" sz="2800" dirty="0" err="1">
                <a:solidFill>
                  <a:schemeClr val="bg1">
                    <a:lumMod val="95000"/>
                  </a:schemeClr>
                </a:solidFill>
                <a:ea typeface="Gulim" panose="020B0600000101010101" pitchFamily="34" charset="-127"/>
              </a:rPr>
              <a:t>Yexuan</a:t>
            </a:r>
            <a:r>
              <a:rPr lang="en-US" altLang="zh-CN" sz="2800" dirty="0">
                <a:solidFill>
                  <a:schemeClr val="bg1">
                    <a:lumMod val="95000"/>
                  </a:schemeClr>
                </a:solidFill>
                <a:ea typeface="Gulim" panose="020B0600000101010101" pitchFamily="34" charset="-127"/>
              </a:rPr>
              <a:t> Yang</a:t>
            </a:r>
            <a:endParaRPr lang="zh-CN" altLang="en-US" sz="2800" dirty="0">
              <a:solidFill>
                <a:schemeClr val="bg1">
                  <a:lumMod val="95000"/>
                </a:schemeClr>
              </a:solidFill>
              <a:ea typeface="Gulim" panose="020B0600000101010101" pitchFamily="34" charset="-127"/>
            </a:endParaRPr>
          </a:p>
        </p:txBody>
      </p:sp>
    </p:spTree>
    <p:extLst>
      <p:ext uri="{BB962C8B-B14F-4D97-AF65-F5344CB8AC3E}">
        <p14:creationId xmlns:p14="http://schemas.microsoft.com/office/powerpoint/2010/main" val="2607215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1351493" y="2662314"/>
            <a:ext cx="7490581" cy="1323439"/>
          </a:xfrm>
          <a:prstGeom prst="rect">
            <a:avLst/>
          </a:prstGeom>
          <a:noFill/>
        </p:spPr>
        <p:txBody>
          <a:bodyPr wrap="square" rtlCol="0">
            <a:spAutoFit/>
          </a:bodyPr>
          <a:lstStyle/>
          <a:p>
            <a:r>
              <a:rPr lang="en-US" altLang="zh-CN" sz="8000" b="1" dirty="0">
                <a:solidFill>
                  <a:schemeClr val="bg1">
                    <a:lumMod val="95000"/>
                  </a:schemeClr>
                </a:solidFill>
                <a:latin typeface="Gulim" panose="020B0600000101010101" pitchFamily="34" charset="-127"/>
                <a:ea typeface="Gulim" panose="020B0600000101010101" pitchFamily="34" charset="-127"/>
                <a:cs typeface="Aharoni" panose="02010803020104030203" pitchFamily="2" charset="-79"/>
              </a:rPr>
              <a:t>1 </a:t>
            </a:r>
            <a:r>
              <a:rPr lang="en-US" altLang="zh-CN" sz="8000" b="1" cap="small" dirty="0">
                <a:solidFill>
                  <a:schemeClr val="bg1">
                    <a:lumMod val="95000"/>
                  </a:schemeClr>
                </a:solidFill>
                <a:latin typeface="Gulim" panose="020B0600000101010101" pitchFamily="34" charset="-127"/>
                <a:ea typeface="Gulim" panose="020B0600000101010101" pitchFamily="34" charset="-127"/>
                <a:cs typeface="Aharoni" panose="02010803020104030203" pitchFamily="2" charset="-79"/>
              </a:rPr>
              <a:t>Introduction</a:t>
            </a:r>
            <a:r>
              <a:rPr lang="en-US" altLang="zh-CN" sz="3600" b="1" dirty="0">
                <a:solidFill>
                  <a:schemeClr val="bg1">
                    <a:lumMod val="95000"/>
                  </a:schemeClr>
                </a:solidFill>
                <a:latin typeface="Aharoni" panose="02010803020104030203" pitchFamily="2" charset="-79"/>
                <a:ea typeface="Gulim" panose="020B0600000101010101" pitchFamily="34" charset="-127"/>
                <a:cs typeface="Aharoni" panose="02010803020104030203" pitchFamily="2" charset="-79"/>
              </a:rPr>
              <a:t> </a:t>
            </a:r>
          </a:p>
        </p:txBody>
      </p:sp>
      <p:cxnSp>
        <p:nvCxnSpPr>
          <p:cNvPr id="2" name="直接连接符 1">
            <a:extLst>
              <a:ext uri="{FF2B5EF4-FFF2-40B4-BE49-F238E27FC236}">
                <a16:creationId xmlns:a16="http://schemas.microsoft.com/office/drawing/2014/main" id="{98BF921A-D6CA-9E0D-9091-FB9841977B5A}"/>
              </a:ext>
            </a:extLst>
          </p:cNvPr>
          <p:cNvCxnSpPr/>
          <p:nvPr/>
        </p:nvCxnSpPr>
        <p:spPr>
          <a:xfrm flipV="1">
            <a:off x="8616034" y="2485430"/>
            <a:ext cx="616756" cy="1887139"/>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2374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3" name="直接连接符 92"/>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94" name="矩形 93"/>
          <p:cNvSpPr/>
          <p:nvPr/>
        </p:nvSpPr>
        <p:spPr>
          <a:xfrm>
            <a:off x="1134718" y="259702"/>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Transformer Model</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sp>
        <p:nvSpPr>
          <p:cNvPr id="55" name="矩形 54"/>
          <p:cNvSpPr/>
          <p:nvPr/>
        </p:nvSpPr>
        <p:spPr>
          <a:xfrm>
            <a:off x="589414" y="1862302"/>
            <a:ext cx="5266821" cy="3539430"/>
          </a:xfrm>
          <a:prstGeom prst="rect">
            <a:avLst/>
          </a:prstGeom>
        </p:spPr>
        <p:txBody>
          <a:bodyPr wrap="square">
            <a:spAutoFit/>
          </a:bodyPr>
          <a:lstStyle/>
          <a:p>
            <a:pPr lvl="0"/>
            <a:r>
              <a:rPr lang="en-US" altLang="zh-CN" sz="2800" b="1" dirty="0">
                <a:solidFill>
                  <a:schemeClr val="bg1"/>
                </a:solidFill>
                <a:ea typeface="Gulim" panose="020B0600000101010101" pitchFamily="34" charset="-127"/>
              </a:rPr>
              <a:t>Encoder-decoder</a:t>
            </a:r>
            <a:r>
              <a:rPr lang="en-US" altLang="zh-CN" sz="2800" dirty="0">
                <a:solidFill>
                  <a:schemeClr val="bg1"/>
                </a:solidFill>
                <a:ea typeface="Gulim" panose="020B0600000101010101" pitchFamily="34" charset="-127"/>
              </a:rPr>
              <a:t> architecture</a:t>
            </a:r>
          </a:p>
          <a:p>
            <a:pPr lvl="0"/>
            <a:endParaRPr lang="en-US" altLang="zh-CN" sz="2800" dirty="0">
              <a:solidFill>
                <a:schemeClr val="bg1"/>
              </a:solidFill>
              <a:ea typeface="Gulim" panose="020B0600000101010101" pitchFamily="34" charset="-127"/>
            </a:endParaRPr>
          </a:p>
          <a:p>
            <a:pPr marL="457200" lvl="0" indent="-457200">
              <a:buFont typeface="Arial" panose="020B0604020202020204" pitchFamily="34" charset="0"/>
              <a:buChar char="•"/>
            </a:pPr>
            <a:r>
              <a:rPr lang="en-US" altLang="zh-CN" sz="2800" dirty="0">
                <a:solidFill>
                  <a:schemeClr val="bg1"/>
                </a:solidFill>
                <a:ea typeface="Gulim" panose="020B0600000101010101" pitchFamily="34" charset="-127"/>
              </a:rPr>
              <a:t>Encoder block is used to encode the input sequence and abstract the information.</a:t>
            </a:r>
          </a:p>
          <a:p>
            <a:pPr marL="457200" lvl="0" indent="-457200">
              <a:buFont typeface="Arial" panose="020B0604020202020204" pitchFamily="34" charset="0"/>
              <a:buChar char="•"/>
            </a:pPr>
            <a:r>
              <a:rPr lang="en-US" altLang="zh-CN" sz="2800" dirty="0">
                <a:solidFill>
                  <a:schemeClr val="bg1"/>
                </a:solidFill>
                <a:ea typeface="Gulim" panose="020B0600000101010101" pitchFamily="34" charset="-127"/>
              </a:rPr>
              <a:t>Decoder block is used to decode the output sequence.</a:t>
            </a:r>
          </a:p>
          <a:p>
            <a:pPr marL="457200" lvl="0" indent="-457200">
              <a:buFont typeface="Arial" panose="020B0604020202020204" pitchFamily="34" charset="0"/>
              <a:buChar char="•"/>
            </a:pPr>
            <a:endParaRPr lang="en-US" altLang="zh-CN" sz="2800" dirty="0">
              <a:solidFill>
                <a:schemeClr val="bg1"/>
              </a:solidFill>
              <a:ea typeface="Gulim" panose="020B0600000101010101" pitchFamily="34" charset="-127"/>
            </a:endParaRPr>
          </a:p>
        </p:txBody>
      </p:sp>
      <p:sp>
        <p:nvSpPr>
          <p:cNvPr id="34" name="等腰三角形 33"/>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1</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sp>
        <p:nvSpPr>
          <p:cNvPr id="12" name="矩形 11">
            <a:extLst>
              <a:ext uri="{FF2B5EF4-FFF2-40B4-BE49-F238E27FC236}">
                <a16:creationId xmlns:a16="http://schemas.microsoft.com/office/drawing/2014/main" id="{BE2DA792-04F5-E374-F888-8865F2E17C99}"/>
              </a:ext>
            </a:extLst>
          </p:cNvPr>
          <p:cNvSpPr/>
          <p:nvPr/>
        </p:nvSpPr>
        <p:spPr>
          <a:xfrm>
            <a:off x="5823284" y="0"/>
            <a:ext cx="5534527"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C15C9C25-01B2-10AC-8380-A21A52E8D98B}"/>
              </a:ext>
            </a:extLst>
          </p:cNvPr>
          <p:cNvPicPr>
            <a:picLocks noChangeAspect="1"/>
          </p:cNvPicPr>
          <p:nvPr/>
        </p:nvPicPr>
        <p:blipFill>
          <a:blip r:embed="rId3">
            <a:extLst>
              <a:ext uri="{28A0092B-C50C-407E-A947-70E740481C1C}">
                <a14:useLocalDpi xmlns:a14="http://schemas.microsoft.com/office/drawing/2010/main" val="0"/>
              </a:ext>
            </a:extLst>
          </a:blip>
          <a:srcRect l="11151" r="3959"/>
          <a:stretch/>
        </p:blipFill>
        <p:spPr>
          <a:xfrm>
            <a:off x="5823284" y="0"/>
            <a:ext cx="5534525" cy="6858000"/>
          </a:xfrm>
          <a:prstGeom prst="rect">
            <a:avLst/>
          </a:prstGeom>
        </p:spPr>
      </p:pic>
    </p:spTree>
    <p:extLst>
      <p:ext uri="{BB962C8B-B14F-4D97-AF65-F5344CB8AC3E}">
        <p14:creationId xmlns:p14="http://schemas.microsoft.com/office/powerpoint/2010/main" val="3825829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7232F-00D6-BA28-14E0-95C00A6C0F53}"/>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A9488537-4206-B4CF-6B4E-7E46AE2F20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8678" y="451970"/>
            <a:ext cx="7684709" cy="6087231"/>
          </a:xfrm>
          <a:prstGeom prst="rect">
            <a:avLst/>
          </a:prstGeom>
        </p:spPr>
      </p:pic>
      <p:sp>
        <p:nvSpPr>
          <p:cNvPr id="9" name="椭圆 8">
            <a:extLst>
              <a:ext uri="{FF2B5EF4-FFF2-40B4-BE49-F238E27FC236}">
                <a16:creationId xmlns:a16="http://schemas.microsoft.com/office/drawing/2014/main" id="{C76D42B8-0857-F483-A936-FAA361E24312}"/>
              </a:ext>
            </a:extLst>
          </p:cNvPr>
          <p:cNvSpPr/>
          <p:nvPr/>
        </p:nvSpPr>
        <p:spPr>
          <a:xfrm>
            <a:off x="6773884" y="812467"/>
            <a:ext cx="739005" cy="377978"/>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99E545F6-5265-AC4C-DB57-B893C7428760}"/>
              </a:ext>
            </a:extLst>
          </p:cNvPr>
          <p:cNvSpPr/>
          <p:nvPr/>
        </p:nvSpPr>
        <p:spPr>
          <a:xfrm>
            <a:off x="8573930" y="812467"/>
            <a:ext cx="739005" cy="377978"/>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3B0E7CA5-2637-ECF7-87E9-9082F3B7C5CA}"/>
              </a:ext>
            </a:extLst>
          </p:cNvPr>
          <p:cNvSpPr/>
          <p:nvPr/>
        </p:nvSpPr>
        <p:spPr>
          <a:xfrm>
            <a:off x="5866109" y="919110"/>
            <a:ext cx="739005" cy="377978"/>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06C98484-8685-AB43-3FC1-E13A869958DE}"/>
              </a:ext>
            </a:extLst>
          </p:cNvPr>
          <p:cNvSpPr/>
          <p:nvPr/>
        </p:nvSpPr>
        <p:spPr>
          <a:xfrm>
            <a:off x="5115847" y="693858"/>
            <a:ext cx="4485353" cy="5470283"/>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86751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00741-717C-5EE4-C4F1-9EDFF83B62F5}"/>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9C5D8DC-6DB4-6CEA-9DCC-669CD890A748}"/>
              </a:ext>
            </a:extLst>
          </p:cNvPr>
          <p:cNvGrpSpPr/>
          <p:nvPr/>
        </p:nvGrpSpPr>
        <p:grpSpPr>
          <a:xfrm>
            <a:off x="1978678" y="451970"/>
            <a:ext cx="7684709" cy="6087231"/>
            <a:chOff x="1978678" y="451970"/>
            <a:chExt cx="7684709" cy="6087231"/>
          </a:xfrm>
        </p:grpSpPr>
        <p:pic>
          <p:nvPicPr>
            <p:cNvPr id="7" name="图片 6">
              <a:extLst>
                <a:ext uri="{FF2B5EF4-FFF2-40B4-BE49-F238E27FC236}">
                  <a16:creationId xmlns:a16="http://schemas.microsoft.com/office/drawing/2014/main" id="{DEA27EF9-35B2-9E0C-3FCD-937971AE33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8678" y="451970"/>
              <a:ext cx="7684709" cy="6087231"/>
            </a:xfrm>
            <a:prstGeom prst="rect">
              <a:avLst/>
            </a:prstGeom>
          </p:spPr>
        </p:pic>
        <p:sp>
          <p:nvSpPr>
            <p:cNvPr id="9" name="椭圆 8">
              <a:extLst>
                <a:ext uri="{FF2B5EF4-FFF2-40B4-BE49-F238E27FC236}">
                  <a16:creationId xmlns:a16="http://schemas.microsoft.com/office/drawing/2014/main" id="{71CD505D-3CFF-82C5-EA2B-EBE88FD3F2EB}"/>
                </a:ext>
              </a:extLst>
            </p:cNvPr>
            <p:cNvSpPr/>
            <p:nvPr/>
          </p:nvSpPr>
          <p:spPr>
            <a:xfrm>
              <a:off x="6773884" y="812467"/>
              <a:ext cx="739005" cy="377978"/>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70156968-88B5-AF5F-7835-61EBE93EB30C}"/>
                </a:ext>
              </a:extLst>
            </p:cNvPr>
            <p:cNvSpPr/>
            <p:nvPr/>
          </p:nvSpPr>
          <p:spPr>
            <a:xfrm>
              <a:off x="8573930" y="812467"/>
              <a:ext cx="739005" cy="377978"/>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9238F846-2446-A94F-5EAD-71541C3A2B0E}"/>
                </a:ext>
              </a:extLst>
            </p:cNvPr>
            <p:cNvSpPr/>
            <p:nvPr/>
          </p:nvSpPr>
          <p:spPr>
            <a:xfrm>
              <a:off x="5866109" y="919110"/>
              <a:ext cx="739005" cy="377978"/>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93D42385-EF2E-DCA8-5D71-ADD1891699F9}"/>
                </a:ext>
              </a:extLst>
            </p:cNvPr>
            <p:cNvSpPr/>
            <p:nvPr/>
          </p:nvSpPr>
          <p:spPr>
            <a:xfrm>
              <a:off x="5115847" y="693858"/>
              <a:ext cx="4485353" cy="5470283"/>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7" name="图片 16">
            <a:extLst>
              <a:ext uri="{FF2B5EF4-FFF2-40B4-BE49-F238E27FC236}">
                <a16:creationId xmlns:a16="http://schemas.microsoft.com/office/drawing/2014/main" id="{745C7FEB-2A46-E4AC-9E8F-DE6796632D36}"/>
              </a:ext>
            </a:extLst>
          </p:cNvPr>
          <p:cNvPicPr>
            <a:picLocks noChangeAspect="1"/>
          </p:cNvPicPr>
          <p:nvPr/>
        </p:nvPicPr>
        <p:blipFill>
          <a:blip r:embed="rId4">
            <a:extLst>
              <a:ext uri="{28A0092B-C50C-407E-A947-70E740481C1C}">
                <a14:useLocalDpi xmlns:a14="http://schemas.microsoft.com/office/drawing/2010/main" val="0"/>
              </a:ext>
            </a:extLst>
          </a:blip>
          <a:srcRect l="50000"/>
          <a:stretch/>
        </p:blipFill>
        <p:spPr>
          <a:xfrm>
            <a:off x="8614914" y="440539"/>
            <a:ext cx="3264644" cy="6110092"/>
          </a:xfrm>
          <a:prstGeom prst="rect">
            <a:avLst/>
          </a:prstGeom>
        </p:spPr>
      </p:pic>
      <p:cxnSp>
        <p:nvCxnSpPr>
          <p:cNvPr id="19" name="直接箭头连接符 18">
            <a:extLst>
              <a:ext uri="{FF2B5EF4-FFF2-40B4-BE49-F238E27FC236}">
                <a16:creationId xmlns:a16="http://schemas.microsoft.com/office/drawing/2014/main" id="{C2E4B168-CE30-D621-FA6B-19BB87A4BC73}"/>
              </a:ext>
            </a:extLst>
          </p:cNvPr>
          <p:cNvCxnSpPr>
            <a:cxnSpLocks/>
          </p:cNvCxnSpPr>
          <p:nvPr/>
        </p:nvCxnSpPr>
        <p:spPr>
          <a:xfrm flipV="1">
            <a:off x="6314536" y="3907766"/>
            <a:ext cx="2700068" cy="138022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087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3.75E-6 -2.22222E-6 L -0.12682 0.00047 " pathEditMode="relative" rAng="0" ptsTypes="AA">
                                      <p:cBhvr>
                                        <p:cTn id="6" dur="1000" fill="hold"/>
                                        <p:tgtEl>
                                          <p:spTgt spid="2"/>
                                        </p:tgtEl>
                                        <p:attrNameLst>
                                          <p:attrName>ppt_x</p:attrName>
                                          <p:attrName>ppt_y</p:attrName>
                                        </p:attrNameLst>
                                      </p:cBhvr>
                                      <p:rCtr x="-6341" y="23"/>
                                    </p:animMotion>
                                  </p:childTnLst>
                                </p:cTn>
                              </p:par>
                            </p:childTnLst>
                          </p:cTn>
                        </p:par>
                        <p:par>
                          <p:cTn id="7" fill="hold">
                            <p:stCondLst>
                              <p:cond delay="1000"/>
                            </p:stCondLst>
                            <p:childTnLst>
                              <p:par>
                                <p:cTn id="8" presetID="10" presetClass="entr" presetSubtype="0" fill="hold"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par>
                          <p:cTn id="11" fill="hold">
                            <p:stCondLst>
                              <p:cond delay="1500"/>
                            </p:stCondLst>
                            <p:childTnLst>
                              <p:par>
                                <p:cTn id="12" presetID="10" presetClass="entr" presetSubtype="0" fill="hold" nodeType="after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5A8DD-A720-4B7E-EC3B-B5A5C2BF6869}"/>
            </a:ext>
          </a:extLst>
        </p:cNvPr>
        <p:cNvGrpSpPr/>
        <p:nvPr/>
      </p:nvGrpSpPr>
      <p:grpSpPr>
        <a:xfrm>
          <a:off x="0" y="0"/>
          <a:ext cx="0" cy="0"/>
          <a:chOff x="0" y="0"/>
          <a:chExt cx="0" cy="0"/>
        </a:xfrm>
      </p:grpSpPr>
      <p:cxnSp>
        <p:nvCxnSpPr>
          <p:cNvPr id="93" name="直接连接符 92">
            <a:extLst>
              <a:ext uri="{FF2B5EF4-FFF2-40B4-BE49-F238E27FC236}">
                <a16:creationId xmlns:a16="http://schemas.microsoft.com/office/drawing/2014/main" id="{84240388-A9BA-F347-2C71-594E062A9A0B}"/>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94" name="矩形 93">
            <a:extLst>
              <a:ext uri="{FF2B5EF4-FFF2-40B4-BE49-F238E27FC236}">
                <a16:creationId xmlns:a16="http://schemas.microsoft.com/office/drawing/2014/main" id="{0284073C-3EEF-5778-233C-77801BA2D3FA}"/>
              </a:ext>
            </a:extLst>
          </p:cNvPr>
          <p:cNvSpPr/>
          <p:nvPr/>
        </p:nvSpPr>
        <p:spPr>
          <a:xfrm>
            <a:off x="1134718" y="259702"/>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Transformer Model</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sp>
        <p:nvSpPr>
          <p:cNvPr id="34" name="等腰三角形 33">
            <a:extLst>
              <a:ext uri="{FF2B5EF4-FFF2-40B4-BE49-F238E27FC236}">
                <a16:creationId xmlns:a16="http://schemas.microsoft.com/office/drawing/2014/main" id="{4BE3E1C7-5C54-3133-C14D-9DA6EA4243C5}"/>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A0D8DE82-D8D4-1293-2D93-1F3DB13A10A9}"/>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1</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grpSp>
        <p:nvGrpSpPr>
          <p:cNvPr id="8" name="组合 7">
            <a:extLst>
              <a:ext uri="{FF2B5EF4-FFF2-40B4-BE49-F238E27FC236}">
                <a16:creationId xmlns:a16="http://schemas.microsoft.com/office/drawing/2014/main" id="{700F0450-101F-FEDC-32BA-3570E08F7647}"/>
              </a:ext>
            </a:extLst>
          </p:cNvPr>
          <p:cNvGrpSpPr/>
          <p:nvPr/>
        </p:nvGrpSpPr>
        <p:grpSpPr>
          <a:xfrm>
            <a:off x="5823284" y="0"/>
            <a:ext cx="5534527" cy="6858000"/>
            <a:chOff x="5823284" y="0"/>
            <a:chExt cx="5534527" cy="6858000"/>
          </a:xfrm>
        </p:grpSpPr>
        <p:sp>
          <p:nvSpPr>
            <p:cNvPr id="12" name="矩形 11">
              <a:extLst>
                <a:ext uri="{FF2B5EF4-FFF2-40B4-BE49-F238E27FC236}">
                  <a16:creationId xmlns:a16="http://schemas.microsoft.com/office/drawing/2014/main" id="{B03A777D-647D-85B9-141F-AD9798BD4A0C}"/>
                </a:ext>
              </a:extLst>
            </p:cNvPr>
            <p:cNvSpPr/>
            <p:nvPr/>
          </p:nvSpPr>
          <p:spPr>
            <a:xfrm>
              <a:off x="5823284" y="0"/>
              <a:ext cx="5534527"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640F6F80-1580-9533-C3BF-30FEC4494D09}"/>
                </a:ext>
              </a:extLst>
            </p:cNvPr>
            <p:cNvPicPr>
              <a:picLocks noChangeAspect="1"/>
            </p:cNvPicPr>
            <p:nvPr/>
          </p:nvPicPr>
          <p:blipFill>
            <a:blip r:embed="rId3">
              <a:extLst>
                <a:ext uri="{28A0092B-C50C-407E-A947-70E740481C1C}">
                  <a14:useLocalDpi xmlns:a14="http://schemas.microsoft.com/office/drawing/2010/main" val="0"/>
                </a:ext>
              </a:extLst>
            </a:blip>
            <a:srcRect l="11151" r="3959"/>
            <a:stretch/>
          </p:blipFill>
          <p:spPr>
            <a:xfrm>
              <a:off x="5823284" y="0"/>
              <a:ext cx="5534525" cy="6858000"/>
            </a:xfrm>
            <a:prstGeom prst="rect">
              <a:avLst/>
            </a:prstGeom>
          </p:spPr>
        </p:pic>
      </p:grpSp>
      <p:sp>
        <p:nvSpPr>
          <p:cNvPr id="4" name="文本框 3">
            <a:extLst>
              <a:ext uri="{FF2B5EF4-FFF2-40B4-BE49-F238E27FC236}">
                <a16:creationId xmlns:a16="http://schemas.microsoft.com/office/drawing/2014/main" id="{14F30A97-B8A1-7C7C-29BF-7055B5857E7A}"/>
              </a:ext>
            </a:extLst>
          </p:cNvPr>
          <p:cNvSpPr txBox="1"/>
          <p:nvPr/>
        </p:nvSpPr>
        <p:spPr>
          <a:xfrm>
            <a:off x="8272732" y="0"/>
            <a:ext cx="2147977" cy="6788989"/>
          </a:xfrm>
          <a:prstGeom prst="rect">
            <a:avLst/>
          </a:prstGeom>
          <a:noFill/>
          <a:ln w="57150">
            <a:solidFill>
              <a:srgbClr val="FF0000"/>
            </a:solidFill>
          </a:ln>
        </p:spPr>
        <p:txBody>
          <a:bodyPr wrap="square" rtlCol="0">
            <a:spAutoFit/>
          </a:bodyPr>
          <a:lstStyle/>
          <a:p>
            <a:endParaRPr lang="zh-CN" altLang="en-US" dirty="0"/>
          </a:p>
        </p:txBody>
      </p:sp>
      <p:sp>
        <p:nvSpPr>
          <p:cNvPr id="6" name="矩形 5">
            <a:extLst>
              <a:ext uri="{FF2B5EF4-FFF2-40B4-BE49-F238E27FC236}">
                <a16:creationId xmlns:a16="http://schemas.microsoft.com/office/drawing/2014/main" id="{EAF83317-8648-E225-76A9-DFED5CA410CB}"/>
              </a:ext>
            </a:extLst>
          </p:cNvPr>
          <p:cNvSpPr/>
          <p:nvPr/>
        </p:nvSpPr>
        <p:spPr>
          <a:xfrm>
            <a:off x="572939" y="1385248"/>
            <a:ext cx="5266821" cy="954107"/>
          </a:xfrm>
          <a:prstGeom prst="rect">
            <a:avLst/>
          </a:prstGeom>
        </p:spPr>
        <p:txBody>
          <a:bodyPr wrap="square">
            <a:spAutoFit/>
          </a:bodyPr>
          <a:lstStyle/>
          <a:p>
            <a:pPr lvl="0"/>
            <a:r>
              <a:rPr lang="en-US" altLang="zh-CN" sz="2800" b="1" dirty="0">
                <a:solidFill>
                  <a:schemeClr val="bg1"/>
                </a:solidFill>
                <a:ea typeface="Gulim" panose="020B0600000101010101" pitchFamily="34" charset="-127"/>
              </a:rPr>
              <a:t>Decoder-only</a:t>
            </a:r>
            <a:r>
              <a:rPr lang="en-US" altLang="zh-CN" sz="2800" dirty="0">
                <a:solidFill>
                  <a:schemeClr val="bg1"/>
                </a:solidFill>
                <a:ea typeface="Gulim" panose="020B0600000101010101" pitchFamily="34" charset="-127"/>
              </a:rPr>
              <a:t> architecture</a:t>
            </a:r>
          </a:p>
          <a:p>
            <a:pPr marL="457200" lvl="0" indent="-457200">
              <a:buFont typeface="Arial" panose="020B0604020202020204" pitchFamily="34" charset="0"/>
              <a:buChar char="•"/>
            </a:pPr>
            <a:endParaRPr lang="en-US" altLang="zh-CN" sz="2800" dirty="0">
              <a:solidFill>
                <a:schemeClr val="bg1"/>
              </a:solidFill>
              <a:ea typeface="Gulim" panose="020B0600000101010101" pitchFamily="34" charset="-127"/>
            </a:endParaRPr>
          </a:p>
        </p:txBody>
      </p:sp>
      <p:cxnSp>
        <p:nvCxnSpPr>
          <p:cNvPr id="9" name="直接箭头连接符 8">
            <a:extLst>
              <a:ext uri="{FF2B5EF4-FFF2-40B4-BE49-F238E27FC236}">
                <a16:creationId xmlns:a16="http://schemas.microsoft.com/office/drawing/2014/main" id="{207485E8-951A-C591-B4A4-25371E9E1C17}"/>
              </a:ext>
            </a:extLst>
          </p:cNvPr>
          <p:cNvCxnSpPr>
            <a:cxnSpLocks/>
          </p:cNvCxnSpPr>
          <p:nvPr/>
        </p:nvCxnSpPr>
        <p:spPr>
          <a:xfrm flipV="1">
            <a:off x="3981450" y="0"/>
            <a:ext cx="4291282" cy="220345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4253C3A8-A707-4501-06C3-3504B04AB680}"/>
              </a:ext>
            </a:extLst>
          </p:cNvPr>
          <p:cNvCxnSpPr>
            <a:cxnSpLocks/>
          </p:cNvCxnSpPr>
          <p:nvPr/>
        </p:nvCxnSpPr>
        <p:spPr>
          <a:xfrm>
            <a:off x="3981450" y="6477000"/>
            <a:ext cx="4386173" cy="31198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55FC7C12-EB13-162B-0C3F-4B0D9BB4B2AC}"/>
              </a:ext>
            </a:extLst>
          </p:cNvPr>
          <p:cNvPicPr>
            <a:picLocks noChangeAspect="1"/>
          </p:cNvPicPr>
          <p:nvPr/>
        </p:nvPicPr>
        <p:blipFill>
          <a:blip r:embed="rId4">
            <a:extLst>
              <a:ext uri="{28A0092B-C50C-407E-A947-70E740481C1C}">
                <a14:useLocalDpi xmlns:a14="http://schemas.microsoft.com/office/drawing/2010/main" val="0"/>
              </a:ext>
            </a:extLst>
          </a:blip>
          <a:srcRect l="50000"/>
          <a:stretch/>
        </p:blipFill>
        <p:spPr>
          <a:xfrm>
            <a:off x="8614914" y="440539"/>
            <a:ext cx="3264644" cy="6110092"/>
          </a:xfrm>
          <a:prstGeom prst="rect">
            <a:avLst/>
          </a:prstGeom>
        </p:spPr>
      </p:pic>
    </p:spTree>
    <p:extLst>
      <p:ext uri="{BB962C8B-B14F-4D97-AF65-F5344CB8AC3E}">
        <p14:creationId xmlns:p14="http://schemas.microsoft.com/office/powerpoint/2010/main" val="3803886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accel="50000" decel="50000" fill="hold" nodeType="withEffect">
                                  <p:stCondLst>
                                    <p:cond delay="0"/>
                                  </p:stCondLst>
                                  <p:childTnLst>
                                    <p:animScale>
                                      <p:cBhvr>
                                        <p:cTn id="6" dur="1000" fill="hold"/>
                                        <p:tgtEl>
                                          <p:spTgt spid="2"/>
                                        </p:tgtEl>
                                      </p:cBhvr>
                                      <p:by x="70000" y="70000"/>
                                    </p:animScale>
                                  </p:childTnLst>
                                </p:cTn>
                              </p:par>
                              <p:par>
                                <p:cTn id="7" presetID="42" presetClass="path" presetSubtype="0" accel="50000" decel="50000" fill="hold" nodeType="withEffect">
                                  <p:stCondLst>
                                    <p:cond delay="0"/>
                                  </p:stCondLst>
                                  <p:childTnLst>
                                    <p:animMotion origin="layout" path="M -4.79167E-6 -2.22222E-6 L -0.61028 0.12222 " pathEditMode="relative" rAng="0" ptsTypes="AA">
                                      <p:cBhvr>
                                        <p:cTn id="8" dur="1000" fill="hold"/>
                                        <p:tgtEl>
                                          <p:spTgt spid="2"/>
                                        </p:tgtEl>
                                        <p:attrNameLst>
                                          <p:attrName>ppt_x</p:attrName>
                                          <p:attrName>ppt_y</p:attrName>
                                        </p:attrNameLst>
                                      </p:cBhvr>
                                      <p:rCtr x="-30521" y="6111"/>
                                    </p:animMotion>
                                  </p:childTnLst>
                                </p:cTn>
                              </p:par>
                            </p:childTnLst>
                          </p:cTn>
                        </p:par>
                        <p:par>
                          <p:cTn id="9" fill="hold">
                            <p:stCondLst>
                              <p:cond delay="1000"/>
                            </p:stCondLst>
                            <p:childTnLst>
                              <p:par>
                                <p:cTn id="10" presetID="42" presetClass="entr" presetSubtype="0"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par>
                          <p:cTn id="15" fill="hold">
                            <p:stCondLst>
                              <p:cond delay="2000"/>
                            </p:stCondLst>
                            <p:childTnLst>
                              <p:par>
                                <p:cTn id="16" presetID="22" presetClass="entr" presetSubtype="8" fill="hold"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par>
                          <p:cTn id="19" fill="hold">
                            <p:stCondLst>
                              <p:cond delay="2500"/>
                            </p:stCondLst>
                            <p:childTnLst>
                              <p:par>
                                <p:cTn id="20" presetID="22" presetClass="entr" presetSubtype="8" fill="hold"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par>
                          <p:cTn id="23" fill="hold">
                            <p:stCondLst>
                              <p:cond delay="3000"/>
                            </p:stCondLst>
                            <p:childTnLst>
                              <p:par>
                                <p:cTn id="24" presetID="10" presetClass="entr" presetSubtype="0" fill="hold" grpId="0"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par>
                          <p:cTn id="27" fill="hold">
                            <p:stCondLst>
                              <p:cond delay="3500"/>
                            </p:stCondLst>
                            <p:childTnLst>
                              <p:par>
                                <p:cTn id="28" presetID="2" presetClass="entr" presetSubtype="8" fill="hold" nodeType="afterEffect">
                                  <p:stCondLst>
                                    <p:cond delay="0"/>
                                  </p:stCondLst>
                                  <p:childTnLst>
                                    <p:set>
                                      <p:cBhvr>
                                        <p:cTn id="29" dur="1" fill="hold">
                                          <p:stCondLst>
                                            <p:cond delay="0"/>
                                          </p:stCondLst>
                                        </p:cTn>
                                        <p:tgtEl>
                                          <p:spTgt spid="93"/>
                                        </p:tgtEl>
                                        <p:attrNameLst>
                                          <p:attrName>style.visibility</p:attrName>
                                        </p:attrNameLst>
                                      </p:cBhvr>
                                      <p:to>
                                        <p:strVal val="visible"/>
                                      </p:to>
                                    </p:set>
                                    <p:anim calcmode="lin" valueType="num">
                                      <p:cBhvr additive="base">
                                        <p:cTn id="30" dur="500" fill="hold"/>
                                        <p:tgtEl>
                                          <p:spTgt spid="93"/>
                                        </p:tgtEl>
                                        <p:attrNameLst>
                                          <p:attrName>ppt_x</p:attrName>
                                        </p:attrNameLst>
                                      </p:cBhvr>
                                      <p:tavLst>
                                        <p:tav tm="0">
                                          <p:val>
                                            <p:strVal val="0-#ppt_w/2"/>
                                          </p:val>
                                        </p:tav>
                                        <p:tav tm="100000">
                                          <p:val>
                                            <p:strVal val="#ppt_x"/>
                                          </p:val>
                                        </p:tav>
                                      </p:tavLst>
                                    </p:anim>
                                    <p:anim calcmode="lin" valueType="num">
                                      <p:cBhvr additive="base">
                                        <p:cTn id="31" dur="500" fill="hold"/>
                                        <p:tgtEl>
                                          <p:spTgt spid="93"/>
                                        </p:tgtEl>
                                        <p:attrNameLst>
                                          <p:attrName>ppt_y</p:attrName>
                                        </p:attrNameLst>
                                      </p:cBhvr>
                                      <p:tavLst>
                                        <p:tav tm="0">
                                          <p:val>
                                            <p:strVal val="#ppt_y"/>
                                          </p:val>
                                        </p:tav>
                                        <p:tav tm="100000">
                                          <p:val>
                                            <p:strVal val="#ppt_y"/>
                                          </p:val>
                                        </p:tav>
                                      </p:tavLst>
                                    </p:anim>
                                  </p:childTnLst>
                                </p:cTn>
                              </p:par>
                              <p:par>
                                <p:cTn id="32" presetID="2" presetClass="entr" presetSubtype="8"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 calcmode="lin" valueType="num">
                                      <p:cBhvr additive="base">
                                        <p:cTn id="34" dur="500" fill="hold"/>
                                        <p:tgtEl>
                                          <p:spTgt spid="34"/>
                                        </p:tgtEl>
                                        <p:attrNameLst>
                                          <p:attrName>ppt_x</p:attrName>
                                        </p:attrNameLst>
                                      </p:cBhvr>
                                      <p:tavLst>
                                        <p:tav tm="0">
                                          <p:val>
                                            <p:strVal val="0-#ppt_w/2"/>
                                          </p:val>
                                        </p:tav>
                                        <p:tav tm="100000">
                                          <p:val>
                                            <p:strVal val="#ppt_x"/>
                                          </p:val>
                                        </p:tav>
                                      </p:tavLst>
                                    </p:anim>
                                    <p:anim calcmode="lin" valueType="num">
                                      <p:cBhvr additive="base">
                                        <p:cTn id="35" dur="500" fill="hold"/>
                                        <p:tgtEl>
                                          <p:spTgt spid="34"/>
                                        </p:tgtEl>
                                        <p:attrNameLst>
                                          <p:attrName>ppt_y</p:attrName>
                                        </p:attrNameLst>
                                      </p:cBhvr>
                                      <p:tavLst>
                                        <p:tav tm="0">
                                          <p:val>
                                            <p:strVal val="#ppt_y"/>
                                          </p:val>
                                        </p:tav>
                                        <p:tav tm="100000">
                                          <p:val>
                                            <p:strVal val="#ppt_y"/>
                                          </p:val>
                                        </p:tav>
                                      </p:tavLst>
                                    </p:anim>
                                  </p:childTnLst>
                                </p:cTn>
                              </p:par>
                              <p:par>
                                <p:cTn id="36" presetID="2" presetClass="entr" presetSubtype="8" fill="hold" grpId="0" nodeType="withEffect">
                                  <p:stCondLst>
                                    <p:cond delay="0"/>
                                  </p:stCondLst>
                                  <p:childTnLst>
                                    <p:set>
                                      <p:cBhvr>
                                        <p:cTn id="37" dur="1" fill="hold">
                                          <p:stCondLst>
                                            <p:cond delay="0"/>
                                          </p:stCondLst>
                                        </p:cTn>
                                        <p:tgtEl>
                                          <p:spTgt spid="35"/>
                                        </p:tgtEl>
                                        <p:attrNameLst>
                                          <p:attrName>style.visibility</p:attrName>
                                        </p:attrNameLst>
                                      </p:cBhvr>
                                      <p:to>
                                        <p:strVal val="visible"/>
                                      </p:to>
                                    </p:set>
                                    <p:anim calcmode="lin" valueType="num">
                                      <p:cBhvr additive="base">
                                        <p:cTn id="38" dur="500" fill="hold"/>
                                        <p:tgtEl>
                                          <p:spTgt spid="35"/>
                                        </p:tgtEl>
                                        <p:attrNameLst>
                                          <p:attrName>ppt_x</p:attrName>
                                        </p:attrNameLst>
                                      </p:cBhvr>
                                      <p:tavLst>
                                        <p:tav tm="0">
                                          <p:val>
                                            <p:strVal val="0-#ppt_w/2"/>
                                          </p:val>
                                        </p:tav>
                                        <p:tav tm="100000">
                                          <p:val>
                                            <p:strVal val="#ppt_x"/>
                                          </p:val>
                                        </p:tav>
                                      </p:tavLst>
                                    </p:anim>
                                    <p:anim calcmode="lin" valueType="num">
                                      <p:cBhvr additive="base">
                                        <p:cTn id="39" dur="500" fill="hold"/>
                                        <p:tgtEl>
                                          <p:spTgt spid="35"/>
                                        </p:tgtEl>
                                        <p:attrNameLst>
                                          <p:attrName>ppt_y</p:attrName>
                                        </p:attrNameLst>
                                      </p:cBhvr>
                                      <p:tavLst>
                                        <p:tav tm="0">
                                          <p:val>
                                            <p:strVal val="#ppt_y"/>
                                          </p:val>
                                        </p:tav>
                                        <p:tav tm="100000">
                                          <p:val>
                                            <p:strVal val="#ppt_y"/>
                                          </p:val>
                                        </p:tav>
                                      </p:tavLst>
                                    </p:anim>
                                  </p:childTnLst>
                                </p:cTn>
                              </p:par>
                              <p:par>
                                <p:cTn id="40" presetID="10" presetClass="entr" presetSubtype="0" fill="hold" grpId="0" nodeType="withEffect">
                                  <p:stCondLst>
                                    <p:cond delay="0"/>
                                  </p:stCondLst>
                                  <p:childTnLst>
                                    <p:set>
                                      <p:cBhvr>
                                        <p:cTn id="41" dur="1" fill="hold">
                                          <p:stCondLst>
                                            <p:cond delay="0"/>
                                          </p:stCondLst>
                                        </p:cTn>
                                        <p:tgtEl>
                                          <p:spTgt spid="94"/>
                                        </p:tgtEl>
                                        <p:attrNameLst>
                                          <p:attrName>style.visibility</p:attrName>
                                        </p:attrNameLst>
                                      </p:cBhvr>
                                      <p:to>
                                        <p:strVal val="visible"/>
                                      </p:to>
                                    </p:set>
                                    <p:animEffect transition="in" filter="fade">
                                      <p:cBhvr>
                                        <p:cTn id="42" dur="500"/>
                                        <p:tgtEl>
                                          <p:spTgt spid="94"/>
                                        </p:tgtEl>
                                      </p:cBhvr>
                                    </p:animEffect>
                                  </p:childTnLst>
                                </p:cTn>
                              </p:par>
                            </p:childTnLst>
                          </p:cTn>
                        </p:par>
                        <p:par>
                          <p:cTn id="43" fill="hold">
                            <p:stCondLst>
                              <p:cond delay="4000"/>
                            </p:stCondLst>
                            <p:childTnLst>
                              <p:par>
                                <p:cTn id="44" presetID="10" presetClass="entr" presetSubtype="0" fill="hold" grpId="0" nodeType="after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P spid="34" grpId="0" animBg="1"/>
      <p:bldP spid="35" grpId="0"/>
      <p:bldP spid="4" grpId="0" animBg="1"/>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958F3-C5F1-498A-57FA-E8F238E5860A}"/>
            </a:ext>
          </a:extLst>
        </p:cNvPr>
        <p:cNvGrpSpPr/>
        <p:nvPr/>
      </p:nvGrpSpPr>
      <p:grpSpPr>
        <a:xfrm>
          <a:off x="0" y="0"/>
          <a:ext cx="0" cy="0"/>
          <a:chOff x="0" y="0"/>
          <a:chExt cx="0" cy="0"/>
        </a:xfrm>
      </p:grpSpPr>
      <p:sp>
        <p:nvSpPr>
          <p:cNvPr id="13" name="文本框 12">
            <a:extLst>
              <a:ext uri="{FF2B5EF4-FFF2-40B4-BE49-F238E27FC236}">
                <a16:creationId xmlns:a16="http://schemas.microsoft.com/office/drawing/2014/main" id="{F91B3A2B-DD6B-C3E0-FC23-662630155A0D}"/>
              </a:ext>
            </a:extLst>
          </p:cNvPr>
          <p:cNvSpPr txBox="1"/>
          <p:nvPr/>
        </p:nvSpPr>
        <p:spPr>
          <a:xfrm>
            <a:off x="1351493" y="2662314"/>
            <a:ext cx="7490581" cy="1323439"/>
          </a:xfrm>
          <a:prstGeom prst="rect">
            <a:avLst/>
          </a:prstGeom>
          <a:noFill/>
        </p:spPr>
        <p:txBody>
          <a:bodyPr wrap="square" rtlCol="0">
            <a:spAutoFit/>
          </a:bodyPr>
          <a:lstStyle/>
          <a:p>
            <a:r>
              <a:rPr lang="en-US" altLang="zh-CN" sz="8000" b="1" dirty="0">
                <a:solidFill>
                  <a:schemeClr val="bg1">
                    <a:lumMod val="95000"/>
                  </a:schemeClr>
                </a:solidFill>
                <a:latin typeface="Gulim" panose="020B0600000101010101" pitchFamily="34" charset="-127"/>
                <a:ea typeface="Gulim" panose="020B0600000101010101" pitchFamily="34" charset="-127"/>
                <a:cs typeface="Aharoni" panose="02010803020104030203" pitchFamily="2" charset="-79"/>
              </a:rPr>
              <a:t>2 </a:t>
            </a:r>
            <a:r>
              <a:rPr lang="en-US" altLang="zh-CN" sz="8000" b="1" cap="small" dirty="0">
                <a:solidFill>
                  <a:schemeClr val="bg1">
                    <a:lumMod val="95000"/>
                  </a:schemeClr>
                </a:solidFill>
                <a:latin typeface="Gulim" panose="020B0600000101010101" pitchFamily="34" charset="-127"/>
                <a:ea typeface="Gulim" panose="020B0600000101010101" pitchFamily="34" charset="-127"/>
                <a:cs typeface="Aharoni" panose="02010803020104030203" pitchFamily="2" charset="-79"/>
              </a:rPr>
              <a:t>Motivation</a:t>
            </a:r>
            <a:r>
              <a:rPr lang="en-US" altLang="zh-CN" sz="3600" b="1" dirty="0">
                <a:solidFill>
                  <a:schemeClr val="bg1">
                    <a:lumMod val="95000"/>
                  </a:schemeClr>
                </a:solidFill>
                <a:latin typeface="Aharoni" panose="02010803020104030203" pitchFamily="2" charset="-79"/>
                <a:ea typeface="Gulim" panose="020B0600000101010101" pitchFamily="34" charset="-127"/>
                <a:cs typeface="Aharoni" panose="02010803020104030203" pitchFamily="2" charset="-79"/>
              </a:rPr>
              <a:t> </a:t>
            </a:r>
          </a:p>
        </p:txBody>
      </p:sp>
      <p:cxnSp>
        <p:nvCxnSpPr>
          <p:cNvPr id="2" name="直接连接符 1">
            <a:extLst>
              <a:ext uri="{FF2B5EF4-FFF2-40B4-BE49-F238E27FC236}">
                <a16:creationId xmlns:a16="http://schemas.microsoft.com/office/drawing/2014/main" id="{0C2E4D3F-3D72-DDD9-BCEC-3DF4D5AFCE4B}"/>
              </a:ext>
            </a:extLst>
          </p:cNvPr>
          <p:cNvCxnSpPr/>
          <p:nvPr/>
        </p:nvCxnSpPr>
        <p:spPr>
          <a:xfrm flipV="1">
            <a:off x="7371434" y="2485430"/>
            <a:ext cx="616756" cy="1887139"/>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3542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ABC25-38C1-254F-1440-7E3AD43AA916}"/>
            </a:ext>
          </a:extLst>
        </p:cNvPr>
        <p:cNvGrpSpPr/>
        <p:nvPr/>
      </p:nvGrpSpPr>
      <p:grpSpPr>
        <a:xfrm>
          <a:off x="0" y="0"/>
          <a:ext cx="0" cy="0"/>
          <a:chOff x="0" y="0"/>
          <a:chExt cx="0" cy="0"/>
        </a:xfrm>
      </p:grpSpPr>
      <p:cxnSp>
        <p:nvCxnSpPr>
          <p:cNvPr id="93" name="直接连接符 92">
            <a:extLst>
              <a:ext uri="{FF2B5EF4-FFF2-40B4-BE49-F238E27FC236}">
                <a16:creationId xmlns:a16="http://schemas.microsoft.com/office/drawing/2014/main" id="{B40FA304-A6CF-E162-E81B-813E5F732747}"/>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94" name="矩形 93">
            <a:extLst>
              <a:ext uri="{FF2B5EF4-FFF2-40B4-BE49-F238E27FC236}">
                <a16:creationId xmlns:a16="http://schemas.microsoft.com/office/drawing/2014/main" id="{7DFB3673-29CC-7300-BB42-C12D0E0998BF}"/>
              </a:ext>
            </a:extLst>
          </p:cNvPr>
          <p:cNvSpPr/>
          <p:nvPr/>
        </p:nvSpPr>
        <p:spPr>
          <a:xfrm>
            <a:off x="1134718" y="259702"/>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Model Evaluation</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sp>
        <p:nvSpPr>
          <p:cNvPr id="34" name="等腰三角形 33">
            <a:extLst>
              <a:ext uri="{FF2B5EF4-FFF2-40B4-BE49-F238E27FC236}">
                <a16:creationId xmlns:a16="http://schemas.microsoft.com/office/drawing/2014/main" id="{996627DD-D3CB-50AD-DD14-EDA264D4F9AC}"/>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372B9B37-B868-DD08-AA49-698E8EBA88D1}"/>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2</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sp>
        <p:nvSpPr>
          <p:cNvPr id="204" name="矩形 203">
            <a:extLst>
              <a:ext uri="{FF2B5EF4-FFF2-40B4-BE49-F238E27FC236}">
                <a16:creationId xmlns:a16="http://schemas.microsoft.com/office/drawing/2014/main" id="{C95E2B72-11BF-8E6E-A87B-0224F4F58815}"/>
              </a:ext>
            </a:extLst>
          </p:cNvPr>
          <p:cNvSpPr/>
          <p:nvPr/>
        </p:nvSpPr>
        <p:spPr>
          <a:xfrm>
            <a:off x="672250" y="1458695"/>
            <a:ext cx="8519677" cy="523220"/>
          </a:xfrm>
          <a:prstGeom prst="rect">
            <a:avLst/>
          </a:prstGeom>
        </p:spPr>
        <p:txBody>
          <a:bodyPr wrap="square">
            <a:spAutoFit/>
          </a:bodyPr>
          <a:lstStyle/>
          <a:p>
            <a:pPr lvl="0"/>
            <a:r>
              <a:rPr lang="en-US" altLang="zh-CN" sz="2800" b="1" dirty="0">
                <a:solidFill>
                  <a:schemeClr val="bg1"/>
                </a:solidFill>
                <a:ea typeface="Gulim" panose="020B0600000101010101" pitchFamily="34" charset="-127"/>
              </a:rPr>
              <a:t>Prompt based evaluation:</a:t>
            </a:r>
            <a:endParaRPr lang="en-US" altLang="zh-CN" sz="2800" dirty="0">
              <a:solidFill>
                <a:schemeClr val="bg1"/>
              </a:solidFill>
              <a:ea typeface="Gulim" panose="020B0600000101010101" pitchFamily="34" charset="-127"/>
            </a:endParaRPr>
          </a:p>
        </p:txBody>
      </p:sp>
      <p:pic>
        <p:nvPicPr>
          <p:cNvPr id="5" name="图片 4">
            <a:extLst>
              <a:ext uri="{FF2B5EF4-FFF2-40B4-BE49-F238E27FC236}">
                <a16:creationId xmlns:a16="http://schemas.microsoft.com/office/drawing/2014/main" id="{2EAE5BF9-8A79-6BDB-DD98-16B3A73201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607" y="2237061"/>
            <a:ext cx="10791949" cy="4058511"/>
          </a:xfrm>
          <a:prstGeom prst="rect">
            <a:avLst/>
          </a:prstGeom>
        </p:spPr>
      </p:pic>
    </p:spTree>
    <p:extLst>
      <p:ext uri="{BB962C8B-B14F-4D97-AF65-F5344CB8AC3E}">
        <p14:creationId xmlns:p14="http://schemas.microsoft.com/office/powerpoint/2010/main" val="1640934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481D0-E216-CB9D-9B04-9FD2666FD734}"/>
            </a:ext>
          </a:extLst>
        </p:cNvPr>
        <p:cNvGrpSpPr/>
        <p:nvPr/>
      </p:nvGrpSpPr>
      <p:grpSpPr>
        <a:xfrm>
          <a:off x="0" y="0"/>
          <a:ext cx="0" cy="0"/>
          <a:chOff x="0" y="0"/>
          <a:chExt cx="0" cy="0"/>
        </a:xfrm>
      </p:grpSpPr>
      <p:cxnSp>
        <p:nvCxnSpPr>
          <p:cNvPr id="93" name="直接连接符 92">
            <a:extLst>
              <a:ext uri="{FF2B5EF4-FFF2-40B4-BE49-F238E27FC236}">
                <a16:creationId xmlns:a16="http://schemas.microsoft.com/office/drawing/2014/main" id="{5D3C5461-DB9F-5A73-F341-7E1389C40180}"/>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94" name="矩形 93">
            <a:extLst>
              <a:ext uri="{FF2B5EF4-FFF2-40B4-BE49-F238E27FC236}">
                <a16:creationId xmlns:a16="http://schemas.microsoft.com/office/drawing/2014/main" id="{2970D59B-2F91-1316-00FE-A66CA7E0E825}"/>
              </a:ext>
            </a:extLst>
          </p:cNvPr>
          <p:cNvSpPr/>
          <p:nvPr/>
        </p:nvSpPr>
        <p:spPr>
          <a:xfrm>
            <a:off x="1134718" y="259702"/>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Model Evaluation</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sp>
        <p:nvSpPr>
          <p:cNvPr id="34" name="等腰三角形 33">
            <a:extLst>
              <a:ext uri="{FF2B5EF4-FFF2-40B4-BE49-F238E27FC236}">
                <a16:creationId xmlns:a16="http://schemas.microsoft.com/office/drawing/2014/main" id="{6F0FE342-805C-3325-1C76-4734F3574058}"/>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CF845BA6-88C9-D362-33A6-F059D0EAB69E}"/>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2</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sp>
        <p:nvSpPr>
          <p:cNvPr id="6" name="矩形 5">
            <a:extLst>
              <a:ext uri="{FF2B5EF4-FFF2-40B4-BE49-F238E27FC236}">
                <a16:creationId xmlns:a16="http://schemas.microsoft.com/office/drawing/2014/main" id="{198A0A13-94FB-774C-FA4C-715F6B868790}"/>
              </a:ext>
            </a:extLst>
          </p:cNvPr>
          <p:cNvSpPr/>
          <p:nvPr/>
        </p:nvSpPr>
        <p:spPr>
          <a:xfrm>
            <a:off x="6326759" y="305868"/>
            <a:ext cx="4206094" cy="954107"/>
          </a:xfrm>
          <a:prstGeom prst="rect">
            <a:avLst/>
          </a:prstGeom>
        </p:spPr>
        <p:txBody>
          <a:bodyPr wrap="square">
            <a:spAutoFit/>
          </a:bodyPr>
          <a:lstStyle/>
          <a:p>
            <a:pPr lvl="0"/>
            <a:r>
              <a:rPr lang="en-US" altLang="zh-CN" sz="2800" b="1" dirty="0">
                <a:solidFill>
                  <a:schemeClr val="bg1"/>
                </a:solidFill>
                <a:ea typeface="Gulim" panose="020B0600000101010101" pitchFamily="34" charset="-127"/>
              </a:rPr>
              <a:t>Decoder-only</a:t>
            </a:r>
            <a:r>
              <a:rPr lang="en-US" altLang="zh-CN" sz="2800" dirty="0">
                <a:solidFill>
                  <a:schemeClr val="bg1"/>
                </a:solidFill>
                <a:ea typeface="Gulim" panose="020B0600000101010101" pitchFamily="34" charset="-127"/>
              </a:rPr>
              <a:t> architecture</a:t>
            </a:r>
          </a:p>
          <a:p>
            <a:pPr marL="457200" lvl="0" indent="-457200">
              <a:buFont typeface="Arial" panose="020B0604020202020204" pitchFamily="34" charset="0"/>
              <a:buChar char="•"/>
            </a:pPr>
            <a:endParaRPr lang="en-US" altLang="zh-CN" sz="2800" dirty="0">
              <a:solidFill>
                <a:schemeClr val="bg1"/>
              </a:solidFill>
              <a:ea typeface="Gulim" panose="020B0600000101010101" pitchFamily="34" charset="-127"/>
            </a:endParaRPr>
          </a:p>
        </p:txBody>
      </p:sp>
      <p:sp>
        <p:nvSpPr>
          <p:cNvPr id="2" name="矩形: 圆角 1">
            <a:extLst>
              <a:ext uri="{FF2B5EF4-FFF2-40B4-BE49-F238E27FC236}">
                <a16:creationId xmlns:a16="http://schemas.microsoft.com/office/drawing/2014/main" id="{3DDB64C0-F60C-D132-9DB8-74C7D16DB0CB}"/>
              </a:ext>
            </a:extLst>
          </p:cNvPr>
          <p:cNvSpPr/>
          <p:nvPr/>
        </p:nvSpPr>
        <p:spPr>
          <a:xfrm>
            <a:off x="681490" y="2173856"/>
            <a:ext cx="1155939" cy="431321"/>
          </a:xfrm>
          <a:prstGeom prst="roundRect">
            <a:avLst>
              <a:gd name="adj" fmla="val 32609"/>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accent1"/>
                </a:solidFill>
              </a:rPr>
              <a:t>United</a:t>
            </a:r>
            <a:endParaRPr lang="zh-CN" altLang="en-US" sz="2400" dirty="0">
              <a:solidFill>
                <a:schemeClr val="accent1"/>
              </a:solidFill>
            </a:endParaRPr>
          </a:p>
        </p:txBody>
      </p:sp>
      <p:sp>
        <p:nvSpPr>
          <p:cNvPr id="3" name="矩形: 圆角 2">
            <a:extLst>
              <a:ext uri="{FF2B5EF4-FFF2-40B4-BE49-F238E27FC236}">
                <a16:creationId xmlns:a16="http://schemas.microsoft.com/office/drawing/2014/main" id="{A7D6B8BA-DFE1-3A10-A455-4D9E696FEEC8}"/>
              </a:ext>
            </a:extLst>
          </p:cNvPr>
          <p:cNvSpPr/>
          <p:nvPr/>
        </p:nvSpPr>
        <p:spPr>
          <a:xfrm>
            <a:off x="397498" y="3012055"/>
            <a:ext cx="1448557" cy="431321"/>
          </a:xfrm>
          <a:prstGeom prst="roundRect">
            <a:avLst>
              <a:gd name="adj" fmla="val 32609"/>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accent1"/>
                </a:solidFill>
              </a:rPr>
              <a:t>Kingdom</a:t>
            </a:r>
            <a:endParaRPr lang="zh-CN" altLang="en-US" sz="2400" dirty="0">
              <a:solidFill>
                <a:schemeClr val="accent1"/>
              </a:solidFill>
            </a:endParaRPr>
          </a:p>
        </p:txBody>
      </p:sp>
      <p:cxnSp>
        <p:nvCxnSpPr>
          <p:cNvPr id="8" name="直接箭头连接符 7">
            <a:extLst>
              <a:ext uri="{FF2B5EF4-FFF2-40B4-BE49-F238E27FC236}">
                <a16:creationId xmlns:a16="http://schemas.microsoft.com/office/drawing/2014/main" id="{5CC52D63-C703-E14B-52D1-077A64E571CB}"/>
              </a:ext>
            </a:extLst>
          </p:cNvPr>
          <p:cNvCxnSpPr>
            <a:cxnSpLocks/>
            <a:stCxn id="2" idx="3"/>
          </p:cNvCxnSpPr>
          <p:nvPr/>
        </p:nvCxnSpPr>
        <p:spPr>
          <a:xfrm flipV="1">
            <a:off x="1837429" y="2389516"/>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42D5804E-1FD9-A261-0339-D5F64D6A9BA3}"/>
              </a:ext>
            </a:extLst>
          </p:cNvPr>
          <p:cNvCxnSpPr/>
          <p:nvPr/>
        </p:nvCxnSpPr>
        <p:spPr>
          <a:xfrm flipV="1">
            <a:off x="1846054" y="3227715"/>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梯形 10">
            <a:extLst>
              <a:ext uri="{FF2B5EF4-FFF2-40B4-BE49-F238E27FC236}">
                <a16:creationId xmlns:a16="http://schemas.microsoft.com/office/drawing/2014/main" id="{DC704ACD-ED58-C886-D2AC-001D8DC776C9}"/>
              </a:ext>
            </a:extLst>
          </p:cNvPr>
          <p:cNvSpPr/>
          <p:nvPr/>
        </p:nvSpPr>
        <p:spPr>
          <a:xfrm rot="5400000">
            <a:off x="2255806" y="2173852"/>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梯形 14">
            <a:extLst>
              <a:ext uri="{FF2B5EF4-FFF2-40B4-BE49-F238E27FC236}">
                <a16:creationId xmlns:a16="http://schemas.microsoft.com/office/drawing/2014/main" id="{DCEBFDD0-92FB-81F1-3A8E-D12DC36AEA9E}"/>
              </a:ext>
            </a:extLst>
          </p:cNvPr>
          <p:cNvSpPr/>
          <p:nvPr/>
        </p:nvSpPr>
        <p:spPr>
          <a:xfrm rot="5400000">
            <a:off x="2255808" y="3012054"/>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箭头连接符 15">
            <a:extLst>
              <a:ext uri="{FF2B5EF4-FFF2-40B4-BE49-F238E27FC236}">
                <a16:creationId xmlns:a16="http://schemas.microsoft.com/office/drawing/2014/main" id="{B3BFDDDF-E38E-A181-8F2D-2F3836052BA4}"/>
              </a:ext>
            </a:extLst>
          </p:cNvPr>
          <p:cNvCxnSpPr/>
          <p:nvPr/>
        </p:nvCxnSpPr>
        <p:spPr>
          <a:xfrm flipV="1">
            <a:off x="2794960" y="2389515"/>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16D5E3E5-E4D8-15AF-66B5-96A7392519CE}"/>
              </a:ext>
            </a:extLst>
          </p:cNvPr>
          <p:cNvCxnSpPr/>
          <p:nvPr/>
        </p:nvCxnSpPr>
        <p:spPr>
          <a:xfrm flipV="1">
            <a:off x="2794960" y="3227713"/>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E4B73173-75AD-8AC5-0D94-5350172DC357}"/>
              </a:ext>
            </a:extLst>
          </p:cNvPr>
          <p:cNvSpPr/>
          <p:nvPr/>
        </p:nvSpPr>
        <p:spPr>
          <a:xfrm>
            <a:off x="3321172" y="2126409"/>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1EC9141F-DC50-6B3C-8AAA-C9F399873765}"/>
              </a:ext>
            </a:extLst>
          </p:cNvPr>
          <p:cNvSpPr/>
          <p:nvPr/>
        </p:nvSpPr>
        <p:spPr>
          <a:xfrm>
            <a:off x="3321172" y="2958857"/>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4A0EB44F-F512-8473-CFD0-C73E5DFD27A3}"/>
              </a:ext>
            </a:extLst>
          </p:cNvPr>
          <p:cNvSpPr/>
          <p:nvPr/>
        </p:nvSpPr>
        <p:spPr>
          <a:xfrm>
            <a:off x="4698523" y="2126408"/>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A80A8E76-587D-9AC2-E73A-4EF4A6B613DB}"/>
              </a:ext>
            </a:extLst>
          </p:cNvPr>
          <p:cNvSpPr/>
          <p:nvPr/>
        </p:nvSpPr>
        <p:spPr>
          <a:xfrm>
            <a:off x="4698523" y="2958857"/>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箭头连接符 25">
            <a:extLst>
              <a:ext uri="{FF2B5EF4-FFF2-40B4-BE49-F238E27FC236}">
                <a16:creationId xmlns:a16="http://schemas.microsoft.com/office/drawing/2014/main" id="{5B22851F-6EE7-E6F2-6DC4-2D0FC98AEEA5}"/>
              </a:ext>
            </a:extLst>
          </p:cNvPr>
          <p:cNvCxnSpPr>
            <a:cxnSpLocks/>
            <a:endCxn id="20" idx="2"/>
          </p:cNvCxnSpPr>
          <p:nvPr/>
        </p:nvCxnSpPr>
        <p:spPr>
          <a:xfrm>
            <a:off x="3847382" y="2389513"/>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DFFAD3D5-C25C-6DC3-B8F3-5743BE59CD75}"/>
              </a:ext>
            </a:extLst>
          </p:cNvPr>
          <p:cNvCxnSpPr>
            <a:cxnSpLocks/>
          </p:cNvCxnSpPr>
          <p:nvPr/>
        </p:nvCxnSpPr>
        <p:spPr>
          <a:xfrm>
            <a:off x="3847381" y="3221962"/>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8" name="梯形 37">
            <a:extLst>
              <a:ext uri="{FF2B5EF4-FFF2-40B4-BE49-F238E27FC236}">
                <a16:creationId xmlns:a16="http://schemas.microsoft.com/office/drawing/2014/main" id="{1A93DA40-21A7-9988-14AC-FF3E1CDB1D61}"/>
              </a:ext>
            </a:extLst>
          </p:cNvPr>
          <p:cNvSpPr/>
          <p:nvPr/>
        </p:nvSpPr>
        <p:spPr>
          <a:xfrm rot="5400000">
            <a:off x="2255808" y="3844498"/>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梯形 38">
            <a:extLst>
              <a:ext uri="{FF2B5EF4-FFF2-40B4-BE49-F238E27FC236}">
                <a16:creationId xmlns:a16="http://schemas.microsoft.com/office/drawing/2014/main" id="{3BB81068-6FC4-16AF-32D4-F5F0084E19BB}"/>
              </a:ext>
            </a:extLst>
          </p:cNvPr>
          <p:cNvSpPr/>
          <p:nvPr/>
        </p:nvSpPr>
        <p:spPr>
          <a:xfrm rot="5400000">
            <a:off x="2255807" y="4682697"/>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箭头连接符 39">
            <a:extLst>
              <a:ext uri="{FF2B5EF4-FFF2-40B4-BE49-F238E27FC236}">
                <a16:creationId xmlns:a16="http://schemas.microsoft.com/office/drawing/2014/main" id="{9F89AA3E-BEA2-8D60-7D03-7235DED7D9D5}"/>
              </a:ext>
            </a:extLst>
          </p:cNvPr>
          <p:cNvCxnSpPr/>
          <p:nvPr/>
        </p:nvCxnSpPr>
        <p:spPr>
          <a:xfrm flipV="1">
            <a:off x="2794959" y="4060158"/>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17404A94-005A-5513-3183-973581BA9E6B}"/>
              </a:ext>
            </a:extLst>
          </p:cNvPr>
          <p:cNvCxnSpPr/>
          <p:nvPr/>
        </p:nvCxnSpPr>
        <p:spPr>
          <a:xfrm flipV="1">
            <a:off x="2794959" y="4898356"/>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2" name="椭圆 41">
            <a:extLst>
              <a:ext uri="{FF2B5EF4-FFF2-40B4-BE49-F238E27FC236}">
                <a16:creationId xmlns:a16="http://schemas.microsoft.com/office/drawing/2014/main" id="{6018CD94-BDA4-2459-CB85-4033E04E0CB7}"/>
              </a:ext>
            </a:extLst>
          </p:cNvPr>
          <p:cNvSpPr/>
          <p:nvPr/>
        </p:nvSpPr>
        <p:spPr>
          <a:xfrm>
            <a:off x="3321171" y="3797052"/>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D97D23A6-7C93-63EE-3BEF-1C39965605B0}"/>
              </a:ext>
            </a:extLst>
          </p:cNvPr>
          <p:cNvSpPr/>
          <p:nvPr/>
        </p:nvSpPr>
        <p:spPr>
          <a:xfrm>
            <a:off x="3321171" y="4629500"/>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B3E285A2-4245-5F3D-F898-3919D3455ADE}"/>
              </a:ext>
            </a:extLst>
          </p:cNvPr>
          <p:cNvSpPr/>
          <p:nvPr/>
        </p:nvSpPr>
        <p:spPr>
          <a:xfrm>
            <a:off x="4698522" y="3797051"/>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447C18DC-9906-E436-A249-1DD1BE1C1AA4}"/>
              </a:ext>
            </a:extLst>
          </p:cNvPr>
          <p:cNvSpPr/>
          <p:nvPr/>
        </p:nvSpPr>
        <p:spPr>
          <a:xfrm>
            <a:off x="4698522" y="4629500"/>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6" name="直接箭头连接符 45">
            <a:extLst>
              <a:ext uri="{FF2B5EF4-FFF2-40B4-BE49-F238E27FC236}">
                <a16:creationId xmlns:a16="http://schemas.microsoft.com/office/drawing/2014/main" id="{E9C736FD-F326-4FD8-D0BD-FEBFBAFAC28C}"/>
              </a:ext>
            </a:extLst>
          </p:cNvPr>
          <p:cNvCxnSpPr>
            <a:cxnSpLocks/>
            <a:endCxn id="44" idx="2"/>
          </p:cNvCxnSpPr>
          <p:nvPr/>
        </p:nvCxnSpPr>
        <p:spPr>
          <a:xfrm>
            <a:off x="3847381" y="4060156"/>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F354FAA2-0C48-67CF-B474-21CC9419F013}"/>
              </a:ext>
            </a:extLst>
          </p:cNvPr>
          <p:cNvCxnSpPr>
            <a:cxnSpLocks/>
          </p:cNvCxnSpPr>
          <p:nvPr/>
        </p:nvCxnSpPr>
        <p:spPr>
          <a:xfrm>
            <a:off x="3847380" y="4892605"/>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3" name="连接符: 曲线 52">
            <a:extLst>
              <a:ext uri="{FF2B5EF4-FFF2-40B4-BE49-F238E27FC236}">
                <a16:creationId xmlns:a16="http://schemas.microsoft.com/office/drawing/2014/main" id="{90EAE85C-E946-B7DF-9B65-6D213F68B714}"/>
              </a:ext>
            </a:extLst>
          </p:cNvPr>
          <p:cNvCxnSpPr>
            <a:cxnSpLocks/>
            <a:stCxn id="18" idx="6"/>
            <a:endCxn id="21" idx="2"/>
          </p:cNvCxnSpPr>
          <p:nvPr/>
        </p:nvCxnSpPr>
        <p:spPr>
          <a:xfrm>
            <a:off x="3847383" y="2389515"/>
            <a:ext cx="851140" cy="832448"/>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57" name="连接符: 曲线 56">
            <a:extLst>
              <a:ext uri="{FF2B5EF4-FFF2-40B4-BE49-F238E27FC236}">
                <a16:creationId xmlns:a16="http://schemas.microsoft.com/office/drawing/2014/main" id="{10A19C54-EDBE-5869-25A4-1F8AD95F8AFD}"/>
              </a:ext>
            </a:extLst>
          </p:cNvPr>
          <p:cNvCxnSpPr>
            <a:cxnSpLocks/>
            <a:stCxn id="19" idx="6"/>
            <a:endCxn id="44" idx="2"/>
          </p:cNvCxnSpPr>
          <p:nvPr/>
        </p:nvCxnSpPr>
        <p:spPr>
          <a:xfrm>
            <a:off x="3847383" y="3221963"/>
            <a:ext cx="851139" cy="838194"/>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60" name="连接符: 曲线 59">
            <a:extLst>
              <a:ext uri="{FF2B5EF4-FFF2-40B4-BE49-F238E27FC236}">
                <a16:creationId xmlns:a16="http://schemas.microsoft.com/office/drawing/2014/main" id="{22489C41-FF02-D778-AC0A-66F2185843F5}"/>
              </a:ext>
            </a:extLst>
          </p:cNvPr>
          <p:cNvCxnSpPr>
            <a:cxnSpLocks/>
          </p:cNvCxnSpPr>
          <p:nvPr/>
        </p:nvCxnSpPr>
        <p:spPr>
          <a:xfrm>
            <a:off x="3847382" y="4054406"/>
            <a:ext cx="851139" cy="838194"/>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5753776D-2444-8E3B-A899-F08D13E30CF7}"/>
              </a:ext>
            </a:extLst>
          </p:cNvPr>
          <p:cNvCxnSpPr>
            <a:cxnSpLocks/>
          </p:cNvCxnSpPr>
          <p:nvPr/>
        </p:nvCxnSpPr>
        <p:spPr>
          <a:xfrm>
            <a:off x="4272950" y="2760445"/>
            <a:ext cx="0" cy="83244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F7AB2C59-D497-04CD-C969-EDBE9DAD3B8D}"/>
              </a:ext>
            </a:extLst>
          </p:cNvPr>
          <p:cNvCxnSpPr>
            <a:cxnSpLocks/>
          </p:cNvCxnSpPr>
          <p:nvPr/>
        </p:nvCxnSpPr>
        <p:spPr>
          <a:xfrm>
            <a:off x="4272950" y="3592894"/>
            <a:ext cx="0" cy="83244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3" name="椭圆 72">
            <a:extLst>
              <a:ext uri="{FF2B5EF4-FFF2-40B4-BE49-F238E27FC236}">
                <a16:creationId xmlns:a16="http://schemas.microsoft.com/office/drawing/2014/main" id="{98E3A22F-167D-DD8D-EC64-7E4B0BA46CBE}"/>
              </a:ext>
            </a:extLst>
          </p:cNvPr>
          <p:cNvSpPr/>
          <p:nvPr/>
        </p:nvSpPr>
        <p:spPr>
          <a:xfrm>
            <a:off x="8082933" y="2109151"/>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E0DDE1FE-DE68-0289-6FA9-FFAFDAEDAAA0}"/>
              </a:ext>
            </a:extLst>
          </p:cNvPr>
          <p:cNvSpPr/>
          <p:nvPr/>
        </p:nvSpPr>
        <p:spPr>
          <a:xfrm>
            <a:off x="8082933" y="2941600"/>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088EF45B-44DA-0AE3-FD31-2D4FB479F8F7}"/>
              </a:ext>
            </a:extLst>
          </p:cNvPr>
          <p:cNvSpPr/>
          <p:nvPr/>
        </p:nvSpPr>
        <p:spPr>
          <a:xfrm>
            <a:off x="8082932" y="3779794"/>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D68853AA-354F-7AC5-6BF0-3CD36F0AF94D}"/>
              </a:ext>
            </a:extLst>
          </p:cNvPr>
          <p:cNvSpPr/>
          <p:nvPr/>
        </p:nvSpPr>
        <p:spPr>
          <a:xfrm>
            <a:off x="8082932" y="4612243"/>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8" name="直接箭头连接符 87">
            <a:extLst>
              <a:ext uri="{FF2B5EF4-FFF2-40B4-BE49-F238E27FC236}">
                <a16:creationId xmlns:a16="http://schemas.microsoft.com/office/drawing/2014/main" id="{4B68F4FA-918C-1344-4C61-C13891A3FBC0}"/>
              </a:ext>
            </a:extLst>
          </p:cNvPr>
          <p:cNvCxnSpPr>
            <a:cxnSpLocks/>
            <a:stCxn id="20" idx="6"/>
          </p:cNvCxnSpPr>
          <p:nvPr/>
        </p:nvCxnSpPr>
        <p:spPr>
          <a:xfrm flipV="1">
            <a:off x="5224734" y="2372256"/>
            <a:ext cx="854028" cy="172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49A157B9-56B5-2564-2A83-6B5FC3AB6D44}"/>
              </a:ext>
            </a:extLst>
          </p:cNvPr>
          <p:cNvCxnSpPr>
            <a:cxnSpLocks/>
          </p:cNvCxnSpPr>
          <p:nvPr/>
        </p:nvCxnSpPr>
        <p:spPr>
          <a:xfrm>
            <a:off x="5227620" y="3204704"/>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5290E242-6301-0E81-6155-A80055F20E7E}"/>
              </a:ext>
            </a:extLst>
          </p:cNvPr>
          <p:cNvCxnSpPr>
            <a:cxnSpLocks/>
            <a:stCxn id="44" idx="6"/>
          </p:cNvCxnSpPr>
          <p:nvPr/>
        </p:nvCxnSpPr>
        <p:spPr>
          <a:xfrm flipV="1">
            <a:off x="5224733" y="4042899"/>
            <a:ext cx="854028" cy="172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a:extLst>
              <a:ext uri="{FF2B5EF4-FFF2-40B4-BE49-F238E27FC236}">
                <a16:creationId xmlns:a16="http://schemas.microsoft.com/office/drawing/2014/main" id="{9B4D1F3E-9FE0-F493-7A42-4D85056140C5}"/>
              </a:ext>
            </a:extLst>
          </p:cNvPr>
          <p:cNvCxnSpPr>
            <a:cxnSpLocks/>
            <a:stCxn id="45" idx="6"/>
          </p:cNvCxnSpPr>
          <p:nvPr/>
        </p:nvCxnSpPr>
        <p:spPr>
          <a:xfrm flipV="1">
            <a:off x="5224733" y="4881092"/>
            <a:ext cx="854027" cy="115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6" name="连接符: 曲线 95">
            <a:extLst>
              <a:ext uri="{FF2B5EF4-FFF2-40B4-BE49-F238E27FC236}">
                <a16:creationId xmlns:a16="http://schemas.microsoft.com/office/drawing/2014/main" id="{3E52BA02-AD55-7C8A-C529-FE0D1612A74D}"/>
              </a:ext>
            </a:extLst>
          </p:cNvPr>
          <p:cNvCxnSpPr>
            <a:cxnSpLocks/>
            <a:stCxn id="20" idx="6"/>
          </p:cNvCxnSpPr>
          <p:nvPr/>
        </p:nvCxnSpPr>
        <p:spPr>
          <a:xfrm>
            <a:off x="5224734" y="2389514"/>
            <a:ext cx="854028" cy="815191"/>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97" name="连接符: 曲线 96">
            <a:extLst>
              <a:ext uri="{FF2B5EF4-FFF2-40B4-BE49-F238E27FC236}">
                <a16:creationId xmlns:a16="http://schemas.microsoft.com/office/drawing/2014/main" id="{D0118569-03B6-01CB-78CA-0AAECF3992F2}"/>
              </a:ext>
            </a:extLst>
          </p:cNvPr>
          <p:cNvCxnSpPr>
            <a:cxnSpLocks/>
            <a:stCxn id="21" idx="6"/>
          </p:cNvCxnSpPr>
          <p:nvPr/>
        </p:nvCxnSpPr>
        <p:spPr>
          <a:xfrm>
            <a:off x="5224734" y="3221963"/>
            <a:ext cx="854027" cy="820936"/>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98" name="连接符: 曲线 97">
            <a:extLst>
              <a:ext uri="{FF2B5EF4-FFF2-40B4-BE49-F238E27FC236}">
                <a16:creationId xmlns:a16="http://schemas.microsoft.com/office/drawing/2014/main" id="{72D778D8-B3D9-220B-3EBE-ED531F2AA0A8}"/>
              </a:ext>
            </a:extLst>
          </p:cNvPr>
          <p:cNvCxnSpPr>
            <a:cxnSpLocks/>
            <a:stCxn id="44" idx="6"/>
          </p:cNvCxnSpPr>
          <p:nvPr/>
        </p:nvCxnSpPr>
        <p:spPr>
          <a:xfrm>
            <a:off x="5224733" y="4060157"/>
            <a:ext cx="854027" cy="815185"/>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AEFA2DC3-3ECA-49D8-B24C-C432236C26C7}"/>
              </a:ext>
            </a:extLst>
          </p:cNvPr>
          <p:cNvCxnSpPr>
            <a:cxnSpLocks/>
          </p:cNvCxnSpPr>
          <p:nvPr/>
        </p:nvCxnSpPr>
        <p:spPr>
          <a:xfrm>
            <a:off x="5653189" y="2743187"/>
            <a:ext cx="0" cy="83244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BF52D8C0-8D2A-9CF1-2A1A-FA33D62EF8F6}"/>
              </a:ext>
            </a:extLst>
          </p:cNvPr>
          <p:cNvCxnSpPr>
            <a:cxnSpLocks/>
          </p:cNvCxnSpPr>
          <p:nvPr/>
        </p:nvCxnSpPr>
        <p:spPr>
          <a:xfrm>
            <a:off x="5653189" y="3575636"/>
            <a:ext cx="0" cy="83244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3" name="椭圆 102">
            <a:extLst>
              <a:ext uri="{FF2B5EF4-FFF2-40B4-BE49-F238E27FC236}">
                <a16:creationId xmlns:a16="http://schemas.microsoft.com/office/drawing/2014/main" id="{8C40A5AB-BBD4-9B6D-CE4A-0AD3300DF553}"/>
              </a:ext>
            </a:extLst>
          </p:cNvPr>
          <p:cNvSpPr/>
          <p:nvPr/>
        </p:nvSpPr>
        <p:spPr>
          <a:xfrm>
            <a:off x="6242669" y="2273052"/>
            <a:ext cx="198407" cy="198407"/>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E160D7D7-9738-9652-7B18-28FD3AA21472}"/>
              </a:ext>
            </a:extLst>
          </p:cNvPr>
          <p:cNvSpPr/>
          <p:nvPr/>
        </p:nvSpPr>
        <p:spPr>
          <a:xfrm>
            <a:off x="6505765" y="2273051"/>
            <a:ext cx="198407" cy="198407"/>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a:extLst>
              <a:ext uri="{FF2B5EF4-FFF2-40B4-BE49-F238E27FC236}">
                <a16:creationId xmlns:a16="http://schemas.microsoft.com/office/drawing/2014/main" id="{4A9C99D9-FC71-79C5-6FCF-AB1479995D8A}"/>
              </a:ext>
            </a:extLst>
          </p:cNvPr>
          <p:cNvSpPr/>
          <p:nvPr/>
        </p:nvSpPr>
        <p:spPr>
          <a:xfrm>
            <a:off x="6768861" y="2273050"/>
            <a:ext cx="198407" cy="198407"/>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a:extLst>
              <a:ext uri="{FF2B5EF4-FFF2-40B4-BE49-F238E27FC236}">
                <a16:creationId xmlns:a16="http://schemas.microsoft.com/office/drawing/2014/main" id="{42C58C5B-5612-829C-979B-CB946EEC3AC5}"/>
              </a:ext>
            </a:extLst>
          </p:cNvPr>
          <p:cNvSpPr/>
          <p:nvPr/>
        </p:nvSpPr>
        <p:spPr>
          <a:xfrm>
            <a:off x="6242669" y="3105502"/>
            <a:ext cx="198407" cy="198407"/>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a:extLst>
              <a:ext uri="{FF2B5EF4-FFF2-40B4-BE49-F238E27FC236}">
                <a16:creationId xmlns:a16="http://schemas.microsoft.com/office/drawing/2014/main" id="{C28D0880-AFA6-4419-87EC-8D4D4ADCD83D}"/>
              </a:ext>
            </a:extLst>
          </p:cNvPr>
          <p:cNvSpPr/>
          <p:nvPr/>
        </p:nvSpPr>
        <p:spPr>
          <a:xfrm>
            <a:off x="6505765" y="3105501"/>
            <a:ext cx="198407" cy="198407"/>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a:extLst>
              <a:ext uri="{FF2B5EF4-FFF2-40B4-BE49-F238E27FC236}">
                <a16:creationId xmlns:a16="http://schemas.microsoft.com/office/drawing/2014/main" id="{87989B2A-169F-A430-89A6-0EA8C36107F7}"/>
              </a:ext>
            </a:extLst>
          </p:cNvPr>
          <p:cNvSpPr/>
          <p:nvPr/>
        </p:nvSpPr>
        <p:spPr>
          <a:xfrm>
            <a:off x="6768861" y="3105500"/>
            <a:ext cx="198407" cy="198407"/>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a:extLst>
              <a:ext uri="{FF2B5EF4-FFF2-40B4-BE49-F238E27FC236}">
                <a16:creationId xmlns:a16="http://schemas.microsoft.com/office/drawing/2014/main" id="{5B32F7C8-FA27-F209-8BDB-EEF6BD23334B}"/>
              </a:ext>
            </a:extLst>
          </p:cNvPr>
          <p:cNvSpPr/>
          <p:nvPr/>
        </p:nvSpPr>
        <p:spPr>
          <a:xfrm>
            <a:off x="6242669" y="3937946"/>
            <a:ext cx="198407" cy="198407"/>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a:extLst>
              <a:ext uri="{FF2B5EF4-FFF2-40B4-BE49-F238E27FC236}">
                <a16:creationId xmlns:a16="http://schemas.microsoft.com/office/drawing/2014/main" id="{8B07C1DB-1FB3-64EF-B029-C753D68DEB8A}"/>
              </a:ext>
            </a:extLst>
          </p:cNvPr>
          <p:cNvSpPr/>
          <p:nvPr/>
        </p:nvSpPr>
        <p:spPr>
          <a:xfrm>
            <a:off x="6505765" y="3937945"/>
            <a:ext cx="198407" cy="198407"/>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a:extLst>
              <a:ext uri="{FF2B5EF4-FFF2-40B4-BE49-F238E27FC236}">
                <a16:creationId xmlns:a16="http://schemas.microsoft.com/office/drawing/2014/main" id="{276D6FF5-3951-9069-CCD3-55CD2CB39131}"/>
              </a:ext>
            </a:extLst>
          </p:cNvPr>
          <p:cNvSpPr/>
          <p:nvPr/>
        </p:nvSpPr>
        <p:spPr>
          <a:xfrm>
            <a:off x="6768861" y="3937944"/>
            <a:ext cx="198407" cy="198407"/>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a:extLst>
              <a:ext uri="{FF2B5EF4-FFF2-40B4-BE49-F238E27FC236}">
                <a16:creationId xmlns:a16="http://schemas.microsoft.com/office/drawing/2014/main" id="{2DE689F7-FE1F-1493-3AB9-795D38C9F550}"/>
              </a:ext>
            </a:extLst>
          </p:cNvPr>
          <p:cNvSpPr/>
          <p:nvPr/>
        </p:nvSpPr>
        <p:spPr>
          <a:xfrm>
            <a:off x="6242669" y="4770390"/>
            <a:ext cx="198407" cy="198407"/>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a:extLst>
              <a:ext uri="{FF2B5EF4-FFF2-40B4-BE49-F238E27FC236}">
                <a16:creationId xmlns:a16="http://schemas.microsoft.com/office/drawing/2014/main" id="{A72D3130-6B1B-95BF-5155-1CD27C0B9B6C}"/>
              </a:ext>
            </a:extLst>
          </p:cNvPr>
          <p:cNvSpPr/>
          <p:nvPr/>
        </p:nvSpPr>
        <p:spPr>
          <a:xfrm>
            <a:off x="6505765" y="4770389"/>
            <a:ext cx="198407" cy="198407"/>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a:extLst>
              <a:ext uri="{FF2B5EF4-FFF2-40B4-BE49-F238E27FC236}">
                <a16:creationId xmlns:a16="http://schemas.microsoft.com/office/drawing/2014/main" id="{F0282EB9-1D0C-E3BA-6B7F-90BB5BB42A3A}"/>
              </a:ext>
            </a:extLst>
          </p:cNvPr>
          <p:cNvSpPr/>
          <p:nvPr/>
        </p:nvSpPr>
        <p:spPr>
          <a:xfrm>
            <a:off x="6768861" y="4770388"/>
            <a:ext cx="198407" cy="198407"/>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5" name="直接箭头连接符 114">
            <a:extLst>
              <a:ext uri="{FF2B5EF4-FFF2-40B4-BE49-F238E27FC236}">
                <a16:creationId xmlns:a16="http://schemas.microsoft.com/office/drawing/2014/main" id="{1E85DB1B-D075-59FD-7C78-52AF830E740B}"/>
              </a:ext>
            </a:extLst>
          </p:cNvPr>
          <p:cNvCxnSpPr>
            <a:cxnSpLocks/>
            <a:endCxn id="73" idx="2"/>
          </p:cNvCxnSpPr>
          <p:nvPr/>
        </p:nvCxnSpPr>
        <p:spPr>
          <a:xfrm>
            <a:off x="7231797" y="2372255"/>
            <a:ext cx="851136" cy="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132CD8BE-C276-33CB-B010-2A20BC952D91}"/>
              </a:ext>
            </a:extLst>
          </p:cNvPr>
          <p:cNvCxnSpPr>
            <a:cxnSpLocks/>
          </p:cNvCxnSpPr>
          <p:nvPr/>
        </p:nvCxnSpPr>
        <p:spPr>
          <a:xfrm>
            <a:off x="7231796" y="3204704"/>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id="{38DF2ABA-134C-6012-88CD-679D4545D5B6}"/>
              </a:ext>
            </a:extLst>
          </p:cNvPr>
          <p:cNvCxnSpPr>
            <a:cxnSpLocks/>
          </p:cNvCxnSpPr>
          <p:nvPr/>
        </p:nvCxnSpPr>
        <p:spPr>
          <a:xfrm>
            <a:off x="7231796" y="4042898"/>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a:extLst>
              <a:ext uri="{FF2B5EF4-FFF2-40B4-BE49-F238E27FC236}">
                <a16:creationId xmlns:a16="http://schemas.microsoft.com/office/drawing/2014/main" id="{AFC3912F-12F1-AD4E-DE96-46E567BA1D3C}"/>
              </a:ext>
            </a:extLst>
          </p:cNvPr>
          <p:cNvCxnSpPr>
            <a:cxnSpLocks/>
            <a:endCxn id="78" idx="2"/>
          </p:cNvCxnSpPr>
          <p:nvPr/>
        </p:nvCxnSpPr>
        <p:spPr>
          <a:xfrm>
            <a:off x="7231795" y="4875347"/>
            <a:ext cx="851137" cy="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9" name="连接符: 曲线 118">
            <a:extLst>
              <a:ext uri="{FF2B5EF4-FFF2-40B4-BE49-F238E27FC236}">
                <a16:creationId xmlns:a16="http://schemas.microsoft.com/office/drawing/2014/main" id="{21FA99DE-4599-906B-EF16-2385BC648BCB}"/>
              </a:ext>
            </a:extLst>
          </p:cNvPr>
          <p:cNvCxnSpPr>
            <a:cxnSpLocks/>
            <a:endCxn id="74" idx="2"/>
          </p:cNvCxnSpPr>
          <p:nvPr/>
        </p:nvCxnSpPr>
        <p:spPr>
          <a:xfrm>
            <a:off x="7231798" y="2372257"/>
            <a:ext cx="851135" cy="832449"/>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120" name="连接符: 曲线 119">
            <a:extLst>
              <a:ext uri="{FF2B5EF4-FFF2-40B4-BE49-F238E27FC236}">
                <a16:creationId xmlns:a16="http://schemas.microsoft.com/office/drawing/2014/main" id="{6322B20B-7EAC-63CF-AF1B-8E9852255856}"/>
              </a:ext>
            </a:extLst>
          </p:cNvPr>
          <p:cNvCxnSpPr>
            <a:cxnSpLocks/>
            <a:endCxn id="77" idx="2"/>
          </p:cNvCxnSpPr>
          <p:nvPr/>
        </p:nvCxnSpPr>
        <p:spPr>
          <a:xfrm>
            <a:off x="7231798" y="3204705"/>
            <a:ext cx="851134" cy="838195"/>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121" name="连接符: 曲线 120">
            <a:extLst>
              <a:ext uri="{FF2B5EF4-FFF2-40B4-BE49-F238E27FC236}">
                <a16:creationId xmlns:a16="http://schemas.microsoft.com/office/drawing/2014/main" id="{C11A0877-D3E5-E7FB-365E-DB4DA3488D38}"/>
              </a:ext>
            </a:extLst>
          </p:cNvPr>
          <p:cNvCxnSpPr>
            <a:cxnSpLocks/>
            <a:endCxn id="78" idx="2"/>
          </p:cNvCxnSpPr>
          <p:nvPr/>
        </p:nvCxnSpPr>
        <p:spPr>
          <a:xfrm>
            <a:off x="7231797" y="4037148"/>
            <a:ext cx="851135" cy="838201"/>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F84BD2BA-FFCC-825A-278D-38A4D77E095C}"/>
              </a:ext>
            </a:extLst>
          </p:cNvPr>
          <p:cNvCxnSpPr>
            <a:cxnSpLocks/>
          </p:cNvCxnSpPr>
          <p:nvPr/>
        </p:nvCxnSpPr>
        <p:spPr>
          <a:xfrm>
            <a:off x="7657365" y="2760445"/>
            <a:ext cx="0" cy="81519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79AA8662-6AFE-5AAE-6802-1E335F8B5C48}"/>
              </a:ext>
            </a:extLst>
          </p:cNvPr>
          <p:cNvCxnSpPr>
            <a:cxnSpLocks/>
          </p:cNvCxnSpPr>
          <p:nvPr/>
        </p:nvCxnSpPr>
        <p:spPr>
          <a:xfrm>
            <a:off x="7657365" y="3575636"/>
            <a:ext cx="0" cy="9101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0" name="直接箭头连接符 139">
            <a:extLst>
              <a:ext uri="{FF2B5EF4-FFF2-40B4-BE49-F238E27FC236}">
                <a16:creationId xmlns:a16="http://schemas.microsoft.com/office/drawing/2014/main" id="{630CD42C-33AC-69A1-92CE-4A18ED8E7FFE}"/>
              </a:ext>
            </a:extLst>
          </p:cNvPr>
          <p:cNvCxnSpPr>
            <a:cxnSpLocks/>
            <a:stCxn id="73" idx="6"/>
            <a:endCxn id="144" idx="0"/>
          </p:cNvCxnSpPr>
          <p:nvPr/>
        </p:nvCxnSpPr>
        <p:spPr>
          <a:xfrm flipV="1">
            <a:off x="8609144" y="2368200"/>
            <a:ext cx="526193" cy="40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1" name="直接箭头连接符 140">
            <a:extLst>
              <a:ext uri="{FF2B5EF4-FFF2-40B4-BE49-F238E27FC236}">
                <a16:creationId xmlns:a16="http://schemas.microsoft.com/office/drawing/2014/main" id="{8F139B6F-2374-F3EF-F6F9-4BD88731D2B5}"/>
              </a:ext>
            </a:extLst>
          </p:cNvPr>
          <p:cNvCxnSpPr>
            <a:cxnSpLocks/>
            <a:stCxn id="74" idx="6"/>
            <a:endCxn id="151" idx="0"/>
          </p:cNvCxnSpPr>
          <p:nvPr/>
        </p:nvCxnSpPr>
        <p:spPr>
          <a:xfrm flipV="1">
            <a:off x="8609144" y="3203521"/>
            <a:ext cx="526190" cy="118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2" name="直接箭头连接符 141">
            <a:extLst>
              <a:ext uri="{FF2B5EF4-FFF2-40B4-BE49-F238E27FC236}">
                <a16:creationId xmlns:a16="http://schemas.microsoft.com/office/drawing/2014/main" id="{2EDEE86D-F84B-3E9D-3705-56E90C1F8B80}"/>
              </a:ext>
            </a:extLst>
          </p:cNvPr>
          <p:cNvCxnSpPr>
            <a:cxnSpLocks/>
            <a:stCxn id="77" idx="6"/>
            <a:endCxn id="152" idx="0"/>
          </p:cNvCxnSpPr>
          <p:nvPr/>
        </p:nvCxnSpPr>
        <p:spPr>
          <a:xfrm>
            <a:off x="8609143" y="4042900"/>
            <a:ext cx="517521" cy="14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3" name="直接箭头连接符 142">
            <a:extLst>
              <a:ext uri="{FF2B5EF4-FFF2-40B4-BE49-F238E27FC236}">
                <a16:creationId xmlns:a16="http://schemas.microsoft.com/office/drawing/2014/main" id="{E7B2615C-C41F-A486-1FA2-B8E8E5BD6C05}"/>
              </a:ext>
            </a:extLst>
          </p:cNvPr>
          <p:cNvCxnSpPr>
            <a:cxnSpLocks/>
            <a:stCxn id="78" idx="6"/>
            <a:endCxn id="153" idx="0"/>
          </p:cNvCxnSpPr>
          <p:nvPr/>
        </p:nvCxnSpPr>
        <p:spPr>
          <a:xfrm flipV="1">
            <a:off x="8609143" y="4873883"/>
            <a:ext cx="526189" cy="14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4" name="梯形 143">
            <a:extLst>
              <a:ext uri="{FF2B5EF4-FFF2-40B4-BE49-F238E27FC236}">
                <a16:creationId xmlns:a16="http://schemas.microsoft.com/office/drawing/2014/main" id="{ECD75791-5F77-0A5D-6DC7-DAC0636DE537}"/>
              </a:ext>
            </a:extLst>
          </p:cNvPr>
          <p:cNvSpPr/>
          <p:nvPr/>
        </p:nvSpPr>
        <p:spPr>
          <a:xfrm rot="16200000">
            <a:off x="9027507" y="2152539"/>
            <a:ext cx="646981" cy="431322"/>
          </a:xfrm>
          <a:prstGeom prst="trapezoid">
            <a:avLst/>
          </a:prstGeom>
          <a:noFill/>
          <a:ln w="381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梯形 150">
            <a:extLst>
              <a:ext uri="{FF2B5EF4-FFF2-40B4-BE49-F238E27FC236}">
                <a16:creationId xmlns:a16="http://schemas.microsoft.com/office/drawing/2014/main" id="{4C23D289-4C75-E335-B0D7-01E01B58EAC1}"/>
              </a:ext>
            </a:extLst>
          </p:cNvPr>
          <p:cNvSpPr/>
          <p:nvPr/>
        </p:nvSpPr>
        <p:spPr>
          <a:xfrm rot="16200000">
            <a:off x="9027504" y="2987860"/>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梯形 151">
            <a:extLst>
              <a:ext uri="{FF2B5EF4-FFF2-40B4-BE49-F238E27FC236}">
                <a16:creationId xmlns:a16="http://schemas.microsoft.com/office/drawing/2014/main" id="{CDF72A1A-6ABA-39BC-5A80-FEFBACA0A2EE}"/>
              </a:ext>
            </a:extLst>
          </p:cNvPr>
          <p:cNvSpPr/>
          <p:nvPr/>
        </p:nvSpPr>
        <p:spPr>
          <a:xfrm rot="16200000">
            <a:off x="9018834" y="3828639"/>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3" name="梯形 152">
            <a:extLst>
              <a:ext uri="{FF2B5EF4-FFF2-40B4-BE49-F238E27FC236}">
                <a16:creationId xmlns:a16="http://schemas.microsoft.com/office/drawing/2014/main" id="{A40408B6-D13D-8B6A-07CB-6CD895C8D501}"/>
              </a:ext>
            </a:extLst>
          </p:cNvPr>
          <p:cNvSpPr/>
          <p:nvPr/>
        </p:nvSpPr>
        <p:spPr>
          <a:xfrm rot="16200000">
            <a:off x="9027502" y="4658222"/>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4" name="直接箭头连接符 163">
            <a:extLst>
              <a:ext uri="{FF2B5EF4-FFF2-40B4-BE49-F238E27FC236}">
                <a16:creationId xmlns:a16="http://schemas.microsoft.com/office/drawing/2014/main" id="{C20846E0-17BC-B002-74A9-FBE0812D13B8}"/>
              </a:ext>
            </a:extLst>
          </p:cNvPr>
          <p:cNvCxnSpPr>
            <a:cxnSpLocks/>
            <a:endCxn id="38" idx="2"/>
          </p:cNvCxnSpPr>
          <p:nvPr/>
        </p:nvCxnSpPr>
        <p:spPr>
          <a:xfrm>
            <a:off x="1836006" y="4060160"/>
            <a:ext cx="52763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7" name="直接箭头连接符 166">
            <a:extLst>
              <a:ext uri="{FF2B5EF4-FFF2-40B4-BE49-F238E27FC236}">
                <a16:creationId xmlns:a16="http://schemas.microsoft.com/office/drawing/2014/main" id="{D19DA684-452B-4043-79ED-4F28EE08F09A}"/>
              </a:ext>
            </a:extLst>
          </p:cNvPr>
          <p:cNvCxnSpPr>
            <a:cxnSpLocks/>
            <a:endCxn id="39" idx="2"/>
          </p:cNvCxnSpPr>
          <p:nvPr/>
        </p:nvCxnSpPr>
        <p:spPr>
          <a:xfrm>
            <a:off x="1846054" y="4898359"/>
            <a:ext cx="51758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1" name="弧形 170">
            <a:extLst>
              <a:ext uri="{FF2B5EF4-FFF2-40B4-BE49-F238E27FC236}">
                <a16:creationId xmlns:a16="http://schemas.microsoft.com/office/drawing/2014/main" id="{47FA2FE0-139A-A07B-F06B-BAFC644FCCE0}"/>
              </a:ext>
            </a:extLst>
          </p:cNvPr>
          <p:cNvSpPr/>
          <p:nvPr/>
        </p:nvSpPr>
        <p:spPr>
          <a:xfrm flipH="1" flipV="1">
            <a:off x="1447854" y="3766866"/>
            <a:ext cx="792144" cy="293288"/>
          </a:xfrm>
          <a:prstGeom prst="arc">
            <a:avLst>
              <a:gd name="adj1" fmla="val 16384094"/>
              <a:gd name="adj2" fmla="val 5022831"/>
            </a:avLst>
          </a:prstGeom>
          <a:ln w="38100">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2" name="弧形 171">
            <a:extLst>
              <a:ext uri="{FF2B5EF4-FFF2-40B4-BE49-F238E27FC236}">
                <a16:creationId xmlns:a16="http://schemas.microsoft.com/office/drawing/2014/main" id="{0D42C3C9-B227-0C72-4F2C-7A87C8234065}"/>
              </a:ext>
            </a:extLst>
          </p:cNvPr>
          <p:cNvSpPr/>
          <p:nvPr/>
        </p:nvSpPr>
        <p:spPr>
          <a:xfrm flipH="1" flipV="1">
            <a:off x="1476604" y="4607915"/>
            <a:ext cx="792144" cy="293288"/>
          </a:xfrm>
          <a:prstGeom prst="arc">
            <a:avLst>
              <a:gd name="adj1" fmla="val 16384094"/>
              <a:gd name="adj2" fmla="val 5022831"/>
            </a:avLst>
          </a:prstGeom>
          <a:ln w="38100">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3" name="矩形: 圆角 172">
            <a:extLst>
              <a:ext uri="{FF2B5EF4-FFF2-40B4-BE49-F238E27FC236}">
                <a16:creationId xmlns:a16="http://schemas.microsoft.com/office/drawing/2014/main" id="{B7AAADAC-04A9-A27C-A247-1F1EFCDCCE6A}"/>
              </a:ext>
            </a:extLst>
          </p:cNvPr>
          <p:cNvSpPr/>
          <p:nvPr/>
        </p:nvSpPr>
        <p:spPr>
          <a:xfrm>
            <a:off x="9954884" y="2989034"/>
            <a:ext cx="577970" cy="431321"/>
          </a:xfrm>
          <a:prstGeom prst="roundRect">
            <a:avLst>
              <a:gd name="adj" fmla="val 32609"/>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accent1"/>
                </a:solidFill>
              </a:rPr>
              <a:t>is</a:t>
            </a:r>
            <a:endParaRPr lang="zh-CN" altLang="en-US" sz="2400" dirty="0">
              <a:solidFill>
                <a:schemeClr val="accent1"/>
              </a:solidFill>
            </a:endParaRPr>
          </a:p>
        </p:txBody>
      </p:sp>
      <p:sp>
        <p:nvSpPr>
          <p:cNvPr id="174" name="矩形: 圆角 173">
            <a:extLst>
              <a:ext uri="{FF2B5EF4-FFF2-40B4-BE49-F238E27FC236}">
                <a16:creationId xmlns:a16="http://schemas.microsoft.com/office/drawing/2014/main" id="{41A20173-98CD-22EC-6AD8-64ED17ECD021}"/>
              </a:ext>
            </a:extLst>
          </p:cNvPr>
          <p:cNvSpPr/>
          <p:nvPr/>
        </p:nvSpPr>
        <p:spPr>
          <a:xfrm>
            <a:off x="9954883" y="3835867"/>
            <a:ext cx="431323" cy="431321"/>
          </a:xfrm>
          <a:prstGeom prst="roundRect">
            <a:avLst>
              <a:gd name="adj" fmla="val 32609"/>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accent1"/>
                </a:solidFill>
              </a:rPr>
              <a:t>a</a:t>
            </a:r>
            <a:endParaRPr lang="zh-CN" altLang="en-US" sz="2400" dirty="0">
              <a:solidFill>
                <a:schemeClr val="accent1"/>
              </a:solidFill>
            </a:endParaRPr>
          </a:p>
        </p:txBody>
      </p:sp>
      <p:sp>
        <p:nvSpPr>
          <p:cNvPr id="175" name="矩形: 圆角 174">
            <a:extLst>
              <a:ext uri="{FF2B5EF4-FFF2-40B4-BE49-F238E27FC236}">
                <a16:creationId xmlns:a16="http://schemas.microsoft.com/office/drawing/2014/main" id="{5EAA13C6-B1B7-44F4-97CF-E59EB1AFCCE3}"/>
              </a:ext>
            </a:extLst>
          </p:cNvPr>
          <p:cNvSpPr/>
          <p:nvPr/>
        </p:nvSpPr>
        <p:spPr>
          <a:xfrm>
            <a:off x="9954883" y="4665431"/>
            <a:ext cx="1250830" cy="431321"/>
          </a:xfrm>
          <a:prstGeom prst="roundRect">
            <a:avLst>
              <a:gd name="adj" fmla="val 32609"/>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accent1"/>
                </a:solidFill>
              </a:rPr>
              <a:t>country</a:t>
            </a:r>
            <a:endParaRPr lang="zh-CN" altLang="en-US" sz="2400" dirty="0">
              <a:solidFill>
                <a:schemeClr val="accent1"/>
              </a:solidFill>
            </a:endParaRPr>
          </a:p>
        </p:txBody>
      </p:sp>
      <p:cxnSp>
        <p:nvCxnSpPr>
          <p:cNvPr id="176" name="直接箭头连接符 175">
            <a:extLst>
              <a:ext uri="{FF2B5EF4-FFF2-40B4-BE49-F238E27FC236}">
                <a16:creationId xmlns:a16="http://schemas.microsoft.com/office/drawing/2014/main" id="{94EF3B1E-8120-1C10-1D47-9F7D63A5EE4C}"/>
              </a:ext>
            </a:extLst>
          </p:cNvPr>
          <p:cNvCxnSpPr>
            <a:cxnSpLocks/>
            <a:endCxn id="173" idx="1"/>
          </p:cNvCxnSpPr>
          <p:nvPr/>
        </p:nvCxnSpPr>
        <p:spPr>
          <a:xfrm>
            <a:off x="9566654" y="3203521"/>
            <a:ext cx="388230" cy="11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8" name="直接箭头连接符 177">
            <a:extLst>
              <a:ext uri="{FF2B5EF4-FFF2-40B4-BE49-F238E27FC236}">
                <a16:creationId xmlns:a16="http://schemas.microsoft.com/office/drawing/2014/main" id="{48BEBD27-8A54-9595-DF4F-ABDA45A3DB1D}"/>
              </a:ext>
            </a:extLst>
          </p:cNvPr>
          <p:cNvCxnSpPr>
            <a:cxnSpLocks/>
            <a:stCxn id="152" idx="2"/>
            <a:endCxn id="174" idx="1"/>
          </p:cNvCxnSpPr>
          <p:nvPr/>
        </p:nvCxnSpPr>
        <p:spPr>
          <a:xfrm>
            <a:off x="9557986" y="4044300"/>
            <a:ext cx="396897" cy="722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1" name="直接箭头连接符 180">
            <a:extLst>
              <a:ext uri="{FF2B5EF4-FFF2-40B4-BE49-F238E27FC236}">
                <a16:creationId xmlns:a16="http://schemas.microsoft.com/office/drawing/2014/main" id="{142E5377-DD18-1938-987C-CFA16CA85F8E}"/>
              </a:ext>
            </a:extLst>
          </p:cNvPr>
          <p:cNvCxnSpPr>
            <a:cxnSpLocks/>
            <a:stCxn id="153" idx="2"/>
            <a:endCxn id="175" idx="1"/>
          </p:cNvCxnSpPr>
          <p:nvPr/>
        </p:nvCxnSpPr>
        <p:spPr>
          <a:xfrm>
            <a:off x="9566654" y="4873883"/>
            <a:ext cx="388229" cy="720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8" name="椭圆 187">
            <a:extLst>
              <a:ext uri="{FF2B5EF4-FFF2-40B4-BE49-F238E27FC236}">
                <a16:creationId xmlns:a16="http://schemas.microsoft.com/office/drawing/2014/main" id="{D4D991A0-BB39-157C-AFB8-D3902BEFEF8B}"/>
              </a:ext>
            </a:extLst>
          </p:cNvPr>
          <p:cNvSpPr/>
          <p:nvPr/>
        </p:nvSpPr>
        <p:spPr>
          <a:xfrm>
            <a:off x="1512519" y="5688666"/>
            <a:ext cx="161026" cy="161026"/>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a:extLst>
              <a:ext uri="{FF2B5EF4-FFF2-40B4-BE49-F238E27FC236}">
                <a16:creationId xmlns:a16="http://schemas.microsoft.com/office/drawing/2014/main" id="{74E02107-5864-77A1-8556-C5D2645ECE97}"/>
              </a:ext>
            </a:extLst>
          </p:cNvPr>
          <p:cNvSpPr/>
          <p:nvPr/>
        </p:nvSpPr>
        <p:spPr>
          <a:xfrm>
            <a:off x="1775615" y="5688665"/>
            <a:ext cx="161026" cy="161026"/>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0" name="椭圆 189">
            <a:extLst>
              <a:ext uri="{FF2B5EF4-FFF2-40B4-BE49-F238E27FC236}">
                <a16:creationId xmlns:a16="http://schemas.microsoft.com/office/drawing/2014/main" id="{34382CAE-FEC1-6BD5-D4EA-2595919C9BA5}"/>
              </a:ext>
            </a:extLst>
          </p:cNvPr>
          <p:cNvSpPr/>
          <p:nvPr/>
        </p:nvSpPr>
        <p:spPr>
          <a:xfrm>
            <a:off x="2038711" y="5688664"/>
            <a:ext cx="161026" cy="161026"/>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矩形 203">
            <a:extLst>
              <a:ext uri="{FF2B5EF4-FFF2-40B4-BE49-F238E27FC236}">
                <a16:creationId xmlns:a16="http://schemas.microsoft.com/office/drawing/2014/main" id="{817D5736-08E4-E3FA-7919-A0EF7551DCF0}"/>
              </a:ext>
            </a:extLst>
          </p:cNvPr>
          <p:cNvSpPr/>
          <p:nvPr/>
        </p:nvSpPr>
        <p:spPr>
          <a:xfrm>
            <a:off x="4109068" y="1230255"/>
            <a:ext cx="3997845" cy="954107"/>
          </a:xfrm>
          <a:prstGeom prst="rect">
            <a:avLst/>
          </a:prstGeom>
        </p:spPr>
        <p:txBody>
          <a:bodyPr wrap="square">
            <a:spAutoFit/>
          </a:bodyPr>
          <a:lstStyle/>
          <a:p>
            <a:pPr lvl="0"/>
            <a:r>
              <a:rPr lang="en-US" altLang="zh-CN" sz="2800" b="1" dirty="0">
                <a:solidFill>
                  <a:schemeClr val="bg1"/>
                </a:solidFill>
                <a:ea typeface="Gulim" panose="020B0600000101010101" pitchFamily="34" charset="-127"/>
              </a:rPr>
              <a:t>Prompt-based evaluation</a:t>
            </a:r>
            <a:endParaRPr lang="en-US" altLang="zh-CN" sz="2800" dirty="0">
              <a:solidFill>
                <a:schemeClr val="bg1"/>
              </a:solidFill>
              <a:ea typeface="Gulim" panose="020B0600000101010101" pitchFamily="34" charset="-127"/>
            </a:endParaRPr>
          </a:p>
          <a:p>
            <a:pPr marL="457200" lvl="0" indent="-457200">
              <a:buFont typeface="Arial" panose="020B0604020202020204" pitchFamily="34" charset="0"/>
              <a:buChar char="•"/>
            </a:pPr>
            <a:endParaRPr lang="en-US" altLang="zh-CN" sz="2800" dirty="0">
              <a:solidFill>
                <a:schemeClr val="bg1"/>
              </a:solidFill>
              <a:ea typeface="Gulim" panose="020B0600000101010101" pitchFamily="34" charset="-127"/>
            </a:endParaRPr>
          </a:p>
        </p:txBody>
      </p:sp>
      <p:sp>
        <p:nvSpPr>
          <p:cNvPr id="205" name="矩形 204">
            <a:extLst>
              <a:ext uri="{FF2B5EF4-FFF2-40B4-BE49-F238E27FC236}">
                <a16:creationId xmlns:a16="http://schemas.microsoft.com/office/drawing/2014/main" id="{A62C502E-C228-F563-CFE0-96A48762D0DF}"/>
              </a:ext>
            </a:extLst>
          </p:cNvPr>
          <p:cNvSpPr/>
          <p:nvPr/>
        </p:nvSpPr>
        <p:spPr>
          <a:xfrm>
            <a:off x="7857208" y="2760445"/>
            <a:ext cx="3509501" cy="260518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7" name="直接箭头连接符 206">
            <a:extLst>
              <a:ext uri="{FF2B5EF4-FFF2-40B4-BE49-F238E27FC236}">
                <a16:creationId xmlns:a16="http://schemas.microsoft.com/office/drawing/2014/main" id="{9AB9DFEF-1434-6A6E-0ADF-E450239421F0}"/>
              </a:ext>
            </a:extLst>
          </p:cNvPr>
          <p:cNvCxnSpPr>
            <a:cxnSpLocks/>
            <a:stCxn id="205" idx="2"/>
            <a:endCxn id="208" idx="0"/>
          </p:cNvCxnSpPr>
          <p:nvPr/>
        </p:nvCxnSpPr>
        <p:spPr>
          <a:xfrm flipH="1">
            <a:off x="8741397" y="5365630"/>
            <a:ext cx="870562" cy="27891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8" name="矩形 207">
            <a:extLst>
              <a:ext uri="{FF2B5EF4-FFF2-40B4-BE49-F238E27FC236}">
                <a16:creationId xmlns:a16="http://schemas.microsoft.com/office/drawing/2014/main" id="{B17CE464-FA0A-5A99-31BD-A8136DCAB0F7}"/>
              </a:ext>
            </a:extLst>
          </p:cNvPr>
          <p:cNvSpPr/>
          <p:nvPr/>
        </p:nvSpPr>
        <p:spPr>
          <a:xfrm>
            <a:off x="7657363" y="5644546"/>
            <a:ext cx="2168067" cy="523220"/>
          </a:xfrm>
          <a:prstGeom prst="rect">
            <a:avLst/>
          </a:prstGeom>
        </p:spPr>
        <p:txBody>
          <a:bodyPr wrap="square">
            <a:spAutoFit/>
          </a:bodyPr>
          <a:lstStyle/>
          <a:p>
            <a:pPr lvl="0"/>
            <a:r>
              <a:rPr lang="en-US" altLang="zh-CN" sz="2800" dirty="0">
                <a:solidFill>
                  <a:srgbClr val="C00000"/>
                </a:solidFill>
                <a:ea typeface="Gulim" panose="020B0600000101010101" pitchFamily="34" charset="-127"/>
              </a:rPr>
              <a:t>Last state</a:t>
            </a:r>
          </a:p>
        </p:txBody>
      </p:sp>
    </p:spTree>
    <p:extLst>
      <p:ext uri="{BB962C8B-B14F-4D97-AF65-F5344CB8AC3E}">
        <p14:creationId xmlns:p14="http://schemas.microsoft.com/office/powerpoint/2010/main" val="989780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par>
                          <p:cTn id="22" fill="hold">
                            <p:stCondLst>
                              <p:cond delay="1500"/>
                            </p:stCondLst>
                            <p:childTnLst>
                              <p:par>
                                <p:cTn id="23" presetID="10" presetClass="entr" presetSubtype="0" fill="hold" nodeType="after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par>
                          <p:cTn id="29" fill="hold">
                            <p:stCondLst>
                              <p:cond delay="2000"/>
                            </p:stCondLst>
                            <p:childTnLst>
                              <p:par>
                                <p:cTn id="30" presetID="10" presetClass="entr" presetSubtype="0" fill="hold" nodeType="afterEffect">
                                  <p:stCondLst>
                                    <p:cond delay="0"/>
                                  </p:stCondLst>
                                  <p:childTnLst>
                                    <p:set>
                                      <p:cBhvr>
                                        <p:cTn id="31" dur="1" fill="hold">
                                          <p:stCondLst>
                                            <p:cond delay="0"/>
                                          </p:stCondLst>
                                        </p:cTn>
                                        <p:tgtEl>
                                          <p:spTgt spid="88"/>
                                        </p:tgtEl>
                                        <p:attrNameLst>
                                          <p:attrName>style.visibility</p:attrName>
                                        </p:attrNameLst>
                                      </p:cBhvr>
                                      <p:to>
                                        <p:strVal val="visible"/>
                                      </p:to>
                                    </p:set>
                                    <p:animEffect transition="in" filter="fade">
                                      <p:cBhvr>
                                        <p:cTn id="32" dur="500"/>
                                        <p:tgtEl>
                                          <p:spTgt spid="88"/>
                                        </p:tgtEl>
                                      </p:cBhvr>
                                    </p:animEffect>
                                  </p:childTnLst>
                                </p:cTn>
                              </p:par>
                            </p:childTnLst>
                          </p:cTn>
                        </p:par>
                        <p:par>
                          <p:cTn id="33" fill="hold">
                            <p:stCondLst>
                              <p:cond delay="2500"/>
                            </p:stCondLst>
                            <p:childTnLst>
                              <p:par>
                                <p:cTn id="34" presetID="10" presetClass="entr" presetSubtype="0" fill="hold" grpId="0" nodeType="afterEffect">
                                  <p:stCondLst>
                                    <p:cond delay="0"/>
                                  </p:stCondLst>
                                  <p:childTnLst>
                                    <p:set>
                                      <p:cBhvr>
                                        <p:cTn id="35" dur="1" fill="hold">
                                          <p:stCondLst>
                                            <p:cond delay="0"/>
                                          </p:stCondLst>
                                        </p:cTn>
                                        <p:tgtEl>
                                          <p:spTgt spid="103"/>
                                        </p:tgtEl>
                                        <p:attrNameLst>
                                          <p:attrName>style.visibility</p:attrName>
                                        </p:attrNameLst>
                                      </p:cBhvr>
                                      <p:to>
                                        <p:strVal val="visible"/>
                                      </p:to>
                                    </p:set>
                                    <p:animEffect transition="in" filter="fade">
                                      <p:cBhvr>
                                        <p:cTn id="36" dur="500"/>
                                        <p:tgtEl>
                                          <p:spTgt spid="10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4"/>
                                        </p:tgtEl>
                                        <p:attrNameLst>
                                          <p:attrName>style.visibility</p:attrName>
                                        </p:attrNameLst>
                                      </p:cBhvr>
                                      <p:to>
                                        <p:strVal val="visible"/>
                                      </p:to>
                                    </p:set>
                                    <p:animEffect transition="in" filter="fade">
                                      <p:cBhvr>
                                        <p:cTn id="39" dur="500"/>
                                        <p:tgtEl>
                                          <p:spTgt spid="10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5"/>
                                        </p:tgtEl>
                                        <p:attrNameLst>
                                          <p:attrName>style.visibility</p:attrName>
                                        </p:attrNameLst>
                                      </p:cBhvr>
                                      <p:to>
                                        <p:strVal val="visible"/>
                                      </p:to>
                                    </p:set>
                                    <p:animEffect transition="in" filter="fade">
                                      <p:cBhvr>
                                        <p:cTn id="42" dur="500"/>
                                        <p:tgtEl>
                                          <p:spTgt spid="105"/>
                                        </p:tgtEl>
                                      </p:cBhvr>
                                    </p:animEffect>
                                  </p:childTnLst>
                                </p:cTn>
                              </p:par>
                            </p:childTnLst>
                          </p:cTn>
                        </p:par>
                        <p:par>
                          <p:cTn id="43" fill="hold">
                            <p:stCondLst>
                              <p:cond delay="3000"/>
                            </p:stCondLst>
                            <p:childTnLst>
                              <p:par>
                                <p:cTn id="44" presetID="10" presetClass="entr" presetSubtype="0" fill="hold" nodeType="afterEffect">
                                  <p:stCondLst>
                                    <p:cond delay="0"/>
                                  </p:stCondLst>
                                  <p:childTnLst>
                                    <p:set>
                                      <p:cBhvr>
                                        <p:cTn id="45" dur="1" fill="hold">
                                          <p:stCondLst>
                                            <p:cond delay="0"/>
                                          </p:stCondLst>
                                        </p:cTn>
                                        <p:tgtEl>
                                          <p:spTgt spid="115"/>
                                        </p:tgtEl>
                                        <p:attrNameLst>
                                          <p:attrName>style.visibility</p:attrName>
                                        </p:attrNameLst>
                                      </p:cBhvr>
                                      <p:to>
                                        <p:strVal val="visible"/>
                                      </p:to>
                                    </p:set>
                                    <p:animEffect transition="in" filter="fade">
                                      <p:cBhvr>
                                        <p:cTn id="46" dur="500"/>
                                        <p:tgtEl>
                                          <p:spTgt spid="1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73"/>
                                        </p:tgtEl>
                                        <p:attrNameLst>
                                          <p:attrName>style.visibility</p:attrName>
                                        </p:attrNameLst>
                                      </p:cBhvr>
                                      <p:to>
                                        <p:strVal val="visible"/>
                                      </p:to>
                                    </p:set>
                                    <p:animEffect transition="in" filter="fade">
                                      <p:cBhvr>
                                        <p:cTn id="49" dur="500"/>
                                        <p:tgtEl>
                                          <p:spTgt spid="73"/>
                                        </p:tgtEl>
                                      </p:cBhvr>
                                    </p:animEffect>
                                  </p:childTnLst>
                                </p:cTn>
                              </p:par>
                            </p:childTnLst>
                          </p:cTn>
                        </p:par>
                        <p:par>
                          <p:cTn id="50" fill="hold">
                            <p:stCondLst>
                              <p:cond delay="3500"/>
                            </p:stCondLst>
                            <p:childTnLst>
                              <p:par>
                                <p:cTn id="51" presetID="10" presetClass="entr" presetSubtype="0" fill="hold" nodeType="afterEffect">
                                  <p:stCondLst>
                                    <p:cond delay="0"/>
                                  </p:stCondLst>
                                  <p:childTnLst>
                                    <p:set>
                                      <p:cBhvr>
                                        <p:cTn id="52" dur="1" fill="hold">
                                          <p:stCondLst>
                                            <p:cond delay="0"/>
                                          </p:stCondLst>
                                        </p:cTn>
                                        <p:tgtEl>
                                          <p:spTgt spid="140"/>
                                        </p:tgtEl>
                                        <p:attrNameLst>
                                          <p:attrName>style.visibility</p:attrName>
                                        </p:attrNameLst>
                                      </p:cBhvr>
                                      <p:to>
                                        <p:strVal val="visible"/>
                                      </p:to>
                                    </p:set>
                                    <p:animEffect transition="in" filter="fade">
                                      <p:cBhvr>
                                        <p:cTn id="53" dur="500"/>
                                        <p:tgtEl>
                                          <p:spTgt spid="14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44"/>
                                        </p:tgtEl>
                                        <p:attrNameLst>
                                          <p:attrName>style.visibility</p:attrName>
                                        </p:attrNameLst>
                                      </p:cBhvr>
                                      <p:to>
                                        <p:strVal val="visible"/>
                                      </p:to>
                                    </p:set>
                                    <p:animEffect transition="in" filter="fade">
                                      <p:cBhvr>
                                        <p:cTn id="56" dur="500"/>
                                        <p:tgtEl>
                                          <p:spTgt spid="144"/>
                                        </p:tgtEl>
                                      </p:cBhvr>
                                    </p:animEffect>
                                  </p:childTnLst>
                                </p:cTn>
                              </p:par>
                            </p:childTnLst>
                          </p:cTn>
                        </p:par>
                        <p:par>
                          <p:cTn id="57" fill="hold">
                            <p:stCondLst>
                              <p:cond delay="4000"/>
                            </p:stCondLst>
                            <p:childTnLst>
                              <p:par>
                                <p:cTn id="58" presetID="10" presetClass="entr" presetSubtype="0" fill="hold" grpId="0" nodeType="after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fade">
                                      <p:cBhvr>
                                        <p:cTn id="60" dur="500"/>
                                        <p:tgtEl>
                                          <p:spTgt spid="3"/>
                                        </p:tgtEl>
                                      </p:cBhvr>
                                    </p:animEffect>
                                  </p:childTnLst>
                                </p:cTn>
                              </p:par>
                              <p:par>
                                <p:cTn id="61" presetID="10" presetClass="entr" presetSubtype="0" fill="hold" nodeType="withEffect">
                                  <p:stCondLst>
                                    <p:cond delay="0"/>
                                  </p:stCondLst>
                                  <p:childTnLst>
                                    <p:set>
                                      <p:cBhvr>
                                        <p:cTn id="62" dur="1" fill="hold">
                                          <p:stCondLst>
                                            <p:cond delay="0"/>
                                          </p:stCondLst>
                                        </p:cTn>
                                        <p:tgtEl>
                                          <p:spTgt spid="10"/>
                                        </p:tgtEl>
                                        <p:attrNameLst>
                                          <p:attrName>style.visibility</p:attrName>
                                        </p:attrNameLst>
                                      </p:cBhvr>
                                      <p:to>
                                        <p:strVal val="visible"/>
                                      </p:to>
                                    </p:set>
                                    <p:animEffect transition="in" filter="fade">
                                      <p:cBhvr>
                                        <p:cTn id="63" dur="500"/>
                                        <p:tgtEl>
                                          <p:spTgt spid="1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500"/>
                                        <p:tgtEl>
                                          <p:spTgt spid="1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500"/>
                                        <p:tgtEl>
                                          <p:spTgt spid="19"/>
                                        </p:tgtEl>
                                      </p:cBhvr>
                                    </p:animEffect>
                                  </p:childTnLst>
                                </p:cTn>
                              </p:par>
                              <p:par>
                                <p:cTn id="70" presetID="10" presetClass="entr" presetSubtype="0"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childTnLst>
                                </p:cTn>
                              </p:par>
                              <p:par>
                                <p:cTn id="73" presetID="10" presetClass="entr" presetSubtype="0" fill="hold"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50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53"/>
                                        </p:tgtEl>
                                        <p:attrNameLst>
                                          <p:attrName>style.visibility</p:attrName>
                                        </p:attrNameLst>
                                      </p:cBhvr>
                                      <p:to>
                                        <p:strVal val="visible"/>
                                      </p:to>
                                    </p:set>
                                    <p:animEffect transition="in" filter="fade">
                                      <p:cBhvr>
                                        <p:cTn id="78" dur="500"/>
                                        <p:tgtEl>
                                          <p:spTgt spid="5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500"/>
                                        <p:tgtEl>
                                          <p:spTgt spid="21"/>
                                        </p:tgtEl>
                                      </p:cBhvr>
                                    </p:animEffect>
                                  </p:childTnLst>
                                </p:cTn>
                              </p:par>
                              <p:par>
                                <p:cTn id="82" presetID="10" presetClass="entr" presetSubtype="0" fill="hold" nodeType="withEffect">
                                  <p:stCondLst>
                                    <p:cond delay="0"/>
                                  </p:stCondLst>
                                  <p:childTnLst>
                                    <p:set>
                                      <p:cBhvr>
                                        <p:cTn id="83" dur="1" fill="hold">
                                          <p:stCondLst>
                                            <p:cond delay="0"/>
                                          </p:stCondLst>
                                        </p:cTn>
                                        <p:tgtEl>
                                          <p:spTgt spid="96"/>
                                        </p:tgtEl>
                                        <p:attrNameLst>
                                          <p:attrName>style.visibility</p:attrName>
                                        </p:attrNameLst>
                                      </p:cBhvr>
                                      <p:to>
                                        <p:strVal val="visible"/>
                                      </p:to>
                                    </p:set>
                                    <p:animEffect transition="in" filter="fade">
                                      <p:cBhvr>
                                        <p:cTn id="84" dur="500"/>
                                        <p:tgtEl>
                                          <p:spTgt spid="9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06"/>
                                        </p:tgtEl>
                                        <p:attrNameLst>
                                          <p:attrName>style.visibility</p:attrName>
                                        </p:attrNameLst>
                                      </p:cBhvr>
                                      <p:to>
                                        <p:strVal val="visible"/>
                                      </p:to>
                                    </p:set>
                                    <p:animEffect transition="in" filter="fade">
                                      <p:cBhvr>
                                        <p:cTn id="87" dur="500"/>
                                        <p:tgtEl>
                                          <p:spTgt spid="106"/>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107"/>
                                        </p:tgtEl>
                                        <p:attrNameLst>
                                          <p:attrName>style.visibility</p:attrName>
                                        </p:attrNameLst>
                                      </p:cBhvr>
                                      <p:to>
                                        <p:strVal val="visible"/>
                                      </p:to>
                                    </p:set>
                                    <p:animEffect transition="in" filter="fade">
                                      <p:cBhvr>
                                        <p:cTn id="90" dur="500"/>
                                        <p:tgtEl>
                                          <p:spTgt spid="107"/>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108"/>
                                        </p:tgtEl>
                                        <p:attrNameLst>
                                          <p:attrName>style.visibility</p:attrName>
                                        </p:attrNameLst>
                                      </p:cBhvr>
                                      <p:to>
                                        <p:strVal val="visible"/>
                                      </p:to>
                                    </p:set>
                                    <p:animEffect transition="in" filter="fade">
                                      <p:cBhvr>
                                        <p:cTn id="93" dur="500"/>
                                        <p:tgtEl>
                                          <p:spTgt spid="108"/>
                                        </p:tgtEl>
                                      </p:cBhvr>
                                    </p:animEffect>
                                  </p:childTnLst>
                                </p:cTn>
                              </p:par>
                              <p:par>
                                <p:cTn id="94" presetID="10" presetClass="entr" presetSubtype="0" fill="hold" nodeType="withEffect">
                                  <p:stCondLst>
                                    <p:cond delay="0"/>
                                  </p:stCondLst>
                                  <p:childTnLst>
                                    <p:set>
                                      <p:cBhvr>
                                        <p:cTn id="95" dur="1" fill="hold">
                                          <p:stCondLst>
                                            <p:cond delay="0"/>
                                          </p:stCondLst>
                                        </p:cTn>
                                        <p:tgtEl>
                                          <p:spTgt spid="119"/>
                                        </p:tgtEl>
                                        <p:attrNameLst>
                                          <p:attrName>style.visibility</p:attrName>
                                        </p:attrNameLst>
                                      </p:cBhvr>
                                      <p:to>
                                        <p:strVal val="visible"/>
                                      </p:to>
                                    </p:set>
                                    <p:animEffect transition="in" filter="fade">
                                      <p:cBhvr>
                                        <p:cTn id="96" dur="500"/>
                                        <p:tgtEl>
                                          <p:spTgt spid="119"/>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74"/>
                                        </p:tgtEl>
                                        <p:attrNameLst>
                                          <p:attrName>style.visibility</p:attrName>
                                        </p:attrNameLst>
                                      </p:cBhvr>
                                      <p:to>
                                        <p:strVal val="visible"/>
                                      </p:to>
                                    </p:set>
                                    <p:animEffect transition="in" filter="fade">
                                      <p:cBhvr>
                                        <p:cTn id="99" dur="500"/>
                                        <p:tgtEl>
                                          <p:spTgt spid="74"/>
                                        </p:tgtEl>
                                      </p:cBhvr>
                                    </p:animEffect>
                                  </p:childTnLst>
                                </p:cTn>
                              </p:par>
                              <p:par>
                                <p:cTn id="100" presetID="10" presetClass="entr" presetSubtype="0" fill="hold" nodeType="withEffect">
                                  <p:stCondLst>
                                    <p:cond delay="0"/>
                                  </p:stCondLst>
                                  <p:childTnLst>
                                    <p:set>
                                      <p:cBhvr>
                                        <p:cTn id="101" dur="1" fill="hold">
                                          <p:stCondLst>
                                            <p:cond delay="0"/>
                                          </p:stCondLst>
                                        </p:cTn>
                                        <p:tgtEl>
                                          <p:spTgt spid="141"/>
                                        </p:tgtEl>
                                        <p:attrNameLst>
                                          <p:attrName>style.visibility</p:attrName>
                                        </p:attrNameLst>
                                      </p:cBhvr>
                                      <p:to>
                                        <p:strVal val="visible"/>
                                      </p:to>
                                    </p:set>
                                    <p:animEffect transition="in" filter="fade">
                                      <p:cBhvr>
                                        <p:cTn id="102" dur="500"/>
                                        <p:tgtEl>
                                          <p:spTgt spid="141"/>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151"/>
                                        </p:tgtEl>
                                        <p:attrNameLst>
                                          <p:attrName>style.visibility</p:attrName>
                                        </p:attrNameLst>
                                      </p:cBhvr>
                                      <p:to>
                                        <p:strVal val="visible"/>
                                      </p:to>
                                    </p:set>
                                    <p:animEffect transition="in" filter="fade">
                                      <p:cBhvr>
                                        <p:cTn id="105" dur="500"/>
                                        <p:tgtEl>
                                          <p:spTgt spid="151"/>
                                        </p:tgtEl>
                                      </p:cBhvr>
                                    </p:animEffect>
                                  </p:childTnLst>
                                </p:cTn>
                              </p:par>
                              <p:par>
                                <p:cTn id="106" presetID="10" presetClass="entr" presetSubtype="0" fill="hold" nodeType="withEffect">
                                  <p:stCondLst>
                                    <p:cond delay="0"/>
                                  </p:stCondLst>
                                  <p:childTnLst>
                                    <p:set>
                                      <p:cBhvr>
                                        <p:cTn id="107" dur="1" fill="hold">
                                          <p:stCondLst>
                                            <p:cond delay="0"/>
                                          </p:stCondLst>
                                        </p:cTn>
                                        <p:tgtEl>
                                          <p:spTgt spid="176"/>
                                        </p:tgtEl>
                                        <p:attrNameLst>
                                          <p:attrName>style.visibility</p:attrName>
                                        </p:attrNameLst>
                                      </p:cBhvr>
                                      <p:to>
                                        <p:strVal val="visible"/>
                                      </p:to>
                                    </p:set>
                                    <p:animEffect transition="in" filter="fade">
                                      <p:cBhvr>
                                        <p:cTn id="108" dur="500"/>
                                        <p:tgtEl>
                                          <p:spTgt spid="176"/>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173"/>
                                        </p:tgtEl>
                                        <p:attrNameLst>
                                          <p:attrName>style.visibility</p:attrName>
                                        </p:attrNameLst>
                                      </p:cBhvr>
                                      <p:to>
                                        <p:strVal val="visible"/>
                                      </p:to>
                                    </p:set>
                                    <p:animEffect transition="in" filter="fade">
                                      <p:cBhvr>
                                        <p:cTn id="111" dur="500"/>
                                        <p:tgtEl>
                                          <p:spTgt spid="173"/>
                                        </p:tgtEl>
                                      </p:cBhvr>
                                    </p:animEffect>
                                  </p:childTnLst>
                                </p:cTn>
                              </p:par>
                              <p:par>
                                <p:cTn id="112" presetID="10" presetClass="entr" presetSubtype="0" fill="hold" nodeType="withEffect">
                                  <p:stCondLst>
                                    <p:cond delay="0"/>
                                  </p:stCondLst>
                                  <p:childTnLst>
                                    <p:set>
                                      <p:cBhvr>
                                        <p:cTn id="113" dur="1" fill="hold">
                                          <p:stCondLst>
                                            <p:cond delay="0"/>
                                          </p:stCondLst>
                                        </p:cTn>
                                        <p:tgtEl>
                                          <p:spTgt spid="89"/>
                                        </p:tgtEl>
                                        <p:attrNameLst>
                                          <p:attrName>style.visibility</p:attrName>
                                        </p:attrNameLst>
                                      </p:cBhvr>
                                      <p:to>
                                        <p:strVal val="visible"/>
                                      </p:to>
                                    </p:set>
                                    <p:animEffect transition="in" filter="fade">
                                      <p:cBhvr>
                                        <p:cTn id="114" dur="500"/>
                                        <p:tgtEl>
                                          <p:spTgt spid="89"/>
                                        </p:tgtEl>
                                      </p:cBhvr>
                                    </p:animEffect>
                                  </p:childTnLst>
                                </p:cTn>
                              </p:par>
                              <p:par>
                                <p:cTn id="115" presetID="10" presetClass="entr" presetSubtype="0" fill="hold" nodeType="withEffect">
                                  <p:stCondLst>
                                    <p:cond delay="0"/>
                                  </p:stCondLst>
                                  <p:childTnLst>
                                    <p:set>
                                      <p:cBhvr>
                                        <p:cTn id="116" dur="1" fill="hold">
                                          <p:stCondLst>
                                            <p:cond delay="0"/>
                                          </p:stCondLst>
                                        </p:cTn>
                                        <p:tgtEl>
                                          <p:spTgt spid="116"/>
                                        </p:tgtEl>
                                        <p:attrNameLst>
                                          <p:attrName>style.visibility</p:attrName>
                                        </p:attrNameLst>
                                      </p:cBhvr>
                                      <p:to>
                                        <p:strVal val="visible"/>
                                      </p:to>
                                    </p:set>
                                    <p:animEffect transition="in" filter="fade">
                                      <p:cBhvr>
                                        <p:cTn id="117" dur="500"/>
                                        <p:tgtEl>
                                          <p:spTgt spid="116"/>
                                        </p:tgtEl>
                                      </p:cBhvr>
                                    </p:animEffect>
                                  </p:childTnLst>
                                </p:cTn>
                              </p:par>
                            </p:childTnLst>
                          </p:cTn>
                        </p:par>
                        <p:par>
                          <p:cTn id="118" fill="hold">
                            <p:stCondLst>
                              <p:cond delay="4500"/>
                            </p:stCondLst>
                            <p:childTnLst>
                              <p:par>
                                <p:cTn id="119" presetID="10" presetClass="entr" presetSubtype="0" fill="hold" grpId="0" nodeType="afterEffect">
                                  <p:stCondLst>
                                    <p:cond delay="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21" dur="500"/>
                                        <p:tgtEl>
                                          <p:spTgt spid="38"/>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4" dur="500"/>
                                        <p:tgtEl>
                                          <p:spTgt spid="39"/>
                                        </p:tgtEl>
                                      </p:cBhvr>
                                    </p:animEffect>
                                  </p:childTnLst>
                                </p:cTn>
                              </p:par>
                              <p:par>
                                <p:cTn id="125" presetID="10" presetClass="entr" presetSubtype="0" fill="hold" nodeType="withEffect">
                                  <p:stCondLst>
                                    <p:cond delay="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7" dur="500"/>
                                        <p:tgtEl>
                                          <p:spTgt spid="40"/>
                                        </p:tgtEl>
                                      </p:cBhvr>
                                    </p:animEffect>
                                  </p:childTnLst>
                                </p:cTn>
                              </p:par>
                              <p:par>
                                <p:cTn id="128" presetID="10" presetClass="entr" presetSubtype="0" fill="hold" nodeType="withEffect">
                                  <p:stCondLst>
                                    <p:cond delay="0"/>
                                  </p:stCondLst>
                                  <p:childTnLst>
                                    <p:set>
                                      <p:cBhvr>
                                        <p:cTn id="129" dur="1" fill="hold">
                                          <p:stCondLst>
                                            <p:cond delay="0"/>
                                          </p:stCondLst>
                                        </p:cTn>
                                        <p:tgtEl>
                                          <p:spTgt spid="41"/>
                                        </p:tgtEl>
                                        <p:attrNameLst>
                                          <p:attrName>style.visibility</p:attrName>
                                        </p:attrNameLst>
                                      </p:cBhvr>
                                      <p:to>
                                        <p:strVal val="visible"/>
                                      </p:to>
                                    </p:set>
                                    <p:animEffect transition="in" filter="fade">
                                      <p:cBhvr>
                                        <p:cTn id="130" dur="500"/>
                                        <p:tgtEl>
                                          <p:spTgt spid="41"/>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2"/>
                                        </p:tgtEl>
                                        <p:attrNameLst>
                                          <p:attrName>style.visibility</p:attrName>
                                        </p:attrNameLst>
                                      </p:cBhvr>
                                      <p:to>
                                        <p:strVal val="visible"/>
                                      </p:to>
                                    </p:set>
                                    <p:animEffect transition="in" filter="fade">
                                      <p:cBhvr>
                                        <p:cTn id="133" dur="500"/>
                                        <p:tgtEl>
                                          <p:spTgt spid="42"/>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3"/>
                                        </p:tgtEl>
                                        <p:attrNameLst>
                                          <p:attrName>style.visibility</p:attrName>
                                        </p:attrNameLst>
                                      </p:cBhvr>
                                      <p:to>
                                        <p:strVal val="visible"/>
                                      </p:to>
                                    </p:set>
                                    <p:animEffect transition="in" filter="fade">
                                      <p:cBhvr>
                                        <p:cTn id="136" dur="500"/>
                                        <p:tgtEl>
                                          <p:spTgt spid="43"/>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4"/>
                                        </p:tgtEl>
                                        <p:attrNameLst>
                                          <p:attrName>style.visibility</p:attrName>
                                        </p:attrNameLst>
                                      </p:cBhvr>
                                      <p:to>
                                        <p:strVal val="visible"/>
                                      </p:to>
                                    </p:set>
                                    <p:animEffect transition="in" filter="fade">
                                      <p:cBhvr>
                                        <p:cTn id="139" dur="500"/>
                                        <p:tgtEl>
                                          <p:spTgt spid="44"/>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45"/>
                                        </p:tgtEl>
                                        <p:attrNameLst>
                                          <p:attrName>style.visibility</p:attrName>
                                        </p:attrNameLst>
                                      </p:cBhvr>
                                      <p:to>
                                        <p:strVal val="visible"/>
                                      </p:to>
                                    </p:set>
                                    <p:animEffect transition="in" filter="fade">
                                      <p:cBhvr>
                                        <p:cTn id="142" dur="500"/>
                                        <p:tgtEl>
                                          <p:spTgt spid="45"/>
                                        </p:tgtEl>
                                      </p:cBhvr>
                                    </p:animEffect>
                                  </p:childTnLst>
                                </p:cTn>
                              </p:par>
                              <p:par>
                                <p:cTn id="143" presetID="10" presetClass="entr" presetSubtype="0" fill="hold" nodeType="withEffect">
                                  <p:stCondLst>
                                    <p:cond delay="0"/>
                                  </p:stCondLst>
                                  <p:childTnLst>
                                    <p:set>
                                      <p:cBhvr>
                                        <p:cTn id="144" dur="1" fill="hold">
                                          <p:stCondLst>
                                            <p:cond delay="0"/>
                                          </p:stCondLst>
                                        </p:cTn>
                                        <p:tgtEl>
                                          <p:spTgt spid="46"/>
                                        </p:tgtEl>
                                        <p:attrNameLst>
                                          <p:attrName>style.visibility</p:attrName>
                                        </p:attrNameLst>
                                      </p:cBhvr>
                                      <p:to>
                                        <p:strVal val="visible"/>
                                      </p:to>
                                    </p:set>
                                    <p:animEffect transition="in" filter="fade">
                                      <p:cBhvr>
                                        <p:cTn id="145" dur="500"/>
                                        <p:tgtEl>
                                          <p:spTgt spid="46"/>
                                        </p:tgtEl>
                                      </p:cBhvr>
                                    </p:animEffect>
                                  </p:childTnLst>
                                </p:cTn>
                              </p:par>
                              <p:par>
                                <p:cTn id="146" presetID="10" presetClass="entr" presetSubtype="0" fill="hold" nodeType="withEffect">
                                  <p:stCondLst>
                                    <p:cond delay="0"/>
                                  </p:stCondLst>
                                  <p:childTnLst>
                                    <p:set>
                                      <p:cBhvr>
                                        <p:cTn id="147" dur="1" fill="hold">
                                          <p:stCondLst>
                                            <p:cond delay="0"/>
                                          </p:stCondLst>
                                        </p:cTn>
                                        <p:tgtEl>
                                          <p:spTgt spid="47"/>
                                        </p:tgtEl>
                                        <p:attrNameLst>
                                          <p:attrName>style.visibility</p:attrName>
                                        </p:attrNameLst>
                                      </p:cBhvr>
                                      <p:to>
                                        <p:strVal val="visible"/>
                                      </p:to>
                                    </p:set>
                                    <p:animEffect transition="in" filter="fade">
                                      <p:cBhvr>
                                        <p:cTn id="148" dur="500"/>
                                        <p:tgtEl>
                                          <p:spTgt spid="47"/>
                                        </p:tgtEl>
                                      </p:cBhvr>
                                    </p:animEffect>
                                  </p:childTnLst>
                                </p:cTn>
                              </p:par>
                              <p:par>
                                <p:cTn id="149" presetID="10" presetClass="entr" presetSubtype="0" fill="hold" nodeType="withEffect">
                                  <p:stCondLst>
                                    <p:cond delay="0"/>
                                  </p:stCondLst>
                                  <p:childTnLst>
                                    <p:set>
                                      <p:cBhvr>
                                        <p:cTn id="150" dur="1" fill="hold">
                                          <p:stCondLst>
                                            <p:cond delay="0"/>
                                          </p:stCondLst>
                                        </p:cTn>
                                        <p:tgtEl>
                                          <p:spTgt spid="60"/>
                                        </p:tgtEl>
                                        <p:attrNameLst>
                                          <p:attrName>style.visibility</p:attrName>
                                        </p:attrNameLst>
                                      </p:cBhvr>
                                      <p:to>
                                        <p:strVal val="visible"/>
                                      </p:to>
                                    </p:set>
                                    <p:animEffect transition="in" filter="fade">
                                      <p:cBhvr>
                                        <p:cTn id="151" dur="500"/>
                                        <p:tgtEl>
                                          <p:spTgt spid="60"/>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77"/>
                                        </p:tgtEl>
                                        <p:attrNameLst>
                                          <p:attrName>style.visibility</p:attrName>
                                        </p:attrNameLst>
                                      </p:cBhvr>
                                      <p:to>
                                        <p:strVal val="visible"/>
                                      </p:to>
                                    </p:set>
                                    <p:animEffect transition="in" filter="fade">
                                      <p:cBhvr>
                                        <p:cTn id="154" dur="500"/>
                                        <p:tgtEl>
                                          <p:spTgt spid="77"/>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78"/>
                                        </p:tgtEl>
                                        <p:attrNameLst>
                                          <p:attrName>style.visibility</p:attrName>
                                        </p:attrNameLst>
                                      </p:cBhvr>
                                      <p:to>
                                        <p:strVal val="visible"/>
                                      </p:to>
                                    </p:set>
                                    <p:animEffect transition="in" filter="fade">
                                      <p:cBhvr>
                                        <p:cTn id="157" dur="500"/>
                                        <p:tgtEl>
                                          <p:spTgt spid="78"/>
                                        </p:tgtEl>
                                      </p:cBhvr>
                                    </p:animEffect>
                                  </p:childTnLst>
                                </p:cTn>
                              </p:par>
                              <p:par>
                                <p:cTn id="158" presetID="10" presetClass="entr" presetSubtype="0" fill="hold" nodeType="withEffect">
                                  <p:stCondLst>
                                    <p:cond delay="0"/>
                                  </p:stCondLst>
                                  <p:childTnLst>
                                    <p:set>
                                      <p:cBhvr>
                                        <p:cTn id="159" dur="1" fill="hold">
                                          <p:stCondLst>
                                            <p:cond delay="0"/>
                                          </p:stCondLst>
                                        </p:cTn>
                                        <p:tgtEl>
                                          <p:spTgt spid="92"/>
                                        </p:tgtEl>
                                        <p:attrNameLst>
                                          <p:attrName>style.visibility</p:attrName>
                                        </p:attrNameLst>
                                      </p:cBhvr>
                                      <p:to>
                                        <p:strVal val="visible"/>
                                      </p:to>
                                    </p:set>
                                    <p:animEffect transition="in" filter="fade">
                                      <p:cBhvr>
                                        <p:cTn id="160" dur="500"/>
                                        <p:tgtEl>
                                          <p:spTgt spid="92"/>
                                        </p:tgtEl>
                                      </p:cBhvr>
                                    </p:animEffect>
                                  </p:childTnLst>
                                </p:cTn>
                              </p:par>
                              <p:par>
                                <p:cTn id="161" presetID="10" presetClass="entr" presetSubtype="0" fill="hold" nodeType="withEffect">
                                  <p:stCondLst>
                                    <p:cond delay="0"/>
                                  </p:stCondLst>
                                  <p:childTnLst>
                                    <p:set>
                                      <p:cBhvr>
                                        <p:cTn id="162" dur="1" fill="hold">
                                          <p:stCondLst>
                                            <p:cond delay="0"/>
                                          </p:stCondLst>
                                        </p:cTn>
                                        <p:tgtEl>
                                          <p:spTgt spid="95"/>
                                        </p:tgtEl>
                                        <p:attrNameLst>
                                          <p:attrName>style.visibility</p:attrName>
                                        </p:attrNameLst>
                                      </p:cBhvr>
                                      <p:to>
                                        <p:strVal val="visible"/>
                                      </p:to>
                                    </p:set>
                                    <p:animEffect transition="in" filter="fade">
                                      <p:cBhvr>
                                        <p:cTn id="163" dur="500"/>
                                        <p:tgtEl>
                                          <p:spTgt spid="95"/>
                                        </p:tgtEl>
                                      </p:cBhvr>
                                    </p:animEffect>
                                  </p:childTnLst>
                                </p:cTn>
                              </p:par>
                              <p:par>
                                <p:cTn id="164" presetID="10" presetClass="entr" presetSubtype="0" fill="hold" nodeType="withEffect">
                                  <p:stCondLst>
                                    <p:cond delay="0"/>
                                  </p:stCondLst>
                                  <p:childTnLst>
                                    <p:set>
                                      <p:cBhvr>
                                        <p:cTn id="165" dur="1" fill="hold">
                                          <p:stCondLst>
                                            <p:cond delay="0"/>
                                          </p:stCondLst>
                                        </p:cTn>
                                        <p:tgtEl>
                                          <p:spTgt spid="98"/>
                                        </p:tgtEl>
                                        <p:attrNameLst>
                                          <p:attrName>style.visibility</p:attrName>
                                        </p:attrNameLst>
                                      </p:cBhvr>
                                      <p:to>
                                        <p:strVal val="visible"/>
                                      </p:to>
                                    </p:set>
                                    <p:animEffect transition="in" filter="fade">
                                      <p:cBhvr>
                                        <p:cTn id="166" dur="500"/>
                                        <p:tgtEl>
                                          <p:spTgt spid="98"/>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109"/>
                                        </p:tgtEl>
                                        <p:attrNameLst>
                                          <p:attrName>style.visibility</p:attrName>
                                        </p:attrNameLst>
                                      </p:cBhvr>
                                      <p:to>
                                        <p:strVal val="visible"/>
                                      </p:to>
                                    </p:set>
                                    <p:animEffect transition="in" filter="fade">
                                      <p:cBhvr>
                                        <p:cTn id="169" dur="500"/>
                                        <p:tgtEl>
                                          <p:spTgt spid="109"/>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110"/>
                                        </p:tgtEl>
                                        <p:attrNameLst>
                                          <p:attrName>style.visibility</p:attrName>
                                        </p:attrNameLst>
                                      </p:cBhvr>
                                      <p:to>
                                        <p:strVal val="visible"/>
                                      </p:to>
                                    </p:set>
                                    <p:animEffect transition="in" filter="fade">
                                      <p:cBhvr>
                                        <p:cTn id="172" dur="500"/>
                                        <p:tgtEl>
                                          <p:spTgt spid="110"/>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111"/>
                                        </p:tgtEl>
                                        <p:attrNameLst>
                                          <p:attrName>style.visibility</p:attrName>
                                        </p:attrNameLst>
                                      </p:cBhvr>
                                      <p:to>
                                        <p:strVal val="visible"/>
                                      </p:to>
                                    </p:set>
                                    <p:animEffect transition="in" filter="fade">
                                      <p:cBhvr>
                                        <p:cTn id="175" dur="500"/>
                                        <p:tgtEl>
                                          <p:spTgt spid="111"/>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112"/>
                                        </p:tgtEl>
                                        <p:attrNameLst>
                                          <p:attrName>style.visibility</p:attrName>
                                        </p:attrNameLst>
                                      </p:cBhvr>
                                      <p:to>
                                        <p:strVal val="visible"/>
                                      </p:to>
                                    </p:set>
                                    <p:animEffect transition="in" filter="fade">
                                      <p:cBhvr>
                                        <p:cTn id="178" dur="500"/>
                                        <p:tgtEl>
                                          <p:spTgt spid="112"/>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113"/>
                                        </p:tgtEl>
                                        <p:attrNameLst>
                                          <p:attrName>style.visibility</p:attrName>
                                        </p:attrNameLst>
                                      </p:cBhvr>
                                      <p:to>
                                        <p:strVal val="visible"/>
                                      </p:to>
                                    </p:set>
                                    <p:animEffect transition="in" filter="fade">
                                      <p:cBhvr>
                                        <p:cTn id="181" dur="500"/>
                                        <p:tgtEl>
                                          <p:spTgt spid="113"/>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114"/>
                                        </p:tgtEl>
                                        <p:attrNameLst>
                                          <p:attrName>style.visibility</p:attrName>
                                        </p:attrNameLst>
                                      </p:cBhvr>
                                      <p:to>
                                        <p:strVal val="visible"/>
                                      </p:to>
                                    </p:set>
                                    <p:animEffect transition="in" filter="fade">
                                      <p:cBhvr>
                                        <p:cTn id="184" dur="500"/>
                                        <p:tgtEl>
                                          <p:spTgt spid="114"/>
                                        </p:tgtEl>
                                      </p:cBhvr>
                                    </p:animEffect>
                                  </p:childTnLst>
                                </p:cTn>
                              </p:par>
                              <p:par>
                                <p:cTn id="185" presetID="10" presetClass="entr" presetSubtype="0" fill="hold" nodeType="withEffect">
                                  <p:stCondLst>
                                    <p:cond delay="0"/>
                                  </p:stCondLst>
                                  <p:childTnLst>
                                    <p:set>
                                      <p:cBhvr>
                                        <p:cTn id="186" dur="1" fill="hold">
                                          <p:stCondLst>
                                            <p:cond delay="0"/>
                                          </p:stCondLst>
                                        </p:cTn>
                                        <p:tgtEl>
                                          <p:spTgt spid="117"/>
                                        </p:tgtEl>
                                        <p:attrNameLst>
                                          <p:attrName>style.visibility</p:attrName>
                                        </p:attrNameLst>
                                      </p:cBhvr>
                                      <p:to>
                                        <p:strVal val="visible"/>
                                      </p:to>
                                    </p:set>
                                    <p:animEffect transition="in" filter="fade">
                                      <p:cBhvr>
                                        <p:cTn id="187" dur="500"/>
                                        <p:tgtEl>
                                          <p:spTgt spid="117"/>
                                        </p:tgtEl>
                                      </p:cBhvr>
                                    </p:animEffect>
                                  </p:childTnLst>
                                </p:cTn>
                              </p:par>
                              <p:par>
                                <p:cTn id="188" presetID="10" presetClass="entr" presetSubtype="0" fill="hold" nodeType="withEffect">
                                  <p:stCondLst>
                                    <p:cond delay="0"/>
                                  </p:stCondLst>
                                  <p:childTnLst>
                                    <p:set>
                                      <p:cBhvr>
                                        <p:cTn id="189" dur="1" fill="hold">
                                          <p:stCondLst>
                                            <p:cond delay="0"/>
                                          </p:stCondLst>
                                        </p:cTn>
                                        <p:tgtEl>
                                          <p:spTgt spid="118"/>
                                        </p:tgtEl>
                                        <p:attrNameLst>
                                          <p:attrName>style.visibility</p:attrName>
                                        </p:attrNameLst>
                                      </p:cBhvr>
                                      <p:to>
                                        <p:strVal val="visible"/>
                                      </p:to>
                                    </p:set>
                                    <p:animEffect transition="in" filter="fade">
                                      <p:cBhvr>
                                        <p:cTn id="190" dur="500"/>
                                        <p:tgtEl>
                                          <p:spTgt spid="118"/>
                                        </p:tgtEl>
                                      </p:cBhvr>
                                    </p:animEffect>
                                  </p:childTnLst>
                                </p:cTn>
                              </p:par>
                              <p:par>
                                <p:cTn id="191" presetID="10" presetClass="entr" presetSubtype="0" fill="hold" nodeType="withEffect">
                                  <p:stCondLst>
                                    <p:cond delay="0"/>
                                  </p:stCondLst>
                                  <p:childTnLst>
                                    <p:set>
                                      <p:cBhvr>
                                        <p:cTn id="192" dur="1" fill="hold">
                                          <p:stCondLst>
                                            <p:cond delay="0"/>
                                          </p:stCondLst>
                                        </p:cTn>
                                        <p:tgtEl>
                                          <p:spTgt spid="121"/>
                                        </p:tgtEl>
                                        <p:attrNameLst>
                                          <p:attrName>style.visibility</p:attrName>
                                        </p:attrNameLst>
                                      </p:cBhvr>
                                      <p:to>
                                        <p:strVal val="visible"/>
                                      </p:to>
                                    </p:set>
                                    <p:animEffect transition="in" filter="fade">
                                      <p:cBhvr>
                                        <p:cTn id="193" dur="500"/>
                                        <p:tgtEl>
                                          <p:spTgt spid="121"/>
                                        </p:tgtEl>
                                      </p:cBhvr>
                                    </p:animEffect>
                                  </p:childTnLst>
                                </p:cTn>
                              </p:par>
                              <p:par>
                                <p:cTn id="194" presetID="10" presetClass="entr" presetSubtype="0" fill="hold" nodeType="withEffect">
                                  <p:stCondLst>
                                    <p:cond delay="0"/>
                                  </p:stCondLst>
                                  <p:childTnLst>
                                    <p:set>
                                      <p:cBhvr>
                                        <p:cTn id="195" dur="1" fill="hold">
                                          <p:stCondLst>
                                            <p:cond delay="0"/>
                                          </p:stCondLst>
                                        </p:cTn>
                                        <p:tgtEl>
                                          <p:spTgt spid="142"/>
                                        </p:tgtEl>
                                        <p:attrNameLst>
                                          <p:attrName>style.visibility</p:attrName>
                                        </p:attrNameLst>
                                      </p:cBhvr>
                                      <p:to>
                                        <p:strVal val="visible"/>
                                      </p:to>
                                    </p:set>
                                    <p:animEffect transition="in" filter="fade">
                                      <p:cBhvr>
                                        <p:cTn id="196" dur="500"/>
                                        <p:tgtEl>
                                          <p:spTgt spid="142"/>
                                        </p:tgtEl>
                                      </p:cBhvr>
                                    </p:animEffect>
                                  </p:childTnLst>
                                </p:cTn>
                              </p:par>
                              <p:par>
                                <p:cTn id="197" presetID="10" presetClass="entr" presetSubtype="0" fill="hold" nodeType="withEffect">
                                  <p:stCondLst>
                                    <p:cond delay="0"/>
                                  </p:stCondLst>
                                  <p:childTnLst>
                                    <p:set>
                                      <p:cBhvr>
                                        <p:cTn id="198" dur="1" fill="hold">
                                          <p:stCondLst>
                                            <p:cond delay="0"/>
                                          </p:stCondLst>
                                        </p:cTn>
                                        <p:tgtEl>
                                          <p:spTgt spid="143"/>
                                        </p:tgtEl>
                                        <p:attrNameLst>
                                          <p:attrName>style.visibility</p:attrName>
                                        </p:attrNameLst>
                                      </p:cBhvr>
                                      <p:to>
                                        <p:strVal val="visible"/>
                                      </p:to>
                                    </p:set>
                                    <p:animEffect transition="in" filter="fade">
                                      <p:cBhvr>
                                        <p:cTn id="199" dur="500"/>
                                        <p:tgtEl>
                                          <p:spTgt spid="143"/>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152"/>
                                        </p:tgtEl>
                                        <p:attrNameLst>
                                          <p:attrName>style.visibility</p:attrName>
                                        </p:attrNameLst>
                                      </p:cBhvr>
                                      <p:to>
                                        <p:strVal val="visible"/>
                                      </p:to>
                                    </p:set>
                                    <p:animEffect transition="in" filter="fade">
                                      <p:cBhvr>
                                        <p:cTn id="202" dur="500"/>
                                        <p:tgtEl>
                                          <p:spTgt spid="152"/>
                                        </p:tgtEl>
                                      </p:cBhvr>
                                    </p:animEffect>
                                  </p:childTnLst>
                                </p:cTn>
                              </p:par>
                              <p:par>
                                <p:cTn id="203" presetID="10" presetClass="entr" presetSubtype="0" fill="hold" grpId="0" nodeType="withEffect">
                                  <p:stCondLst>
                                    <p:cond delay="0"/>
                                  </p:stCondLst>
                                  <p:childTnLst>
                                    <p:set>
                                      <p:cBhvr>
                                        <p:cTn id="204" dur="1" fill="hold">
                                          <p:stCondLst>
                                            <p:cond delay="0"/>
                                          </p:stCondLst>
                                        </p:cTn>
                                        <p:tgtEl>
                                          <p:spTgt spid="153"/>
                                        </p:tgtEl>
                                        <p:attrNameLst>
                                          <p:attrName>style.visibility</p:attrName>
                                        </p:attrNameLst>
                                      </p:cBhvr>
                                      <p:to>
                                        <p:strVal val="visible"/>
                                      </p:to>
                                    </p:set>
                                    <p:animEffect transition="in" filter="fade">
                                      <p:cBhvr>
                                        <p:cTn id="205" dur="500"/>
                                        <p:tgtEl>
                                          <p:spTgt spid="153"/>
                                        </p:tgtEl>
                                      </p:cBhvr>
                                    </p:animEffect>
                                  </p:childTnLst>
                                </p:cTn>
                              </p:par>
                              <p:par>
                                <p:cTn id="206" presetID="10" presetClass="entr" presetSubtype="0" fill="hold" nodeType="withEffect">
                                  <p:stCondLst>
                                    <p:cond delay="0"/>
                                  </p:stCondLst>
                                  <p:childTnLst>
                                    <p:set>
                                      <p:cBhvr>
                                        <p:cTn id="207" dur="1" fill="hold">
                                          <p:stCondLst>
                                            <p:cond delay="0"/>
                                          </p:stCondLst>
                                        </p:cTn>
                                        <p:tgtEl>
                                          <p:spTgt spid="164"/>
                                        </p:tgtEl>
                                        <p:attrNameLst>
                                          <p:attrName>style.visibility</p:attrName>
                                        </p:attrNameLst>
                                      </p:cBhvr>
                                      <p:to>
                                        <p:strVal val="visible"/>
                                      </p:to>
                                    </p:set>
                                    <p:animEffect transition="in" filter="fade">
                                      <p:cBhvr>
                                        <p:cTn id="208" dur="500"/>
                                        <p:tgtEl>
                                          <p:spTgt spid="164"/>
                                        </p:tgtEl>
                                      </p:cBhvr>
                                    </p:animEffect>
                                  </p:childTnLst>
                                </p:cTn>
                              </p:par>
                              <p:par>
                                <p:cTn id="209" presetID="10" presetClass="entr" presetSubtype="0" fill="hold" nodeType="withEffect">
                                  <p:stCondLst>
                                    <p:cond delay="0"/>
                                  </p:stCondLst>
                                  <p:childTnLst>
                                    <p:set>
                                      <p:cBhvr>
                                        <p:cTn id="210" dur="1" fill="hold">
                                          <p:stCondLst>
                                            <p:cond delay="0"/>
                                          </p:stCondLst>
                                        </p:cTn>
                                        <p:tgtEl>
                                          <p:spTgt spid="167"/>
                                        </p:tgtEl>
                                        <p:attrNameLst>
                                          <p:attrName>style.visibility</p:attrName>
                                        </p:attrNameLst>
                                      </p:cBhvr>
                                      <p:to>
                                        <p:strVal val="visible"/>
                                      </p:to>
                                    </p:set>
                                    <p:animEffect transition="in" filter="fade">
                                      <p:cBhvr>
                                        <p:cTn id="211" dur="500"/>
                                        <p:tgtEl>
                                          <p:spTgt spid="167"/>
                                        </p:tgtEl>
                                      </p:cBhvr>
                                    </p:animEffect>
                                  </p:childTnLst>
                                </p:cTn>
                              </p:par>
                              <p:par>
                                <p:cTn id="212" presetID="10" presetClass="entr" presetSubtype="0" fill="hold" grpId="0" nodeType="withEffect">
                                  <p:stCondLst>
                                    <p:cond delay="0"/>
                                  </p:stCondLst>
                                  <p:childTnLst>
                                    <p:set>
                                      <p:cBhvr>
                                        <p:cTn id="213" dur="1" fill="hold">
                                          <p:stCondLst>
                                            <p:cond delay="0"/>
                                          </p:stCondLst>
                                        </p:cTn>
                                        <p:tgtEl>
                                          <p:spTgt spid="171"/>
                                        </p:tgtEl>
                                        <p:attrNameLst>
                                          <p:attrName>style.visibility</p:attrName>
                                        </p:attrNameLst>
                                      </p:cBhvr>
                                      <p:to>
                                        <p:strVal val="visible"/>
                                      </p:to>
                                    </p:set>
                                    <p:animEffect transition="in" filter="fade">
                                      <p:cBhvr>
                                        <p:cTn id="214" dur="500"/>
                                        <p:tgtEl>
                                          <p:spTgt spid="171"/>
                                        </p:tgtEl>
                                      </p:cBhvr>
                                    </p:animEffect>
                                  </p:childTnLst>
                                </p:cTn>
                              </p:par>
                              <p:par>
                                <p:cTn id="215" presetID="10" presetClass="entr" presetSubtype="0" fill="hold" grpId="0" nodeType="withEffect">
                                  <p:stCondLst>
                                    <p:cond delay="0"/>
                                  </p:stCondLst>
                                  <p:childTnLst>
                                    <p:set>
                                      <p:cBhvr>
                                        <p:cTn id="216" dur="1" fill="hold">
                                          <p:stCondLst>
                                            <p:cond delay="0"/>
                                          </p:stCondLst>
                                        </p:cTn>
                                        <p:tgtEl>
                                          <p:spTgt spid="172"/>
                                        </p:tgtEl>
                                        <p:attrNameLst>
                                          <p:attrName>style.visibility</p:attrName>
                                        </p:attrNameLst>
                                      </p:cBhvr>
                                      <p:to>
                                        <p:strVal val="visible"/>
                                      </p:to>
                                    </p:set>
                                    <p:animEffect transition="in" filter="fade">
                                      <p:cBhvr>
                                        <p:cTn id="217" dur="500"/>
                                        <p:tgtEl>
                                          <p:spTgt spid="172"/>
                                        </p:tgtEl>
                                      </p:cBhvr>
                                    </p:animEffect>
                                  </p:childTnLst>
                                </p:cTn>
                              </p:par>
                              <p:par>
                                <p:cTn id="218" presetID="10" presetClass="entr" presetSubtype="0" fill="hold" grpId="0" nodeType="withEffect">
                                  <p:stCondLst>
                                    <p:cond delay="0"/>
                                  </p:stCondLst>
                                  <p:childTnLst>
                                    <p:set>
                                      <p:cBhvr>
                                        <p:cTn id="219" dur="1" fill="hold">
                                          <p:stCondLst>
                                            <p:cond delay="0"/>
                                          </p:stCondLst>
                                        </p:cTn>
                                        <p:tgtEl>
                                          <p:spTgt spid="174"/>
                                        </p:tgtEl>
                                        <p:attrNameLst>
                                          <p:attrName>style.visibility</p:attrName>
                                        </p:attrNameLst>
                                      </p:cBhvr>
                                      <p:to>
                                        <p:strVal val="visible"/>
                                      </p:to>
                                    </p:set>
                                    <p:animEffect transition="in" filter="fade">
                                      <p:cBhvr>
                                        <p:cTn id="220" dur="500"/>
                                        <p:tgtEl>
                                          <p:spTgt spid="174"/>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175"/>
                                        </p:tgtEl>
                                        <p:attrNameLst>
                                          <p:attrName>style.visibility</p:attrName>
                                        </p:attrNameLst>
                                      </p:cBhvr>
                                      <p:to>
                                        <p:strVal val="visible"/>
                                      </p:to>
                                    </p:set>
                                    <p:animEffect transition="in" filter="fade">
                                      <p:cBhvr>
                                        <p:cTn id="223" dur="500"/>
                                        <p:tgtEl>
                                          <p:spTgt spid="175"/>
                                        </p:tgtEl>
                                      </p:cBhvr>
                                    </p:animEffect>
                                  </p:childTnLst>
                                </p:cTn>
                              </p:par>
                              <p:par>
                                <p:cTn id="224" presetID="10" presetClass="entr" presetSubtype="0" fill="hold" nodeType="withEffect">
                                  <p:stCondLst>
                                    <p:cond delay="0"/>
                                  </p:stCondLst>
                                  <p:childTnLst>
                                    <p:set>
                                      <p:cBhvr>
                                        <p:cTn id="225" dur="1" fill="hold">
                                          <p:stCondLst>
                                            <p:cond delay="0"/>
                                          </p:stCondLst>
                                        </p:cTn>
                                        <p:tgtEl>
                                          <p:spTgt spid="178"/>
                                        </p:tgtEl>
                                        <p:attrNameLst>
                                          <p:attrName>style.visibility</p:attrName>
                                        </p:attrNameLst>
                                      </p:cBhvr>
                                      <p:to>
                                        <p:strVal val="visible"/>
                                      </p:to>
                                    </p:set>
                                    <p:animEffect transition="in" filter="fade">
                                      <p:cBhvr>
                                        <p:cTn id="226" dur="500"/>
                                        <p:tgtEl>
                                          <p:spTgt spid="178"/>
                                        </p:tgtEl>
                                      </p:cBhvr>
                                    </p:animEffect>
                                  </p:childTnLst>
                                </p:cTn>
                              </p:par>
                              <p:par>
                                <p:cTn id="227" presetID="10" presetClass="entr" presetSubtype="0" fill="hold" nodeType="withEffect">
                                  <p:stCondLst>
                                    <p:cond delay="0"/>
                                  </p:stCondLst>
                                  <p:childTnLst>
                                    <p:set>
                                      <p:cBhvr>
                                        <p:cTn id="228" dur="1" fill="hold">
                                          <p:stCondLst>
                                            <p:cond delay="0"/>
                                          </p:stCondLst>
                                        </p:cTn>
                                        <p:tgtEl>
                                          <p:spTgt spid="181"/>
                                        </p:tgtEl>
                                        <p:attrNameLst>
                                          <p:attrName>style.visibility</p:attrName>
                                        </p:attrNameLst>
                                      </p:cBhvr>
                                      <p:to>
                                        <p:strVal val="visible"/>
                                      </p:to>
                                    </p:set>
                                    <p:animEffect transition="in" filter="fade">
                                      <p:cBhvr>
                                        <p:cTn id="229" dur="500"/>
                                        <p:tgtEl>
                                          <p:spTgt spid="181"/>
                                        </p:tgtEl>
                                      </p:cBhvr>
                                    </p:animEffect>
                                  </p:childTnLst>
                                </p:cTn>
                              </p:par>
                              <p:par>
                                <p:cTn id="230" presetID="10" presetClass="entr" presetSubtype="0" fill="hold" nodeType="withEffect">
                                  <p:stCondLst>
                                    <p:cond delay="0"/>
                                  </p:stCondLst>
                                  <p:childTnLst>
                                    <p:set>
                                      <p:cBhvr>
                                        <p:cTn id="231" dur="1" fill="hold">
                                          <p:stCondLst>
                                            <p:cond delay="0"/>
                                          </p:stCondLst>
                                        </p:cTn>
                                        <p:tgtEl>
                                          <p:spTgt spid="71"/>
                                        </p:tgtEl>
                                        <p:attrNameLst>
                                          <p:attrName>style.visibility</p:attrName>
                                        </p:attrNameLst>
                                      </p:cBhvr>
                                      <p:to>
                                        <p:strVal val="visible"/>
                                      </p:to>
                                    </p:set>
                                    <p:animEffect transition="in" filter="fade">
                                      <p:cBhvr>
                                        <p:cTn id="232" dur="500"/>
                                        <p:tgtEl>
                                          <p:spTgt spid="71"/>
                                        </p:tgtEl>
                                      </p:cBhvr>
                                    </p:animEffect>
                                  </p:childTnLst>
                                </p:cTn>
                              </p:par>
                              <p:par>
                                <p:cTn id="233" presetID="10" presetClass="entr" presetSubtype="0" fill="hold" nodeType="withEffect">
                                  <p:stCondLst>
                                    <p:cond delay="0"/>
                                  </p:stCondLst>
                                  <p:childTnLst>
                                    <p:set>
                                      <p:cBhvr>
                                        <p:cTn id="234" dur="1" fill="hold">
                                          <p:stCondLst>
                                            <p:cond delay="0"/>
                                          </p:stCondLst>
                                        </p:cTn>
                                        <p:tgtEl>
                                          <p:spTgt spid="99"/>
                                        </p:tgtEl>
                                        <p:attrNameLst>
                                          <p:attrName>style.visibility</p:attrName>
                                        </p:attrNameLst>
                                      </p:cBhvr>
                                      <p:to>
                                        <p:strVal val="visible"/>
                                      </p:to>
                                    </p:set>
                                    <p:animEffect transition="in" filter="fade">
                                      <p:cBhvr>
                                        <p:cTn id="235" dur="500"/>
                                        <p:tgtEl>
                                          <p:spTgt spid="99"/>
                                        </p:tgtEl>
                                      </p:cBhvr>
                                    </p:animEffect>
                                  </p:childTnLst>
                                </p:cTn>
                              </p:par>
                              <p:par>
                                <p:cTn id="236" presetID="10" presetClass="entr" presetSubtype="0" fill="hold" nodeType="withEffect">
                                  <p:stCondLst>
                                    <p:cond delay="0"/>
                                  </p:stCondLst>
                                  <p:childTnLst>
                                    <p:set>
                                      <p:cBhvr>
                                        <p:cTn id="237" dur="1" fill="hold">
                                          <p:stCondLst>
                                            <p:cond delay="0"/>
                                          </p:stCondLst>
                                        </p:cTn>
                                        <p:tgtEl>
                                          <p:spTgt spid="122"/>
                                        </p:tgtEl>
                                        <p:attrNameLst>
                                          <p:attrName>style.visibility</p:attrName>
                                        </p:attrNameLst>
                                      </p:cBhvr>
                                      <p:to>
                                        <p:strVal val="visible"/>
                                      </p:to>
                                    </p:set>
                                    <p:animEffect transition="in" filter="fade">
                                      <p:cBhvr>
                                        <p:cTn id="238" dur="500"/>
                                        <p:tgtEl>
                                          <p:spTgt spid="122"/>
                                        </p:tgtEl>
                                      </p:cBhvr>
                                    </p:animEffect>
                                  </p:childTnLst>
                                </p:cTn>
                              </p:par>
                              <p:par>
                                <p:cTn id="239" presetID="10" presetClass="entr" presetSubtype="0" fill="hold" nodeType="withEffect">
                                  <p:stCondLst>
                                    <p:cond delay="0"/>
                                  </p:stCondLst>
                                  <p:childTnLst>
                                    <p:set>
                                      <p:cBhvr>
                                        <p:cTn id="240" dur="1" fill="hold">
                                          <p:stCondLst>
                                            <p:cond delay="0"/>
                                          </p:stCondLst>
                                        </p:cTn>
                                        <p:tgtEl>
                                          <p:spTgt spid="120"/>
                                        </p:tgtEl>
                                        <p:attrNameLst>
                                          <p:attrName>style.visibility</p:attrName>
                                        </p:attrNameLst>
                                      </p:cBhvr>
                                      <p:to>
                                        <p:strVal val="visible"/>
                                      </p:to>
                                    </p:set>
                                    <p:animEffect transition="in" filter="fade">
                                      <p:cBhvr>
                                        <p:cTn id="241" dur="500"/>
                                        <p:tgtEl>
                                          <p:spTgt spid="120"/>
                                        </p:tgtEl>
                                      </p:cBhvr>
                                    </p:animEffect>
                                  </p:childTnLst>
                                </p:cTn>
                              </p:par>
                              <p:par>
                                <p:cTn id="242" presetID="10" presetClass="entr" presetSubtype="0" fill="hold" nodeType="withEffect">
                                  <p:stCondLst>
                                    <p:cond delay="0"/>
                                  </p:stCondLst>
                                  <p:childTnLst>
                                    <p:set>
                                      <p:cBhvr>
                                        <p:cTn id="243" dur="1" fill="hold">
                                          <p:stCondLst>
                                            <p:cond delay="0"/>
                                          </p:stCondLst>
                                        </p:cTn>
                                        <p:tgtEl>
                                          <p:spTgt spid="97"/>
                                        </p:tgtEl>
                                        <p:attrNameLst>
                                          <p:attrName>style.visibility</p:attrName>
                                        </p:attrNameLst>
                                      </p:cBhvr>
                                      <p:to>
                                        <p:strVal val="visible"/>
                                      </p:to>
                                    </p:set>
                                    <p:animEffect transition="in" filter="fade">
                                      <p:cBhvr>
                                        <p:cTn id="244" dur="500"/>
                                        <p:tgtEl>
                                          <p:spTgt spid="97"/>
                                        </p:tgtEl>
                                      </p:cBhvr>
                                    </p:animEffect>
                                  </p:childTnLst>
                                </p:cTn>
                              </p:par>
                              <p:par>
                                <p:cTn id="245" presetID="10" presetClass="entr" presetSubtype="0" fill="hold" nodeType="withEffect">
                                  <p:stCondLst>
                                    <p:cond delay="0"/>
                                  </p:stCondLst>
                                  <p:childTnLst>
                                    <p:set>
                                      <p:cBhvr>
                                        <p:cTn id="246" dur="1" fill="hold">
                                          <p:stCondLst>
                                            <p:cond delay="0"/>
                                          </p:stCondLst>
                                        </p:cTn>
                                        <p:tgtEl>
                                          <p:spTgt spid="57"/>
                                        </p:tgtEl>
                                        <p:attrNameLst>
                                          <p:attrName>style.visibility</p:attrName>
                                        </p:attrNameLst>
                                      </p:cBhvr>
                                      <p:to>
                                        <p:strVal val="visible"/>
                                      </p:to>
                                    </p:set>
                                    <p:animEffect transition="in" filter="fade">
                                      <p:cBhvr>
                                        <p:cTn id="247" dur="500"/>
                                        <p:tgtEl>
                                          <p:spTgt spid="57"/>
                                        </p:tgtEl>
                                      </p:cBhvr>
                                    </p:animEffect>
                                  </p:childTnLst>
                                </p:cTn>
                              </p:par>
                              <p:par>
                                <p:cTn id="248" presetID="10" presetClass="entr" presetSubtype="0" fill="hold" nodeType="withEffect">
                                  <p:stCondLst>
                                    <p:cond delay="0"/>
                                  </p:stCondLst>
                                  <p:childTnLst>
                                    <p:set>
                                      <p:cBhvr>
                                        <p:cTn id="249" dur="1" fill="hold">
                                          <p:stCondLst>
                                            <p:cond delay="0"/>
                                          </p:stCondLst>
                                        </p:cTn>
                                        <p:tgtEl>
                                          <p:spTgt spid="100"/>
                                        </p:tgtEl>
                                        <p:attrNameLst>
                                          <p:attrName>style.visibility</p:attrName>
                                        </p:attrNameLst>
                                      </p:cBhvr>
                                      <p:to>
                                        <p:strVal val="visible"/>
                                      </p:to>
                                    </p:set>
                                    <p:animEffect transition="in" filter="fade">
                                      <p:cBhvr>
                                        <p:cTn id="250" dur="500"/>
                                        <p:tgtEl>
                                          <p:spTgt spid="100"/>
                                        </p:tgtEl>
                                      </p:cBhvr>
                                    </p:animEffect>
                                  </p:childTnLst>
                                </p:cTn>
                              </p:par>
                              <p:par>
                                <p:cTn id="251" presetID="10" presetClass="entr" presetSubtype="0" fill="hold" nodeType="withEffect">
                                  <p:stCondLst>
                                    <p:cond delay="0"/>
                                  </p:stCondLst>
                                  <p:childTnLst>
                                    <p:set>
                                      <p:cBhvr>
                                        <p:cTn id="252" dur="1" fill="hold">
                                          <p:stCondLst>
                                            <p:cond delay="0"/>
                                          </p:stCondLst>
                                        </p:cTn>
                                        <p:tgtEl>
                                          <p:spTgt spid="72"/>
                                        </p:tgtEl>
                                        <p:attrNameLst>
                                          <p:attrName>style.visibility</p:attrName>
                                        </p:attrNameLst>
                                      </p:cBhvr>
                                      <p:to>
                                        <p:strVal val="visible"/>
                                      </p:to>
                                    </p:set>
                                    <p:animEffect transition="in" filter="fade">
                                      <p:cBhvr>
                                        <p:cTn id="253" dur="500"/>
                                        <p:tgtEl>
                                          <p:spTgt spid="72"/>
                                        </p:tgtEl>
                                      </p:cBhvr>
                                    </p:animEffect>
                                  </p:childTnLst>
                                </p:cTn>
                              </p:par>
                              <p:par>
                                <p:cTn id="254" presetID="10" presetClass="entr" presetSubtype="0" fill="hold" nodeType="withEffect">
                                  <p:stCondLst>
                                    <p:cond delay="0"/>
                                  </p:stCondLst>
                                  <p:childTnLst>
                                    <p:set>
                                      <p:cBhvr>
                                        <p:cTn id="255" dur="1" fill="hold">
                                          <p:stCondLst>
                                            <p:cond delay="0"/>
                                          </p:stCondLst>
                                        </p:cTn>
                                        <p:tgtEl>
                                          <p:spTgt spid="123"/>
                                        </p:tgtEl>
                                        <p:attrNameLst>
                                          <p:attrName>style.visibility</p:attrName>
                                        </p:attrNameLst>
                                      </p:cBhvr>
                                      <p:to>
                                        <p:strVal val="visible"/>
                                      </p:to>
                                    </p:set>
                                    <p:animEffect transition="in" filter="fade">
                                      <p:cBhvr>
                                        <p:cTn id="256" dur="500"/>
                                        <p:tgtEl>
                                          <p:spTgt spid="123"/>
                                        </p:tgtEl>
                                      </p:cBhvr>
                                    </p:animEffect>
                                  </p:childTnLst>
                                </p:cTn>
                              </p:par>
                            </p:childTnLst>
                          </p:cTn>
                        </p:par>
                        <p:par>
                          <p:cTn id="257" fill="hold">
                            <p:stCondLst>
                              <p:cond delay="5000"/>
                            </p:stCondLst>
                            <p:childTnLst>
                              <p:par>
                                <p:cTn id="258" presetID="10" presetClass="entr" presetSubtype="0" fill="hold" grpId="0" nodeType="afterEffect">
                                  <p:stCondLst>
                                    <p:cond delay="0"/>
                                  </p:stCondLst>
                                  <p:childTnLst>
                                    <p:set>
                                      <p:cBhvr>
                                        <p:cTn id="259" dur="1" fill="hold">
                                          <p:stCondLst>
                                            <p:cond delay="0"/>
                                          </p:stCondLst>
                                        </p:cTn>
                                        <p:tgtEl>
                                          <p:spTgt spid="188"/>
                                        </p:tgtEl>
                                        <p:attrNameLst>
                                          <p:attrName>style.visibility</p:attrName>
                                        </p:attrNameLst>
                                      </p:cBhvr>
                                      <p:to>
                                        <p:strVal val="visible"/>
                                      </p:to>
                                    </p:set>
                                    <p:animEffect transition="in" filter="fade">
                                      <p:cBhvr>
                                        <p:cTn id="260" dur="500"/>
                                        <p:tgtEl>
                                          <p:spTgt spid="188"/>
                                        </p:tgtEl>
                                      </p:cBhvr>
                                    </p:animEffect>
                                  </p:childTnLst>
                                </p:cTn>
                              </p:par>
                            </p:childTnLst>
                          </p:cTn>
                        </p:par>
                        <p:par>
                          <p:cTn id="261" fill="hold">
                            <p:stCondLst>
                              <p:cond delay="5500"/>
                            </p:stCondLst>
                            <p:childTnLst>
                              <p:par>
                                <p:cTn id="262" presetID="10" presetClass="entr" presetSubtype="0" fill="hold" grpId="0" nodeType="afterEffect">
                                  <p:stCondLst>
                                    <p:cond delay="0"/>
                                  </p:stCondLst>
                                  <p:childTnLst>
                                    <p:set>
                                      <p:cBhvr>
                                        <p:cTn id="263" dur="1" fill="hold">
                                          <p:stCondLst>
                                            <p:cond delay="0"/>
                                          </p:stCondLst>
                                        </p:cTn>
                                        <p:tgtEl>
                                          <p:spTgt spid="189"/>
                                        </p:tgtEl>
                                        <p:attrNameLst>
                                          <p:attrName>style.visibility</p:attrName>
                                        </p:attrNameLst>
                                      </p:cBhvr>
                                      <p:to>
                                        <p:strVal val="visible"/>
                                      </p:to>
                                    </p:set>
                                    <p:animEffect transition="in" filter="fade">
                                      <p:cBhvr>
                                        <p:cTn id="264" dur="500"/>
                                        <p:tgtEl>
                                          <p:spTgt spid="189"/>
                                        </p:tgtEl>
                                      </p:cBhvr>
                                    </p:animEffect>
                                  </p:childTnLst>
                                </p:cTn>
                              </p:par>
                            </p:childTnLst>
                          </p:cTn>
                        </p:par>
                        <p:par>
                          <p:cTn id="265" fill="hold">
                            <p:stCondLst>
                              <p:cond delay="6000"/>
                            </p:stCondLst>
                            <p:childTnLst>
                              <p:par>
                                <p:cTn id="266" presetID="10" presetClass="entr" presetSubtype="0" fill="hold" grpId="0" nodeType="afterEffect">
                                  <p:stCondLst>
                                    <p:cond delay="0"/>
                                  </p:stCondLst>
                                  <p:childTnLst>
                                    <p:set>
                                      <p:cBhvr>
                                        <p:cTn id="267" dur="1" fill="hold">
                                          <p:stCondLst>
                                            <p:cond delay="0"/>
                                          </p:stCondLst>
                                        </p:cTn>
                                        <p:tgtEl>
                                          <p:spTgt spid="190"/>
                                        </p:tgtEl>
                                        <p:attrNameLst>
                                          <p:attrName>style.visibility</p:attrName>
                                        </p:attrNameLst>
                                      </p:cBhvr>
                                      <p:to>
                                        <p:strVal val="visible"/>
                                      </p:to>
                                    </p:set>
                                    <p:animEffect transition="in" filter="fade">
                                      <p:cBhvr>
                                        <p:cTn id="268" dur="500"/>
                                        <p:tgtEl>
                                          <p:spTgt spid="190"/>
                                        </p:tgtEl>
                                      </p:cBhvr>
                                    </p:animEffect>
                                  </p:childTnLst>
                                </p:cTn>
                              </p:par>
                            </p:childTnLst>
                          </p:cTn>
                        </p:par>
                      </p:childTnLst>
                    </p:cTn>
                  </p:par>
                  <p:par>
                    <p:cTn id="269" fill="hold">
                      <p:stCondLst>
                        <p:cond delay="indefinite"/>
                      </p:stCondLst>
                      <p:childTnLst>
                        <p:par>
                          <p:cTn id="270" fill="hold">
                            <p:stCondLst>
                              <p:cond delay="0"/>
                            </p:stCondLst>
                            <p:childTnLst>
                              <p:par>
                                <p:cTn id="271" presetID="10" presetClass="entr" presetSubtype="0" fill="hold" grpId="0" nodeType="clickEffect">
                                  <p:stCondLst>
                                    <p:cond delay="0"/>
                                  </p:stCondLst>
                                  <p:childTnLst>
                                    <p:set>
                                      <p:cBhvr>
                                        <p:cTn id="272" dur="1" fill="hold">
                                          <p:stCondLst>
                                            <p:cond delay="0"/>
                                          </p:stCondLst>
                                        </p:cTn>
                                        <p:tgtEl>
                                          <p:spTgt spid="205"/>
                                        </p:tgtEl>
                                        <p:attrNameLst>
                                          <p:attrName>style.visibility</p:attrName>
                                        </p:attrNameLst>
                                      </p:cBhvr>
                                      <p:to>
                                        <p:strVal val="visible"/>
                                      </p:to>
                                    </p:set>
                                    <p:animEffect transition="in" filter="fade">
                                      <p:cBhvr>
                                        <p:cTn id="273" dur="500"/>
                                        <p:tgtEl>
                                          <p:spTgt spid="205"/>
                                        </p:tgtEl>
                                      </p:cBhvr>
                                    </p:animEffect>
                                  </p:childTnLst>
                                </p:cTn>
                              </p:par>
                            </p:childTnLst>
                          </p:cTn>
                        </p:par>
                        <p:par>
                          <p:cTn id="274" fill="hold">
                            <p:stCondLst>
                              <p:cond delay="500"/>
                            </p:stCondLst>
                            <p:childTnLst>
                              <p:par>
                                <p:cTn id="275" presetID="10" presetClass="entr" presetSubtype="0" fill="hold" nodeType="afterEffect">
                                  <p:stCondLst>
                                    <p:cond delay="0"/>
                                  </p:stCondLst>
                                  <p:childTnLst>
                                    <p:set>
                                      <p:cBhvr>
                                        <p:cTn id="276" dur="1" fill="hold">
                                          <p:stCondLst>
                                            <p:cond delay="0"/>
                                          </p:stCondLst>
                                        </p:cTn>
                                        <p:tgtEl>
                                          <p:spTgt spid="207"/>
                                        </p:tgtEl>
                                        <p:attrNameLst>
                                          <p:attrName>style.visibility</p:attrName>
                                        </p:attrNameLst>
                                      </p:cBhvr>
                                      <p:to>
                                        <p:strVal val="visible"/>
                                      </p:to>
                                    </p:set>
                                    <p:animEffect transition="in" filter="fade">
                                      <p:cBhvr>
                                        <p:cTn id="277" dur="500"/>
                                        <p:tgtEl>
                                          <p:spTgt spid="207"/>
                                        </p:tgtEl>
                                      </p:cBhvr>
                                    </p:animEffect>
                                  </p:childTnLst>
                                </p:cTn>
                              </p:par>
                            </p:childTnLst>
                          </p:cTn>
                        </p:par>
                        <p:par>
                          <p:cTn id="278" fill="hold">
                            <p:stCondLst>
                              <p:cond delay="1000"/>
                            </p:stCondLst>
                            <p:childTnLst>
                              <p:par>
                                <p:cTn id="279" presetID="10" presetClass="entr" presetSubtype="0" fill="hold" grpId="0" nodeType="afterEffect">
                                  <p:stCondLst>
                                    <p:cond delay="0"/>
                                  </p:stCondLst>
                                  <p:childTnLst>
                                    <p:set>
                                      <p:cBhvr>
                                        <p:cTn id="280" dur="1" fill="hold">
                                          <p:stCondLst>
                                            <p:cond delay="0"/>
                                          </p:stCondLst>
                                        </p:cTn>
                                        <p:tgtEl>
                                          <p:spTgt spid="208"/>
                                        </p:tgtEl>
                                        <p:attrNameLst>
                                          <p:attrName>style.visibility</p:attrName>
                                        </p:attrNameLst>
                                      </p:cBhvr>
                                      <p:to>
                                        <p:strVal val="visible"/>
                                      </p:to>
                                    </p:set>
                                    <p:animEffect transition="in" filter="fade">
                                      <p:cBhvr>
                                        <p:cTn id="281" dur="500"/>
                                        <p:tgtEl>
                                          <p:spTgt spid="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1" grpId="0" animBg="1"/>
      <p:bldP spid="15" grpId="0" animBg="1"/>
      <p:bldP spid="18" grpId="0" animBg="1"/>
      <p:bldP spid="19" grpId="0" animBg="1"/>
      <p:bldP spid="20" grpId="0" animBg="1"/>
      <p:bldP spid="21" grpId="0" animBg="1"/>
      <p:bldP spid="38" grpId="0" animBg="1"/>
      <p:bldP spid="39" grpId="0" animBg="1"/>
      <p:bldP spid="42" grpId="0" animBg="1"/>
      <p:bldP spid="43" grpId="0" animBg="1"/>
      <p:bldP spid="44" grpId="0" animBg="1"/>
      <p:bldP spid="45" grpId="0" animBg="1"/>
      <p:bldP spid="73" grpId="0" animBg="1"/>
      <p:bldP spid="74" grpId="0" animBg="1"/>
      <p:bldP spid="77" grpId="0" animBg="1"/>
      <p:bldP spid="78"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44" grpId="0" animBg="1"/>
      <p:bldP spid="151" grpId="0" animBg="1"/>
      <p:bldP spid="152" grpId="0" animBg="1"/>
      <p:bldP spid="153" grpId="0" animBg="1"/>
      <p:bldP spid="171" grpId="0" animBg="1"/>
      <p:bldP spid="172" grpId="0" animBg="1"/>
      <p:bldP spid="173" grpId="0" animBg="1"/>
      <p:bldP spid="174" grpId="0" animBg="1"/>
      <p:bldP spid="175" grpId="0" animBg="1"/>
      <p:bldP spid="188" grpId="0" animBg="1"/>
      <p:bldP spid="189" grpId="0" animBg="1"/>
      <p:bldP spid="190" grpId="0" animBg="1"/>
      <p:bldP spid="205" grpId="0" animBg="1"/>
      <p:bldP spid="20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FC30B-6C73-CD14-A5AD-9340247BD46A}"/>
            </a:ext>
          </a:extLst>
        </p:cNvPr>
        <p:cNvGrpSpPr/>
        <p:nvPr/>
      </p:nvGrpSpPr>
      <p:grpSpPr>
        <a:xfrm>
          <a:off x="0" y="0"/>
          <a:ext cx="0" cy="0"/>
          <a:chOff x="0" y="0"/>
          <a:chExt cx="0" cy="0"/>
        </a:xfrm>
      </p:grpSpPr>
      <p:cxnSp>
        <p:nvCxnSpPr>
          <p:cNvPr id="93" name="直接连接符 92">
            <a:extLst>
              <a:ext uri="{FF2B5EF4-FFF2-40B4-BE49-F238E27FC236}">
                <a16:creationId xmlns:a16="http://schemas.microsoft.com/office/drawing/2014/main" id="{22DE85BC-C1EC-74CA-2301-2B546C698A38}"/>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等腰三角形 33">
            <a:extLst>
              <a:ext uri="{FF2B5EF4-FFF2-40B4-BE49-F238E27FC236}">
                <a16:creationId xmlns:a16="http://schemas.microsoft.com/office/drawing/2014/main" id="{83A65DA9-5EB4-355E-961F-DB1C8750C81F}"/>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5D9994B4-CA35-FCA1-DAEB-03E536E4CE0E}"/>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2</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sp>
        <p:nvSpPr>
          <p:cNvPr id="6" name="矩形 5">
            <a:extLst>
              <a:ext uri="{FF2B5EF4-FFF2-40B4-BE49-F238E27FC236}">
                <a16:creationId xmlns:a16="http://schemas.microsoft.com/office/drawing/2014/main" id="{3E98BD5E-5CA9-D0A8-8F8B-88057FE43439}"/>
              </a:ext>
            </a:extLst>
          </p:cNvPr>
          <p:cNvSpPr/>
          <p:nvPr/>
        </p:nvSpPr>
        <p:spPr>
          <a:xfrm>
            <a:off x="6326759" y="305868"/>
            <a:ext cx="4206094" cy="954107"/>
          </a:xfrm>
          <a:prstGeom prst="rect">
            <a:avLst/>
          </a:prstGeom>
        </p:spPr>
        <p:txBody>
          <a:bodyPr wrap="square">
            <a:spAutoFit/>
          </a:bodyPr>
          <a:lstStyle/>
          <a:p>
            <a:pPr lvl="0"/>
            <a:r>
              <a:rPr lang="en-US" altLang="zh-CN" sz="2800" b="1" dirty="0">
                <a:solidFill>
                  <a:schemeClr val="bg1"/>
                </a:solidFill>
                <a:ea typeface="Gulim" panose="020B0600000101010101" pitchFamily="34" charset="-127"/>
              </a:rPr>
              <a:t>Decoder-only</a:t>
            </a:r>
            <a:r>
              <a:rPr lang="en-US" altLang="zh-CN" sz="2800" dirty="0">
                <a:solidFill>
                  <a:schemeClr val="bg1"/>
                </a:solidFill>
                <a:ea typeface="Gulim" panose="020B0600000101010101" pitchFamily="34" charset="-127"/>
              </a:rPr>
              <a:t> architecture</a:t>
            </a:r>
          </a:p>
          <a:p>
            <a:pPr marL="457200" lvl="0" indent="-457200">
              <a:buFont typeface="Arial" panose="020B0604020202020204" pitchFamily="34" charset="0"/>
              <a:buChar char="•"/>
            </a:pPr>
            <a:endParaRPr lang="en-US" altLang="zh-CN" sz="2800" dirty="0">
              <a:solidFill>
                <a:schemeClr val="bg1"/>
              </a:solidFill>
              <a:ea typeface="Gulim" panose="020B0600000101010101" pitchFamily="34" charset="-127"/>
            </a:endParaRPr>
          </a:p>
        </p:txBody>
      </p:sp>
      <p:sp>
        <p:nvSpPr>
          <p:cNvPr id="2" name="矩形: 圆角 1">
            <a:extLst>
              <a:ext uri="{FF2B5EF4-FFF2-40B4-BE49-F238E27FC236}">
                <a16:creationId xmlns:a16="http://schemas.microsoft.com/office/drawing/2014/main" id="{76633078-AFD5-60C6-2CB5-6420B2C5572A}"/>
              </a:ext>
            </a:extLst>
          </p:cNvPr>
          <p:cNvSpPr/>
          <p:nvPr/>
        </p:nvSpPr>
        <p:spPr>
          <a:xfrm>
            <a:off x="681490" y="2173856"/>
            <a:ext cx="1155939" cy="431321"/>
          </a:xfrm>
          <a:prstGeom prst="roundRect">
            <a:avLst>
              <a:gd name="adj" fmla="val 32609"/>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accent1"/>
                </a:solidFill>
              </a:rPr>
              <a:t>United</a:t>
            </a:r>
            <a:endParaRPr lang="zh-CN" altLang="en-US" sz="2400" dirty="0">
              <a:solidFill>
                <a:schemeClr val="accent1"/>
              </a:solidFill>
            </a:endParaRPr>
          </a:p>
        </p:txBody>
      </p:sp>
      <p:sp>
        <p:nvSpPr>
          <p:cNvPr id="3" name="矩形: 圆角 2">
            <a:extLst>
              <a:ext uri="{FF2B5EF4-FFF2-40B4-BE49-F238E27FC236}">
                <a16:creationId xmlns:a16="http://schemas.microsoft.com/office/drawing/2014/main" id="{D2865C99-284A-79FA-15D3-19F4A6E98ED9}"/>
              </a:ext>
            </a:extLst>
          </p:cNvPr>
          <p:cNvSpPr/>
          <p:nvPr/>
        </p:nvSpPr>
        <p:spPr>
          <a:xfrm>
            <a:off x="397498" y="3012055"/>
            <a:ext cx="1448557" cy="431321"/>
          </a:xfrm>
          <a:prstGeom prst="roundRect">
            <a:avLst>
              <a:gd name="adj" fmla="val 32609"/>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accent1"/>
                </a:solidFill>
              </a:rPr>
              <a:t>Kingdom</a:t>
            </a:r>
            <a:endParaRPr lang="zh-CN" altLang="en-US" sz="2400" dirty="0">
              <a:solidFill>
                <a:schemeClr val="accent1"/>
              </a:solidFill>
            </a:endParaRPr>
          </a:p>
        </p:txBody>
      </p:sp>
      <p:cxnSp>
        <p:nvCxnSpPr>
          <p:cNvPr id="8" name="直接箭头连接符 7">
            <a:extLst>
              <a:ext uri="{FF2B5EF4-FFF2-40B4-BE49-F238E27FC236}">
                <a16:creationId xmlns:a16="http://schemas.microsoft.com/office/drawing/2014/main" id="{ED51D775-23BB-0C6B-C8F5-779C47850CD9}"/>
              </a:ext>
            </a:extLst>
          </p:cNvPr>
          <p:cNvCxnSpPr>
            <a:stCxn id="2" idx="3"/>
          </p:cNvCxnSpPr>
          <p:nvPr/>
        </p:nvCxnSpPr>
        <p:spPr>
          <a:xfrm flipV="1">
            <a:off x="1837429" y="2389516"/>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3EFF599A-57C8-A4F2-0988-803C86C573C9}"/>
              </a:ext>
            </a:extLst>
          </p:cNvPr>
          <p:cNvCxnSpPr/>
          <p:nvPr/>
        </p:nvCxnSpPr>
        <p:spPr>
          <a:xfrm flipV="1">
            <a:off x="1846054" y="3227715"/>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梯形 10">
            <a:extLst>
              <a:ext uri="{FF2B5EF4-FFF2-40B4-BE49-F238E27FC236}">
                <a16:creationId xmlns:a16="http://schemas.microsoft.com/office/drawing/2014/main" id="{B3F4B507-9AE8-EC4C-1D41-5EB2D18756F7}"/>
              </a:ext>
            </a:extLst>
          </p:cNvPr>
          <p:cNvSpPr/>
          <p:nvPr/>
        </p:nvSpPr>
        <p:spPr>
          <a:xfrm rot="5400000">
            <a:off x="2255809" y="2173855"/>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梯形 14">
            <a:extLst>
              <a:ext uri="{FF2B5EF4-FFF2-40B4-BE49-F238E27FC236}">
                <a16:creationId xmlns:a16="http://schemas.microsoft.com/office/drawing/2014/main" id="{EC28B957-0626-2C80-FC70-304BE58C606D}"/>
              </a:ext>
            </a:extLst>
          </p:cNvPr>
          <p:cNvSpPr/>
          <p:nvPr/>
        </p:nvSpPr>
        <p:spPr>
          <a:xfrm rot="5400000">
            <a:off x="2255808" y="3012054"/>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箭头连接符 15">
            <a:extLst>
              <a:ext uri="{FF2B5EF4-FFF2-40B4-BE49-F238E27FC236}">
                <a16:creationId xmlns:a16="http://schemas.microsoft.com/office/drawing/2014/main" id="{8576682C-70C1-0E3C-69A6-0F35E88A3722}"/>
              </a:ext>
            </a:extLst>
          </p:cNvPr>
          <p:cNvCxnSpPr/>
          <p:nvPr/>
        </p:nvCxnSpPr>
        <p:spPr>
          <a:xfrm flipV="1">
            <a:off x="2794960" y="2389515"/>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A480E906-0847-8D47-4EAB-1B8DA96CBC7D}"/>
              </a:ext>
            </a:extLst>
          </p:cNvPr>
          <p:cNvCxnSpPr/>
          <p:nvPr/>
        </p:nvCxnSpPr>
        <p:spPr>
          <a:xfrm flipV="1">
            <a:off x="2794960" y="3227713"/>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D512A747-AC6B-FB37-51B0-208EF4149184}"/>
              </a:ext>
            </a:extLst>
          </p:cNvPr>
          <p:cNvSpPr/>
          <p:nvPr/>
        </p:nvSpPr>
        <p:spPr>
          <a:xfrm>
            <a:off x="3321172" y="2126409"/>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9E2209C6-E410-0A88-DD3B-D58A7826379A}"/>
              </a:ext>
            </a:extLst>
          </p:cNvPr>
          <p:cNvSpPr/>
          <p:nvPr/>
        </p:nvSpPr>
        <p:spPr>
          <a:xfrm>
            <a:off x="3321172" y="2958857"/>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3B00A2E9-786C-4B3D-AA3C-EC26A05E911C}"/>
              </a:ext>
            </a:extLst>
          </p:cNvPr>
          <p:cNvSpPr/>
          <p:nvPr/>
        </p:nvSpPr>
        <p:spPr>
          <a:xfrm>
            <a:off x="4698523" y="2126408"/>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D81727E3-E8E2-1E66-B012-95F727B0C1B9}"/>
              </a:ext>
            </a:extLst>
          </p:cNvPr>
          <p:cNvSpPr/>
          <p:nvPr/>
        </p:nvSpPr>
        <p:spPr>
          <a:xfrm>
            <a:off x="4698523" y="2958857"/>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箭头连接符 25">
            <a:extLst>
              <a:ext uri="{FF2B5EF4-FFF2-40B4-BE49-F238E27FC236}">
                <a16:creationId xmlns:a16="http://schemas.microsoft.com/office/drawing/2014/main" id="{F661D8B5-51CE-27D1-F080-D23D720CE265}"/>
              </a:ext>
            </a:extLst>
          </p:cNvPr>
          <p:cNvCxnSpPr>
            <a:cxnSpLocks/>
            <a:endCxn id="20" idx="2"/>
          </p:cNvCxnSpPr>
          <p:nvPr/>
        </p:nvCxnSpPr>
        <p:spPr>
          <a:xfrm>
            <a:off x="3847382" y="2389513"/>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B20CF059-A3EC-9F68-4E57-352DFF97C9C5}"/>
              </a:ext>
            </a:extLst>
          </p:cNvPr>
          <p:cNvCxnSpPr>
            <a:cxnSpLocks/>
          </p:cNvCxnSpPr>
          <p:nvPr/>
        </p:nvCxnSpPr>
        <p:spPr>
          <a:xfrm>
            <a:off x="3847381" y="3221962"/>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8" name="梯形 37">
            <a:extLst>
              <a:ext uri="{FF2B5EF4-FFF2-40B4-BE49-F238E27FC236}">
                <a16:creationId xmlns:a16="http://schemas.microsoft.com/office/drawing/2014/main" id="{65707EF1-6E38-D43F-991B-5DE0C3F9361B}"/>
              </a:ext>
            </a:extLst>
          </p:cNvPr>
          <p:cNvSpPr/>
          <p:nvPr/>
        </p:nvSpPr>
        <p:spPr>
          <a:xfrm rot="5400000">
            <a:off x="2255808" y="3844498"/>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梯形 38">
            <a:extLst>
              <a:ext uri="{FF2B5EF4-FFF2-40B4-BE49-F238E27FC236}">
                <a16:creationId xmlns:a16="http://schemas.microsoft.com/office/drawing/2014/main" id="{AA1535C9-8126-D0DD-7322-4B59AD79C3AC}"/>
              </a:ext>
            </a:extLst>
          </p:cNvPr>
          <p:cNvSpPr/>
          <p:nvPr/>
        </p:nvSpPr>
        <p:spPr>
          <a:xfrm rot="5400000">
            <a:off x="2255807" y="4682697"/>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箭头连接符 39">
            <a:extLst>
              <a:ext uri="{FF2B5EF4-FFF2-40B4-BE49-F238E27FC236}">
                <a16:creationId xmlns:a16="http://schemas.microsoft.com/office/drawing/2014/main" id="{7192A37A-D7A0-2AC8-BF67-89B69F636662}"/>
              </a:ext>
            </a:extLst>
          </p:cNvPr>
          <p:cNvCxnSpPr/>
          <p:nvPr/>
        </p:nvCxnSpPr>
        <p:spPr>
          <a:xfrm flipV="1">
            <a:off x="2794959" y="4060158"/>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54AE9E5E-61D1-200B-446D-12177AEA26C5}"/>
              </a:ext>
            </a:extLst>
          </p:cNvPr>
          <p:cNvCxnSpPr/>
          <p:nvPr/>
        </p:nvCxnSpPr>
        <p:spPr>
          <a:xfrm flipV="1">
            <a:off x="2794959" y="4898356"/>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2" name="椭圆 41">
            <a:extLst>
              <a:ext uri="{FF2B5EF4-FFF2-40B4-BE49-F238E27FC236}">
                <a16:creationId xmlns:a16="http://schemas.microsoft.com/office/drawing/2014/main" id="{6DD2158E-1E1A-47A9-FB97-5E7EC156FBD4}"/>
              </a:ext>
            </a:extLst>
          </p:cNvPr>
          <p:cNvSpPr/>
          <p:nvPr/>
        </p:nvSpPr>
        <p:spPr>
          <a:xfrm>
            <a:off x="3321171" y="3797052"/>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1CE62798-800A-BEBF-8C49-2015E0D82F82}"/>
              </a:ext>
            </a:extLst>
          </p:cNvPr>
          <p:cNvSpPr/>
          <p:nvPr/>
        </p:nvSpPr>
        <p:spPr>
          <a:xfrm>
            <a:off x="3321171" y="4629500"/>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E78F984B-DDC9-A1AC-8D26-B978F86B91E8}"/>
              </a:ext>
            </a:extLst>
          </p:cNvPr>
          <p:cNvSpPr/>
          <p:nvPr/>
        </p:nvSpPr>
        <p:spPr>
          <a:xfrm>
            <a:off x="4698522" y="3797051"/>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C4F28B7D-0398-8EF3-8DB8-5FE09B621CA6}"/>
              </a:ext>
            </a:extLst>
          </p:cNvPr>
          <p:cNvSpPr/>
          <p:nvPr/>
        </p:nvSpPr>
        <p:spPr>
          <a:xfrm>
            <a:off x="4698522" y="4629500"/>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6" name="直接箭头连接符 45">
            <a:extLst>
              <a:ext uri="{FF2B5EF4-FFF2-40B4-BE49-F238E27FC236}">
                <a16:creationId xmlns:a16="http://schemas.microsoft.com/office/drawing/2014/main" id="{4CD9281F-1707-3DFE-0F0F-632A33E99418}"/>
              </a:ext>
            </a:extLst>
          </p:cNvPr>
          <p:cNvCxnSpPr>
            <a:cxnSpLocks/>
            <a:endCxn id="44" idx="2"/>
          </p:cNvCxnSpPr>
          <p:nvPr/>
        </p:nvCxnSpPr>
        <p:spPr>
          <a:xfrm>
            <a:off x="3847381" y="4060156"/>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751A3A8A-A3B4-3CC5-F11B-4FD4B000BA8A}"/>
              </a:ext>
            </a:extLst>
          </p:cNvPr>
          <p:cNvCxnSpPr>
            <a:cxnSpLocks/>
          </p:cNvCxnSpPr>
          <p:nvPr/>
        </p:nvCxnSpPr>
        <p:spPr>
          <a:xfrm>
            <a:off x="3847380" y="4892605"/>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3" name="连接符: 曲线 52">
            <a:extLst>
              <a:ext uri="{FF2B5EF4-FFF2-40B4-BE49-F238E27FC236}">
                <a16:creationId xmlns:a16="http://schemas.microsoft.com/office/drawing/2014/main" id="{7DF4F8EB-4011-3EA6-5D34-B2DE5144CE8D}"/>
              </a:ext>
            </a:extLst>
          </p:cNvPr>
          <p:cNvCxnSpPr>
            <a:cxnSpLocks/>
            <a:stCxn id="18" idx="6"/>
            <a:endCxn id="21" idx="2"/>
          </p:cNvCxnSpPr>
          <p:nvPr/>
        </p:nvCxnSpPr>
        <p:spPr>
          <a:xfrm>
            <a:off x="3847383" y="2389515"/>
            <a:ext cx="851140" cy="832448"/>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57" name="连接符: 曲线 56">
            <a:extLst>
              <a:ext uri="{FF2B5EF4-FFF2-40B4-BE49-F238E27FC236}">
                <a16:creationId xmlns:a16="http://schemas.microsoft.com/office/drawing/2014/main" id="{8A71A28C-6F03-5B29-BE6B-25802E0990CA}"/>
              </a:ext>
            </a:extLst>
          </p:cNvPr>
          <p:cNvCxnSpPr>
            <a:cxnSpLocks/>
            <a:stCxn id="19" idx="6"/>
            <a:endCxn id="44" idx="2"/>
          </p:cNvCxnSpPr>
          <p:nvPr/>
        </p:nvCxnSpPr>
        <p:spPr>
          <a:xfrm>
            <a:off x="3847383" y="3221963"/>
            <a:ext cx="851139" cy="838194"/>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60" name="连接符: 曲线 59">
            <a:extLst>
              <a:ext uri="{FF2B5EF4-FFF2-40B4-BE49-F238E27FC236}">
                <a16:creationId xmlns:a16="http://schemas.microsoft.com/office/drawing/2014/main" id="{D7DEAC75-5E63-C5FB-7222-197E8588DBF9}"/>
              </a:ext>
            </a:extLst>
          </p:cNvPr>
          <p:cNvCxnSpPr>
            <a:cxnSpLocks/>
          </p:cNvCxnSpPr>
          <p:nvPr/>
        </p:nvCxnSpPr>
        <p:spPr>
          <a:xfrm>
            <a:off x="3847382" y="4054406"/>
            <a:ext cx="851139" cy="838194"/>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2E9C7F0A-9C36-7135-48B2-A217568545CC}"/>
              </a:ext>
            </a:extLst>
          </p:cNvPr>
          <p:cNvCxnSpPr>
            <a:cxnSpLocks/>
          </p:cNvCxnSpPr>
          <p:nvPr/>
        </p:nvCxnSpPr>
        <p:spPr>
          <a:xfrm>
            <a:off x="4272950" y="2760445"/>
            <a:ext cx="0" cy="83244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18E04EC8-3AB6-48AF-D6FA-98761C7BA96A}"/>
              </a:ext>
            </a:extLst>
          </p:cNvPr>
          <p:cNvCxnSpPr>
            <a:cxnSpLocks/>
          </p:cNvCxnSpPr>
          <p:nvPr/>
        </p:nvCxnSpPr>
        <p:spPr>
          <a:xfrm>
            <a:off x="4272950" y="3592894"/>
            <a:ext cx="0" cy="83244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3" name="椭圆 72">
            <a:extLst>
              <a:ext uri="{FF2B5EF4-FFF2-40B4-BE49-F238E27FC236}">
                <a16:creationId xmlns:a16="http://schemas.microsoft.com/office/drawing/2014/main" id="{ED7E1019-9E48-3F8D-1AA5-BD7D1B35E626}"/>
              </a:ext>
            </a:extLst>
          </p:cNvPr>
          <p:cNvSpPr/>
          <p:nvPr/>
        </p:nvSpPr>
        <p:spPr>
          <a:xfrm>
            <a:off x="8082933" y="2109151"/>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070205BC-7024-3FBD-AC57-75F32B9B319E}"/>
              </a:ext>
            </a:extLst>
          </p:cNvPr>
          <p:cNvSpPr/>
          <p:nvPr/>
        </p:nvSpPr>
        <p:spPr>
          <a:xfrm>
            <a:off x="8082933" y="2941600"/>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E1CAEC65-A36D-5B79-6A51-D02ADCB6F69A}"/>
              </a:ext>
            </a:extLst>
          </p:cNvPr>
          <p:cNvSpPr/>
          <p:nvPr/>
        </p:nvSpPr>
        <p:spPr>
          <a:xfrm>
            <a:off x="8082932" y="3779794"/>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C7B6B45B-77F2-998B-65F7-C0AFE6C345CA}"/>
              </a:ext>
            </a:extLst>
          </p:cNvPr>
          <p:cNvSpPr/>
          <p:nvPr/>
        </p:nvSpPr>
        <p:spPr>
          <a:xfrm>
            <a:off x="8082932" y="4612243"/>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8" name="直接箭头连接符 87">
            <a:extLst>
              <a:ext uri="{FF2B5EF4-FFF2-40B4-BE49-F238E27FC236}">
                <a16:creationId xmlns:a16="http://schemas.microsoft.com/office/drawing/2014/main" id="{5503C9F0-D05A-5F3B-8911-AE3E463473EA}"/>
              </a:ext>
            </a:extLst>
          </p:cNvPr>
          <p:cNvCxnSpPr>
            <a:cxnSpLocks/>
            <a:stCxn id="20" idx="6"/>
          </p:cNvCxnSpPr>
          <p:nvPr/>
        </p:nvCxnSpPr>
        <p:spPr>
          <a:xfrm flipV="1">
            <a:off x="5224734" y="2372256"/>
            <a:ext cx="854028" cy="172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9EA4A843-323E-1ABD-BBD8-102811982E4C}"/>
              </a:ext>
            </a:extLst>
          </p:cNvPr>
          <p:cNvCxnSpPr>
            <a:cxnSpLocks/>
          </p:cNvCxnSpPr>
          <p:nvPr/>
        </p:nvCxnSpPr>
        <p:spPr>
          <a:xfrm>
            <a:off x="5227620" y="3204704"/>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51A46387-ECD0-E125-6020-2FE46AF97F4C}"/>
              </a:ext>
            </a:extLst>
          </p:cNvPr>
          <p:cNvCxnSpPr>
            <a:cxnSpLocks/>
            <a:stCxn id="44" idx="6"/>
          </p:cNvCxnSpPr>
          <p:nvPr/>
        </p:nvCxnSpPr>
        <p:spPr>
          <a:xfrm flipV="1">
            <a:off x="5224733" y="4042899"/>
            <a:ext cx="854028" cy="172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a:extLst>
              <a:ext uri="{FF2B5EF4-FFF2-40B4-BE49-F238E27FC236}">
                <a16:creationId xmlns:a16="http://schemas.microsoft.com/office/drawing/2014/main" id="{350EB209-0672-6425-6361-5DAE104D3FB1}"/>
              </a:ext>
            </a:extLst>
          </p:cNvPr>
          <p:cNvCxnSpPr>
            <a:cxnSpLocks/>
            <a:stCxn id="45" idx="6"/>
          </p:cNvCxnSpPr>
          <p:nvPr/>
        </p:nvCxnSpPr>
        <p:spPr>
          <a:xfrm flipV="1">
            <a:off x="5224733" y="4881092"/>
            <a:ext cx="854027" cy="115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6" name="连接符: 曲线 95">
            <a:extLst>
              <a:ext uri="{FF2B5EF4-FFF2-40B4-BE49-F238E27FC236}">
                <a16:creationId xmlns:a16="http://schemas.microsoft.com/office/drawing/2014/main" id="{309D9C2C-2D4E-D943-154F-87AD4313F18E}"/>
              </a:ext>
            </a:extLst>
          </p:cNvPr>
          <p:cNvCxnSpPr>
            <a:cxnSpLocks/>
            <a:stCxn id="20" idx="6"/>
          </p:cNvCxnSpPr>
          <p:nvPr/>
        </p:nvCxnSpPr>
        <p:spPr>
          <a:xfrm>
            <a:off x="5224734" y="2389514"/>
            <a:ext cx="854028" cy="815191"/>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97" name="连接符: 曲线 96">
            <a:extLst>
              <a:ext uri="{FF2B5EF4-FFF2-40B4-BE49-F238E27FC236}">
                <a16:creationId xmlns:a16="http://schemas.microsoft.com/office/drawing/2014/main" id="{7A4418E7-2DF6-9CEC-CCF5-2AB65EF10F26}"/>
              </a:ext>
            </a:extLst>
          </p:cNvPr>
          <p:cNvCxnSpPr>
            <a:cxnSpLocks/>
            <a:stCxn id="21" idx="6"/>
          </p:cNvCxnSpPr>
          <p:nvPr/>
        </p:nvCxnSpPr>
        <p:spPr>
          <a:xfrm>
            <a:off x="5224734" y="3221963"/>
            <a:ext cx="854027" cy="820936"/>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98" name="连接符: 曲线 97">
            <a:extLst>
              <a:ext uri="{FF2B5EF4-FFF2-40B4-BE49-F238E27FC236}">
                <a16:creationId xmlns:a16="http://schemas.microsoft.com/office/drawing/2014/main" id="{264B9FEA-3088-E8E2-F89E-09F03F532097}"/>
              </a:ext>
            </a:extLst>
          </p:cNvPr>
          <p:cNvCxnSpPr>
            <a:cxnSpLocks/>
            <a:stCxn id="44" idx="6"/>
          </p:cNvCxnSpPr>
          <p:nvPr/>
        </p:nvCxnSpPr>
        <p:spPr>
          <a:xfrm>
            <a:off x="5224733" y="4060157"/>
            <a:ext cx="854027" cy="815185"/>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62CA25CF-5985-4087-8B75-8ADC515A0676}"/>
              </a:ext>
            </a:extLst>
          </p:cNvPr>
          <p:cNvCxnSpPr>
            <a:cxnSpLocks/>
          </p:cNvCxnSpPr>
          <p:nvPr/>
        </p:nvCxnSpPr>
        <p:spPr>
          <a:xfrm>
            <a:off x="5653189" y="2743187"/>
            <a:ext cx="0" cy="83244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A30835E8-1CF4-C1BD-D58D-0E6430E3C554}"/>
              </a:ext>
            </a:extLst>
          </p:cNvPr>
          <p:cNvCxnSpPr>
            <a:cxnSpLocks/>
          </p:cNvCxnSpPr>
          <p:nvPr/>
        </p:nvCxnSpPr>
        <p:spPr>
          <a:xfrm>
            <a:off x="5653189" y="3575636"/>
            <a:ext cx="0" cy="83244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3" name="椭圆 102">
            <a:extLst>
              <a:ext uri="{FF2B5EF4-FFF2-40B4-BE49-F238E27FC236}">
                <a16:creationId xmlns:a16="http://schemas.microsoft.com/office/drawing/2014/main" id="{0DA25B45-4913-1EEB-E718-031AB0F7C47E}"/>
              </a:ext>
            </a:extLst>
          </p:cNvPr>
          <p:cNvSpPr/>
          <p:nvPr/>
        </p:nvSpPr>
        <p:spPr>
          <a:xfrm>
            <a:off x="6242669" y="2273052"/>
            <a:ext cx="198407" cy="198407"/>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51475E0E-819E-63B2-7C33-D17EC273FE5E}"/>
              </a:ext>
            </a:extLst>
          </p:cNvPr>
          <p:cNvSpPr/>
          <p:nvPr/>
        </p:nvSpPr>
        <p:spPr>
          <a:xfrm>
            <a:off x="6505765" y="2273051"/>
            <a:ext cx="198407" cy="198407"/>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a:extLst>
              <a:ext uri="{FF2B5EF4-FFF2-40B4-BE49-F238E27FC236}">
                <a16:creationId xmlns:a16="http://schemas.microsoft.com/office/drawing/2014/main" id="{CA8A49DC-40C9-C4A0-D67E-844387CA3FA1}"/>
              </a:ext>
            </a:extLst>
          </p:cNvPr>
          <p:cNvSpPr/>
          <p:nvPr/>
        </p:nvSpPr>
        <p:spPr>
          <a:xfrm>
            <a:off x="6768861" y="2273050"/>
            <a:ext cx="198407" cy="198407"/>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a:extLst>
              <a:ext uri="{FF2B5EF4-FFF2-40B4-BE49-F238E27FC236}">
                <a16:creationId xmlns:a16="http://schemas.microsoft.com/office/drawing/2014/main" id="{DF87C652-E48E-DC6B-0B74-E2BC62158712}"/>
              </a:ext>
            </a:extLst>
          </p:cNvPr>
          <p:cNvSpPr/>
          <p:nvPr/>
        </p:nvSpPr>
        <p:spPr>
          <a:xfrm>
            <a:off x="6242669" y="3105502"/>
            <a:ext cx="198407" cy="198407"/>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a:extLst>
              <a:ext uri="{FF2B5EF4-FFF2-40B4-BE49-F238E27FC236}">
                <a16:creationId xmlns:a16="http://schemas.microsoft.com/office/drawing/2014/main" id="{A433F81C-5497-682A-2F17-C9357B6179DE}"/>
              </a:ext>
            </a:extLst>
          </p:cNvPr>
          <p:cNvSpPr/>
          <p:nvPr/>
        </p:nvSpPr>
        <p:spPr>
          <a:xfrm>
            <a:off x="6505765" y="3105501"/>
            <a:ext cx="198407" cy="198407"/>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a:extLst>
              <a:ext uri="{FF2B5EF4-FFF2-40B4-BE49-F238E27FC236}">
                <a16:creationId xmlns:a16="http://schemas.microsoft.com/office/drawing/2014/main" id="{5717736F-048B-97D7-9AFD-6BACDE828BC5}"/>
              </a:ext>
            </a:extLst>
          </p:cNvPr>
          <p:cNvSpPr/>
          <p:nvPr/>
        </p:nvSpPr>
        <p:spPr>
          <a:xfrm>
            <a:off x="6768861" y="3105500"/>
            <a:ext cx="198407" cy="198407"/>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a:extLst>
              <a:ext uri="{FF2B5EF4-FFF2-40B4-BE49-F238E27FC236}">
                <a16:creationId xmlns:a16="http://schemas.microsoft.com/office/drawing/2014/main" id="{16FE4BDC-C233-5ED9-6CE3-8AD5635140B5}"/>
              </a:ext>
            </a:extLst>
          </p:cNvPr>
          <p:cNvSpPr/>
          <p:nvPr/>
        </p:nvSpPr>
        <p:spPr>
          <a:xfrm>
            <a:off x="6242669" y="3937946"/>
            <a:ext cx="198407" cy="198407"/>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a:extLst>
              <a:ext uri="{FF2B5EF4-FFF2-40B4-BE49-F238E27FC236}">
                <a16:creationId xmlns:a16="http://schemas.microsoft.com/office/drawing/2014/main" id="{FE953233-5CFC-163C-883F-4AE06E3AFD9F}"/>
              </a:ext>
            </a:extLst>
          </p:cNvPr>
          <p:cNvSpPr/>
          <p:nvPr/>
        </p:nvSpPr>
        <p:spPr>
          <a:xfrm>
            <a:off x="6505765" y="3937945"/>
            <a:ext cx="198407" cy="198407"/>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a:extLst>
              <a:ext uri="{FF2B5EF4-FFF2-40B4-BE49-F238E27FC236}">
                <a16:creationId xmlns:a16="http://schemas.microsoft.com/office/drawing/2014/main" id="{AA542C45-8DD3-9C93-4934-E3F721699E73}"/>
              </a:ext>
            </a:extLst>
          </p:cNvPr>
          <p:cNvSpPr/>
          <p:nvPr/>
        </p:nvSpPr>
        <p:spPr>
          <a:xfrm>
            <a:off x="6768861" y="3937944"/>
            <a:ext cx="198407" cy="198407"/>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a:extLst>
              <a:ext uri="{FF2B5EF4-FFF2-40B4-BE49-F238E27FC236}">
                <a16:creationId xmlns:a16="http://schemas.microsoft.com/office/drawing/2014/main" id="{12C387E2-1621-6549-1EF2-6A7F98E00F04}"/>
              </a:ext>
            </a:extLst>
          </p:cNvPr>
          <p:cNvSpPr/>
          <p:nvPr/>
        </p:nvSpPr>
        <p:spPr>
          <a:xfrm>
            <a:off x="6242669" y="4770390"/>
            <a:ext cx="198407" cy="198407"/>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a:extLst>
              <a:ext uri="{FF2B5EF4-FFF2-40B4-BE49-F238E27FC236}">
                <a16:creationId xmlns:a16="http://schemas.microsoft.com/office/drawing/2014/main" id="{09AEC6DA-3DA2-71A1-DA66-EB3BA3B53736}"/>
              </a:ext>
            </a:extLst>
          </p:cNvPr>
          <p:cNvSpPr/>
          <p:nvPr/>
        </p:nvSpPr>
        <p:spPr>
          <a:xfrm>
            <a:off x="6505765" y="4770389"/>
            <a:ext cx="198407" cy="198407"/>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a:extLst>
              <a:ext uri="{FF2B5EF4-FFF2-40B4-BE49-F238E27FC236}">
                <a16:creationId xmlns:a16="http://schemas.microsoft.com/office/drawing/2014/main" id="{9431DF88-7A90-D207-E1B5-C4C605699BA5}"/>
              </a:ext>
            </a:extLst>
          </p:cNvPr>
          <p:cNvSpPr/>
          <p:nvPr/>
        </p:nvSpPr>
        <p:spPr>
          <a:xfrm>
            <a:off x="6768861" y="4770388"/>
            <a:ext cx="198407" cy="198407"/>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5" name="直接箭头连接符 114">
            <a:extLst>
              <a:ext uri="{FF2B5EF4-FFF2-40B4-BE49-F238E27FC236}">
                <a16:creationId xmlns:a16="http://schemas.microsoft.com/office/drawing/2014/main" id="{A19B09DC-0847-73B4-D5F7-F3A344055E9D}"/>
              </a:ext>
            </a:extLst>
          </p:cNvPr>
          <p:cNvCxnSpPr>
            <a:cxnSpLocks/>
            <a:endCxn id="73" idx="2"/>
          </p:cNvCxnSpPr>
          <p:nvPr/>
        </p:nvCxnSpPr>
        <p:spPr>
          <a:xfrm>
            <a:off x="7231797" y="2372255"/>
            <a:ext cx="851136" cy="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C32905B7-FD77-8628-C3C0-7DEF09415075}"/>
              </a:ext>
            </a:extLst>
          </p:cNvPr>
          <p:cNvCxnSpPr>
            <a:cxnSpLocks/>
          </p:cNvCxnSpPr>
          <p:nvPr/>
        </p:nvCxnSpPr>
        <p:spPr>
          <a:xfrm>
            <a:off x="7231796" y="3204704"/>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id="{EEBCAE1C-87A1-E322-90C4-0B9D6B58B69F}"/>
              </a:ext>
            </a:extLst>
          </p:cNvPr>
          <p:cNvCxnSpPr>
            <a:cxnSpLocks/>
          </p:cNvCxnSpPr>
          <p:nvPr/>
        </p:nvCxnSpPr>
        <p:spPr>
          <a:xfrm>
            <a:off x="7231796" y="4042898"/>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a:extLst>
              <a:ext uri="{FF2B5EF4-FFF2-40B4-BE49-F238E27FC236}">
                <a16:creationId xmlns:a16="http://schemas.microsoft.com/office/drawing/2014/main" id="{EB9FE3AD-4672-1D54-A7D6-2AC4D7FE03EF}"/>
              </a:ext>
            </a:extLst>
          </p:cNvPr>
          <p:cNvCxnSpPr>
            <a:cxnSpLocks/>
            <a:endCxn id="78" idx="2"/>
          </p:cNvCxnSpPr>
          <p:nvPr/>
        </p:nvCxnSpPr>
        <p:spPr>
          <a:xfrm>
            <a:off x="7231795" y="4875347"/>
            <a:ext cx="851137" cy="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9" name="连接符: 曲线 118">
            <a:extLst>
              <a:ext uri="{FF2B5EF4-FFF2-40B4-BE49-F238E27FC236}">
                <a16:creationId xmlns:a16="http://schemas.microsoft.com/office/drawing/2014/main" id="{E784A7AC-5B13-843A-874E-47E12C6BD15E}"/>
              </a:ext>
            </a:extLst>
          </p:cNvPr>
          <p:cNvCxnSpPr>
            <a:cxnSpLocks/>
            <a:endCxn id="74" idx="2"/>
          </p:cNvCxnSpPr>
          <p:nvPr/>
        </p:nvCxnSpPr>
        <p:spPr>
          <a:xfrm>
            <a:off x="7231798" y="2372257"/>
            <a:ext cx="851135" cy="832449"/>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120" name="连接符: 曲线 119">
            <a:extLst>
              <a:ext uri="{FF2B5EF4-FFF2-40B4-BE49-F238E27FC236}">
                <a16:creationId xmlns:a16="http://schemas.microsoft.com/office/drawing/2014/main" id="{127DAB6D-0B2A-4640-2659-D012B55A3834}"/>
              </a:ext>
            </a:extLst>
          </p:cNvPr>
          <p:cNvCxnSpPr>
            <a:cxnSpLocks/>
            <a:endCxn id="77" idx="2"/>
          </p:cNvCxnSpPr>
          <p:nvPr/>
        </p:nvCxnSpPr>
        <p:spPr>
          <a:xfrm>
            <a:off x="7231798" y="3204705"/>
            <a:ext cx="851134" cy="838195"/>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121" name="连接符: 曲线 120">
            <a:extLst>
              <a:ext uri="{FF2B5EF4-FFF2-40B4-BE49-F238E27FC236}">
                <a16:creationId xmlns:a16="http://schemas.microsoft.com/office/drawing/2014/main" id="{ADF3D1B7-D5E7-D3FA-2F7F-BAB6B3A04022}"/>
              </a:ext>
            </a:extLst>
          </p:cNvPr>
          <p:cNvCxnSpPr>
            <a:cxnSpLocks/>
            <a:endCxn id="78" idx="2"/>
          </p:cNvCxnSpPr>
          <p:nvPr/>
        </p:nvCxnSpPr>
        <p:spPr>
          <a:xfrm>
            <a:off x="7231797" y="4037148"/>
            <a:ext cx="851135" cy="838201"/>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CC28BA65-E0E1-E5B6-DBF1-6962460CECE6}"/>
              </a:ext>
            </a:extLst>
          </p:cNvPr>
          <p:cNvCxnSpPr>
            <a:cxnSpLocks/>
          </p:cNvCxnSpPr>
          <p:nvPr/>
        </p:nvCxnSpPr>
        <p:spPr>
          <a:xfrm>
            <a:off x="7657365" y="2760445"/>
            <a:ext cx="0" cy="81519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5CAF4D07-40C4-0105-DECD-B56D948D5D73}"/>
              </a:ext>
            </a:extLst>
          </p:cNvPr>
          <p:cNvCxnSpPr>
            <a:cxnSpLocks/>
          </p:cNvCxnSpPr>
          <p:nvPr/>
        </p:nvCxnSpPr>
        <p:spPr>
          <a:xfrm>
            <a:off x="7657365" y="3575636"/>
            <a:ext cx="0" cy="9101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0" name="直接箭头连接符 139">
            <a:extLst>
              <a:ext uri="{FF2B5EF4-FFF2-40B4-BE49-F238E27FC236}">
                <a16:creationId xmlns:a16="http://schemas.microsoft.com/office/drawing/2014/main" id="{AD7A58CB-53D8-7E3C-5E22-170FEE1DBA8D}"/>
              </a:ext>
            </a:extLst>
          </p:cNvPr>
          <p:cNvCxnSpPr>
            <a:cxnSpLocks/>
            <a:stCxn id="73" idx="6"/>
            <a:endCxn id="144" idx="0"/>
          </p:cNvCxnSpPr>
          <p:nvPr/>
        </p:nvCxnSpPr>
        <p:spPr>
          <a:xfrm flipV="1">
            <a:off x="8609144" y="2368200"/>
            <a:ext cx="526193" cy="40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1" name="直接箭头连接符 140">
            <a:extLst>
              <a:ext uri="{FF2B5EF4-FFF2-40B4-BE49-F238E27FC236}">
                <a16:creationId xmlns:a16="http://schemas.microsoft.com/office/drawing/2014/main" id="{D1FD4855-BA0B-EEBE-BE29-07AD63599286}"/>
              </a:ext>
            </a:extLst>
          </p:cNvPr>
          <p:cNvCxnSpPr>
            <a:cxnSpLocks/>
            <a:stCxn id="74" idx="6"/>
            <a:endCxn id="151" idx="0"/>
          </p:cNvCxnSpPr>
          <p:nvPr/>
        </p:nvCxnSpPr>
        <p:spPr>
          <a:xfrm flipV="1">
            <a:off x="8609144" y="3203521"/>
            <a:ext cx="526190" cy="118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2" name="直接箭头连接符 141">
            <a:extLst>
              <a:ext uri="{FF2B5EF4-FFF2-40B4-BE49-F238E27FC236}">
                <a16:creationId xmlns:a16="http://schemas.microsoft.com/office/drawing/2014/main" id="{59942C70-AF41-9D7E-00B4-C4407DB5DB38}"/>
              </a:ext>
            </a:extLst>
          </p:cNvPr>
          <p:cNvCxnSpPr>
            <a:cxnSpLocks/>
            <a:stCxn id="77" idx="6"/>
            <a:endCxn id="152" idx="0"/>
          </p:cNvCxnSpPr>
          <p:nvPr/>
        </p:nvCxnSpPr>
        <p:spPr>
          <a:xfrm>
            <a:off x="8609143" y="4042900"/>
            <a:ext cx="517521" cy="14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3" name="直接箭头连接符 142">
            <a:extLst>
              <a:ext uri="{FF2B5EF4-FFF2-40B4-BE49-F238E27FC236}">
                <a16:creationId xmlns:a16="http://schemas.microsoft.com/office/drawing/2014/main" id="{78BEB6E9-DA32-112C-0D8D-56332B3FBFD8}"/>
              </a:ext>
            </a:extLst>
          </p:cNvPr>
          <p:cNvCxnSpPr>
            <a:cxnSpLocks/>
            <a:stCxn id="78" idx="6"/>
            <a:endCxn id="153" idx="0"/>
          </p:cNvCxnSpPr>
          <p:nvPr/>
        </p:nvCxnSpPr>
        <p:spPr>
          <a:xfrm flipV="1">
            <a:off x="8609143" y="4873883"/>
            <a:ext cx="526189" cy="14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4" name="梯形 143">
            <a:extLst>
              <a:ext uri="{FF2B5EF4-FFF2-40B4-BE49-F238E27FC236}">
                <a16:creationId xmlns:a16="http://schemas.microsoft.com/office/drawing/2014/main" id="{984D58F1-E3E8-653D-7D94-84333E57D826}"/>
              </a:ext>
            </a:extLst>
          </p:cNvPr>
          <p:cNvSpPr/>
          <p:nvPr/>
        </p:nvSpPr>
        <p:spPr>
          <a:xfrm rot="16200000">
            <a:off x="9027507" y="2152539"/>
            <a:ext cx="646981" cy="431322"/>
          </a:xfrm>
          <a:prstGeom prst="trapezoid">
            <a:avLst/>
          </a:prstGeom>
          <a:noFill/>
          <a:ln w="381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梯形 150">
            <a:extLst>
              <a:ext uri="{FF2B5EF4-FFF2-40B4-BE49-F238E27FC236}">
                <a16:creationId xmlns:a16="http://schemas.microsoft.com/office/drawing/2014/main" id="{11E473FE-8CC5-CB02-23B3-03EBD6E9227B}"/>
              </a:ext>
            </a:extLst>
          </p:cNvPr>
          <p:cNvSpPr/>
          <p:nvPr/>
        </p:nvSpPr>
        <p:spPr>
          <a:xfrm rot="16200000">
            <a:off x="9027504" y="2987860"/>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梯形 151">
            <a:extLst>
              <a:ext uri="{FF2B5EF4-FFF2-40B4-BE49-F238E27FC236}">
                <a16:creationId xmlns:a16="http://schemas.microsoft.com/office/drawing/2014/main" id="{5DE7DADE-F48D-36BC-3B52-BFB0D27C7D7B}"/>
              </a:ext>
            </a:extLst>
          </p:cNvPr>
          <p:cNvSpPr/>
          <p:nvPr/>
        </p:nvSpPr>
        <p:spPr>
          <a:xfrm rot="16200000">
            <a:off x="9018834" y="3828639"/>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3" name="梯形 152">
            <a:extLst>
              <a:ext uri="{FF2B5EF4-FFF2-40B4-BE49-F238E27FC236}">
                <a16:creationId xmlns:a16="http://schemas.microsoft.com/office/drawing/2014/main" id="{2B0C0763-4767-7FDD-9B44-3A6D62A2CE98}"/>
              </a:ext>
            </a:extLst>
          </p:cNvPr>
          <p:cNvSpPr/>
          <p:nvPr/>
        </p:nvSpPr>
        <p:spPr>
          <a:xfrm rot="16200000">
            <a:off x="9027502" y="4658222"/>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4" name="直接箭头连接符 163">
            <a:extLst>
              <a:ext uri="{FF2B5EF4-FFF2-40B4-BE49-F238E27FC236}">
                <a16:creationId xmlns:a16="http://schemas.microsoft.com/office/drawing/2014/main" id="{DCAC3EA6-7F66-6AE1-AD23-5E08B85F3352}"/>
              </a:ext>
            </a:extLst>
          </p:cNvPr>
          <p:cNvCxnSpPr>
            <a:cxnSpLocks/>
            <a:endCxn id="38" idx="2"/>
          </p:cNvCxnSpPr>
          <p:nvPr/>
        </p:nvCxnSpPr>
        <p:spPr>
          <a:xfrm>
            <a:off x="1836006" y="4060160"/>
            <a:ext cx="52763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7" name="直接箭头连接符 166">
            <a:extLst>
              <a:ext uri="{FF2B5EF4-FFF2-40B4-BE49-F238E27FC236}">
                <a16:creationId xmlns:a16="http://schemas.microsoft.com/office/drawing/2014/main" id="{16149DF9-D6D4-95F8-98E3-15DBD773CA9E}"/>
              </a:ext>
            </a:extLst>
          </p:cNvPr>
          <p:cNvCxnSpPr>
            <a:cxnSpLocks/>
            <a:endCxn id="39" idx="2"/>
          </p:cNvCxnSpPr>
          <p:nvPr/>
        </p:nvCxnSpPr>
        <p:spPr>
          <a:xfrm>
            <a:off x="1846054" y="4898359"/>
            <a:ext cx="51758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1" name="弧形 170">
            <a:extLst>
              <a:ext uri="{FF2B5EF4-FFF2-40B4-BE49-F238E27FC236}">
                <a16:creationId xmlns:a16="http://schemas.microsoft.com/office/drawing/2014/main" id="{6E3387BF-4150-9377-00EE-3C05928EFEBA}"/>
              </a:ext>
            </a:extLst>
          </p:cNvPr>
          <p:cNvSpPr/>
          <p:nvPr/>
        </p:nvSpPr>
        <p:spPr>
          <a:xfrm flipH="1" flipV="1">
            <a:off x="1447854" y="3766866"/>
            <a:ext cx="792144" cy="293288"/>
          </a:xfrm>
          <a:prstGeom prst="arc">
            <a:avLst>
              <a:gd name="adj1" fmla="val 16384094"/>
              <a:gd name="adj2" fmla="val 5022831"/>
            </a:avLst>
          </a:prstGeom>
          <a:ln w="38100">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2" name="弧形 171">
            <a:extLst>
              <a:ext uri="{FF2B5EF4-FFF2-40B4-BE49-F238E27FC236}">
                <a16:creationId xmlns:a16="http://schemas.microsoft.com/office/drawing/2014/main" id="{E16B2A6F-451D-7F87-8634-8189E6D68B3D}"/>
              </a:ext>
            </a:extLst>
          </p:cNvPr>
          <p:cNvSpPr/>
          <p:nvPr/>
        </p:nvSpPr>
        <p:spPr>
          <a:xfrm flipH="1" flipV="1">
            <a:off x="1476604" y="4607915"/>
            <a:ext cx="792144" cy="293288"/>
          </a:xfrm>
          <a:prstGeom prst="arc">
            <a:avLst>
              <a:gd name="adj1" fmla="val 16384094"/>
              <a:gd name="adj2" fmla="val 5022831"/>
            </a:avLst>
          </a:prstGeom>
          <a:ln w="38100">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3" name="矩形: 圆角 172">
            <a:extLst>
              <a:ext uri="{FF2B5EF4-FFF2-40B4-BE49-F238E27FC236}">
                <a16:creationId xmlns:a16="http://schemas.microsoft.com/office/drawing/2014/main" id="{15C8EC5C-D0EC-C0F9-06EC-FE9566F3CF15}"/>
              </a:ext>
            </a:extLst>
          </p:cNvPr>
          <p:cNvSpPr/>
          <p:nvPr/>
        </p:nvSpPr>
        <p:spPr>
          <a:xfrm>
            <a:off x="9954884" y="2989034"/>
            <a:ext cx="577970" cy="431321"/>
          </a:xfrm>
          <a:prstGeom prst="roundRect">
            <a:avLst>
              <a:gd name="adj" fmla="val 32609"/>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accent1"/>
                </a:solidFill>
              </a:rPr>
              <a:t>is</a:t>
            </a:r>
            <a:endParaRPr lang="zh-CN" altLang="en-US" sz="2400" dirty="0">
              <a:solidFill>
                <a:schemeClr val="accent1"/>
              </a:solidFill>
            </a:endParaRPr>
          </a:p>
        </p:txBody>
      </p:sp>
      <p:sp>
        <p:nvSpPr>
          <p:cNvPr id="174" name="矩形: 圆角 173">
            <a:extLst>
              <a:ext uri="{FF2B5EF4-FFF2-40B4-BE49-F238E27FC236}">
                <a16:creationId xmlns:a16="http://schemas.microsoft.com/office/drawing/2014/main" id="{073F11F4-9C25-DFF4-D1EF-741CCC7CA626}"/>
              </a:ext>
            </a:extLst>
          </p:cNvPr>
          <p:cNvSpPr/>
          <p:nvPr/>
        </p:nvSpPr>
        <p:spPr>
          <a:xfrm>
            <a:off x="9954883" y="3835867"/>
            <a:ext cx="431323" cy="431321"/>
          </a:xfrm>
          <a:prstGeom prst="roundRect">
            <a:avLst>
              <a:gd name="adj" fmla="val 32609"/>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accent1"/>
                </a:solidFill>
              </a:rPr>
              <a:t>a</a:t>
            </a:r>
            <a:endParaRPr lang="zh-CN" altLang="en-US" sz="2400" dirty="0">
              <a:solidFill>
                <a:schemeClr val="accent1"/>
              </a:solidFill>
            </a:endParaRPr>
          </a:p>
        </p:txBody>
      </p:sp>
      <p:sp>
        <p:nvSpPr>
          <p:cNvPr id="175" name="矩形: 圆角 174">
            <a:extLst>
              <a:ext uri="{FF2B5EF4-FFF2-40B4-BE49-F238E27FC236}">
                <a16:creationId xmlns:a16="http://schemas.microsoft.com/office/drawing/2014/main" id="{C4901021-F721-9E67-0A13-07445B9669C1}"/>
              </a:ext>
            </a:extLst>
          </p:cNvPr>
          <p:cNvSpPr/>
          <p:nvPr/>
        </p:nvSpPr>
        <p:spPr>
          <a:xfrm>
            <a:off x="9954883" y="4665431"/>
            <a:ext cx="1250830" cy="431321"/>
          </a:xfrm>
          <a:prstGeom prst="roundRect">
            <a:avLst>
              <a:gd name="adj" fmla="val 32609"/>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accent1"/>
                </a:solidFill>
              </a:rPr>
              <a:t>country</a:t>
            </a:r>
            <a:endParaRPr lang="zh-CN" altLang="en-US" sz="2400" dirty="0">
              <a:solidFill>
                <a:schemeClr val="accent1"/>
              </a:solidFill>
            </a:endParaRPr>
          </a:p>
        </p:txBody>
      </p:sp>
      <p:cxnSp>
        <p:nvCxnSpPr>
          <p:cNvPr id="176" name="直接箭头连接符 175">
            <a:extLst>
              <a:ext uri="{FF2B5EF4-FFF2-40B4-BE49-F238E27FC236}">
                <a16:creationId xmlns:a16="http://schemas.microsoft.com/office/drawing/2014/main" id="{1C88B978-62D7-2845-FF6D-DCAE1195F68E}"/>
              </a:ext>
            </a:extLst>
          </p:cNvPr>
          <p:cNvCxnSpPr>
            <a:cxnSpLocks/>
            <a:endCxn id="173" idx="1"/>
          </p:cNvCxnSpPr>
          <p:nvPr/>
        </p:nvCxnSpPr>
        <p:spPr>
          <a:xfrm>
            <a:off x="9566654" y="3203521"/>
            <a:ext cx="388230" cy="11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8" name="直接箭头连接符 177">
            <a:extLst>
              <a:ext uri="{FF2B5EF4-FFF2-40B4-BE49-F238E27FC236}">
                <a16:creationId xmlns:a16="http://schemas.microsoft.com/office/drawing/2014/main" id="{DE0A24E6-59F6-C8B5-75EC-9B7912EE496A}"/>
              </a:ext>
            </a:extLst>
          </p:cNvPr>
          <p:cNvCxnSpPr>
            <a:cxnSpLocks/>
            <a:stCxn id="152" idx="2"/>
            <a:endCxn id="174" idx="1"/>
          </p:cNvCxnSpPr>
          <p:nvPr/>
        </p:nvCxnSpPr>
        <p:spPr>
          <a:xfrm>
            <a:off x="9557986" y="4044300"/>
            <a:ext cx="396897" cy="722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1" name="直接箭头连接符 180">
            <a:extLst>
              <a:ext uri="{FF2B5EF4-FFF2-40B4-BE49-F238E27FC236}">
                <a16:creationId xmlns:a16="http://schemas.microsoft.com/office/drawing/2014/main" id="{41FF9BC5-4DFF-99C3-FB6D-1FA8727F27DB}"/>
              </a:ext>
            </a:extLst>
          </p:cNvPr>
          <p:cNvCxnSpPr>
            <a:cxnSpLocks/>
            <a:stCxn id="153" idx="2"/>
            <a:endCxn id="175" idx="1"/>
          </p:cNvCxnSpPr>
          <p:nvPr/>
        </p:nvCxnSpPr>
        <p:spPr>
          <a:xfrm>
            <a:off x="9566654" y="4873883"/>
            <a:ext cx="388229" cy="720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8" name="椭圆 187">
            <a:extLst>
              <a:ext uri="{FF2B5EF4-FFF2-40B4-BE49-F238E27FC236}">
                <a16:creationId xmlns:a16="http://schemas.microsoft.com/office/drawing/2014/main" id="{9D2AAF6C-7AB0-2A2D-837D-312E3E8B7B87}"/>
              </a:ext>
            </a:extLst>
          </p:cNvPr>
          <p:cNvSpPr/>
          <p:nvPr/>
        </p:nvSpPr>
        <p:spPr>
          <a:xfrm>
            <a:off x="1512519" y="5688666"/>
            <a:ext cx="161026" cy="161026"/>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a:extLst>
              <a:ext uri="{FF2B5EF4-FFF2-40B4-BE49-F238E27FC236}">
                <a16:creationId xmlns:a16="http://schemas.microsoft.com/office/drawing/2014/main" id="{4D6AA676-83CA-D455-2BEE-E00091BB905D}"/>
              </a:ext>
            </a:extLst>
          </p:cNvPr>
          <p:cNvSpPr/>
          <p:nvPr/>
        </p:nvSpPr>
        <p:spPr>
          <a:xfrm>
            <a:off x="1775615" y="5688665"/>
            <a:ext cx="161026" cy="161026"/>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0" name="椭圆 189">
            <a:extLst>
              <a:ext uri="{FF2B5EF4-FFF2-40B4-BE49-F238E27FC236}">
                <a16:creationId xmlns:a16="http://schemas.microsoft.com/office/drawing/2014/main" id="{53E6AC54-E246-105A-8591-4908F2D9E339}"/>
              </a:ext>
            </a:extLst>
          </p:cNvPr>
          <p:cNvSpPr/>
          <p:nvPr/>
        </p:nvSpPr>
        <p:spPr>
          <a:xfrm>
            <a:off x="2038711" y="5688664"/>
            <a:ext cx="161026" cy="161026"/>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1" name="椭圆 190">
            <a:extLst>
              <a:ext uri="{FF2B5EF4-FFF2-40B4-BE49-F238E27FC236}">
                <a16:creationId xmlns:a16="http://schemas.microsoft.com/office/drawing/2014/main" id="{02045689-7B5C-D46A-D4BC-3D6E19B9CA68}"/>
              </a:ext>
            </a:extLst>
          </p:cNvPr>
          <p:cNvSpPr/>
          <p:nvPr/>
        </p:nvSpPr>
        <p:spPr>
          <a:xfrm>
            <a:off x="4701408" y="2953107"/>
            <a:ext cx="526211" cy="539146"/>
          </a:xfrm>
          <a:prstGeom prst="ellipse">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3" name="直接箭头连接符 192">
            <a:extLst>
              <a:ext uri="{FF2B5EF4-FFF2-40B4-BE49-F238E27FC236}">
                <a16:creationId xmlns:a16="http://schemas.microsoft.com/office/drawing/2014/main" id="{75B26378-DA1D-2534-64B4-CB93B54B9CF5}"/>
              </a:ext>
            </a:extLst>
          </p:cNvPr>
          <p:cNvCxnSpPr>
            <a:cxnSpLocks/>
            <a:stCxn id="191" idx="5"/>
          </p:cNvCxnSpPr>
          <p:nvPr/>
        </p:nvCxnSpPr>
        <p:spPr>
          <a:xfrm>
            <a:off x="5150557" y="3413297"/>
            <a:ext cx="502632" cy="2098982"/>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94" name="矩形 193">
            <a:extLst>
              <a:ext uri="{FF2B5EF4-FFF2-40B4-BE49-F238E27FC236}">
                <a16:creationId xmlns:a16="http://schemas.microsoft.com/office/drawing/2014/main" id="{B1612C10-083D-476E-A6E2-B7CBCEB150D7}"/>
              </a:ext>
            </a:extLst>
          </p:cNvPr>
          <p:cNvSpPr/>
          <p:nvPr/>
        </p:nvSpPr>
        <p:spPr>
          <a:xfrm>
            <a:off x="4065457" y="5586985"/>
            <a:ext cx="5630166" cy="523220"/>
          </a:xfrm>
          <a:prstGeom prst="rect">
            <a:avLst/>
          </a:prstGeom>
        </p:spPr>
        <p:txBody>
          <a:bodyPr wrap="square">
            <a:spAutoFit/>
          </a:bodyPr>
          <a:lstStyle/>
          <a:p>
            <a:pPr lvl="0"/>
            <a:r>
              <a:rPr lang="en-US" altLang="zh-CN" sz="2800" dirty="0">
                <a:solidFill>
                  <a:schemeClr val="accent2"/>
                </a:solidFill>
                <a:ea typeface="Gulim" panose="020B0600000101010101" pitchFamily="34" charset="-127"/>
              </a:rPr>
              <a:t>There might be knowledge in the</a:t>
            </a:r>
          </a:p>
        </p:txBody>
      </p:sp>
      <p:sp>
        <p:nvSpPr>
          <p:cNvPr id="4" name="矩形 3">
            <a:extLst>
              <a:ext uri="{FF2B5EF4-FFF2-40B4-BE49-F238E27FC236}">
                <a16:creationId xmlns:a16="http://schemas.microsoft.com/office/drawing/2014/main" id="{1AC3680C-8472-B261-C7CF-B9377C9E050A}"/>
              </a:ext>
            </a:extLst>
          </p:cNvPr>
          <p:cNvSpPr/>
          <p:nvPr/>
        </p:nvSpPr>
        <p:spPr>
          <a:xfrm>
            <a:off x="1134718" y="259702"/>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Model Evaluation</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sp>
        <p:nvSpPr>
          <p:cNvPr id="5" name="矩形 4">
            <a:extLst>
              <a:ext uri="{FF2B5EF4-FFF2-40B4-BE49-F238E27FC236}">
                <a16:creationId xmlns:a16="http://schemas.microsoft.com/office/drawing/2014/main" id="{31CEC885-E436-A53C-56A7-851D74C6F171}"/>
              </a:ext>
            </a:extLst>
          </p:cNvPr>
          <p:cNvSpPr/>
          <p:nvPr/>
        </p:nvSpPr>
        <p:spPr>
          <a:xfrm>
            <a:off x="4065457" y="6095984"/>
            <a:ext cx="5630166" cy="523220"/>
          </a:xfrm>
          <a:prstGeom prst="rect">
            <a:avLst/>
          </a:prstGeom>
        </p:spPr>
        <p:txBody>
          <a:bodyPr wrap="square">
            <a:spAutoFit/>
          </a:bodyPr>
          <a:lstStyle/>
          <a:p>
            <a:pPr lvl="0"/>
            <a:r>
              <a:rPr lang="en-US" altLang="zh-CN" sz="2800" dirty="0">
                <a:solidFill>
                  <a:schemeClr val="accent2"/>
                </a:solidFill>
                <a:ea typeface="Gulim" panose="020B0600000101010101" pitchFamily="34" charset="-127"/>
              </a:rPr>
              <a:t> “</a:t>
            </a:r>
            <a:r>
              <a:rPr lang="en-US" altLang="zh-CN" sz="2800" b="1" dirty="0">
                <a:solidFill>
                  <a:schemeClr val="accent2"/>
                </a:solidFill>
                <a:ea typeface="Gulim" panose="020B0600000101010101" pitchFamily="34" charset="-127"/>
              </a:rPr>
              <a:t>hidden state</a:t>
            </a:r>
            <a:r>
              <a:rPr lang="en-US" altLang="zh-CN" sz="2800" dirty="0">
                <a:solidFill>
                  <a:schemeClr val="accent2"/>
                </a:solidFill>
                <a:ea typeface="Gulim" panose="020B0600000101010101" pitchFamily="34" charset="-127"/>
              </a:rPr>
              <a:t>” that not being used!</a:t>
            </a:r>
          </a:p>
        </p:txBody>
      </p:sp>
    </p:spTree>
    <p:extLst>
      <p:ext uri="{BB962C8B-B14F-4D97-AF65-F5344CB8AC3E}">
        <p14:creationId xmlns:p14="http://schemas.microsoft.com/office/powerpoint/2010/main" val="3258202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50AAF-2F65-AD78-B83B-BF16363FD6C4}"/>
            </a:ext>
          </a:extLst>
        </p:cNvPr>
        <p:cNvGrpSpPr/>
        <p:nvPr/>
      </p:nvGrpSpPr>
      <p:grpSpPr>
        <a:xfrm>
          <a:off x="0" y="0"/>
          <a:ext cx="0" cy="0"/>
          <a:chOff x="0" y="0"/>
          <a:chExt cx="0" cy="0"/>
        </a:xfrm>
      </p:grpSpPr>
      <p:cxnSp>
        <p:nvCxnSpPr>
          <p:cNvPr id="93" name="直接连接符 92">
            <a:extLst>
              <a:ext uri="{FF2B5EF4-FFF2-40B4-BE49-F238E27FC236}">
                <a16:creationId xmlns:a16="http://schemas.microsoft.com/office/drawing/2014/main" id="{BE7FD387-995D-BC01-68BD-2237ADC788AC}"/>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等腰三角形 33">
            <a:extLst>
              <a:ext uri="{FF2B5EF4-FFF2-40B4-BE49-F238E27FC236}">
                <a16:creationId xmlns:a16="http://schemas.microsoft.com/office/drawing/2014/main" id="{F390E78C-8EC5-AF8D-427D-238147ACC00F}"/>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E63AF930-4B19-06E2-5C96-5A11A9839466}"/>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2</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sp>
        <p:nvSpPr>
          <p:cNvPr id="6" name="矩形 5">
            <a:extLst>
              <a:ext uri="{FF2B5EF4-FFF2-40B4-BE49-F238E27FC236}">
                <a16:creationId xmlns:a16="http://schemas.microsoft.com/office/drawing/2014/main" id="{ED0B6DA1-F294-C18A-CAC7-D04DEC684831}"/>
              </a:ext>
            </a:extLst>
          </p:cNvPr>
          <p:cNvSpPr/>
          <p:nvPr/>
        </p:nvSpPr>
        <p:spPr>
          <a:xfrm>
            <a:off x="6326759" y="305868"/>
            <a:ext cx="4206094" cy="954107"/>
          </a:xfrm>
          <a:prstGeom prst="rect">
            <a:avLst/>
          </a:prstGeom>
        </p:spPr>
        <p:txBody>
          <a:bodyPr wrap="square">
            <a:spAutoFit/>
          </a:bodyPr>
          <a:lstStyle/>
          <a:p>
            <a:pPr lvl="0"/>
            <a:r>
              <a:rPr lang="en-US" altLang="zh-CN" sz="2800" b="1" dirty="0">
                <a:solidFill>
                  <a:schemeClr val="bg1"/>
                </a:solidFill>
                <a:ea typeface="Gulim" panose="020B0600000101010101" pitchFamily="34" charset="-127"/>
              </a:rPr>
              <a:t>Decoder-only</a:t>
            </a:r>
            <a:r>
              <a:rPr lang="en-US" altLang="zh-CN" sz="2800" dirty="0">
                <a:solidFill>
                  <a:schemeClr val="bg1"/>
                </a:solidFill>
                <a:ea typeface="Gulim" panose="020B0600000101010101" pitchFamily="34" charset="-127"/>
              </a:rPr>
              <a:t> architecture</a:t>
            </a:r>
          </a:p>
          <a:p>
            <a:pPr marL="457200" lvl="0" indent="-457200">
              <a:buFont typeface="Arial" panose="020B0604020202020204" pitchFamily="34" charset="0"/>
              <a:buChar char="•"/>
            </a:pPr>
            <a:endParaRPr lang="en-US" altLang="zh-CN" sz="2800" dirty="0">
              <a:solidFill>
                <a:schemeClr val="bg1"/>
              </a:solidFill>
              <a:ea typeface="Gulim" panose="020B0600000101010101" pitchFamily="34" charset="-127"/>
            </a:endParaRPr>
          </a:p>
        </p:txBody>
      </p:sp>
      <p:sp>
        <p:nvSpPr>
          <p:cNvPr id="4" name="矩形 3">
            <a:extLst>
              <a:ext uri="{FF2B5EF4-FFF2-40B4-BE49-F238E27FC236}">
                <a16:creationId xmlns:a16="http://schemas.microsoft.com/office/drawing/2014/main" id="{D89CAB78-F284-DDB7-732B-900E9F78DA33}"/>
              </a:ext>
            </a:extLst>
          </p:cNvPr>
          <p:cNvSpPr/>
          <p:nvPr/>
        </p:nvSpPr>
        <p:spPr>
          <a:xfrm>
            <a:off x="1134718" y="259702"/>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Model Evaluation</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pic>
        <p:nvPicPr>
          <p:cNvPr id="7" name="图片 6">
            <a:extLst>
              <a:ext uri="{FF2B5EF4-FFF2-40B4-BE49-F238E27FC236}">
                <a16:creationId xmlns:a16="http://schemas.microsoft.com/office/drawing/2014/main" id="{4F9F11FF-00A4-4812-A31F-730506C9D9F5}"/>
              </a:ext>
            </a:extLst>
          </p:cNvPr>
          <p:cNvPicPr>
            <a:picLocks noChangeAspect="1"/>
          </p:cNvPicPr>
          <p:nvPr/>
        </p:nvPicPr>
        <p:blipFill>
          <a:blip r:embed="rId3"/>
          <a:stretch>
            <a:fillRect/>
          </a:stretch>
        </p:blipFill>
        <p:spPr>
          <a:xfrm>
            <a:off x="0" y="1574479"/>
            <a:ext cx="4600292" cy="3946103"/>
          </a:xfrm>
          <a:prstGeom prst="rect">
            <a:avLst/>
          </a:prstGeom>
        </p:spPr>
      </p:pic>
      <p:pic>
        <p:nvPicPr>
          <p:cNvPr id="12" name="图片 11">
            <a:extLst>
              <a:ext uri="{FF2B5EF4-FFF2-40B4-BE49-F238E27FC236}">
                <a16:creationId xmlns:a16="http://schemas.microsoft.com/office/drawing/2014/main" id="{A8B0C5D2-9ECE-4759-1B7F-2A7AD36AF39C}"/>
              </a:ext>
            </a:extLst>
          </p:cNvPr>
          <p:cNvPicPr>
            <a:picLocks noChangeAspect="1"/>
          </p:cNvPicPr>
          <p:nvPr/>
        </p:nvPicPr>
        <p:blipFill>
          <a:blip r:embed="rId4"/>
          <a:stretch>
            <a:fillRect/>
          </a:stretch>
        </p:blipFill>
        <p:spPr>
          <a:xfrm>
            <a:off x="8244492" y="1574479"/>
            <a:ext cx="3916174" cy="5249865"/>
          </a:xfrm>
          <a:prstGeom prst="rect">
            <a:avLst/>
          </a:prstGeom>
        </p:spPr>
      </p:pic>
      <p:pic>
        <p:nvPicPr>
          <p:cNvPr id="14" name="图片 13">
            <a:extLst>
              <a:ext uri="{FF2B5EF4-FFF2-40B4-BE49-F238E27FC236}">
                <a16:creationId xmlns:a16="http://schemas.microsoft.com/office/drawing/2014/main" id="{2D6BF6E3-97BF-6B64-6201-01F896C156AB}"/>
              </a:ext>
            </a:extLst>
          </p:cNvPr>
          <p:cNvPicPr>
            <a:picLocks noChangeAspect="1"/>
          </p:cNvPicPr>
          <p:nvPr/>
        </p:nvPicPr>
        <p:blipFill>
          <a:blip r:embed="rId5"/>
          <a:stretch>
            <a:fillRect/>
          </a:stretch>
        </p:blipFill>
        <p:spPr>
          <a:xfrm>
            <a:off x="1405006" y="2571463"/>
            <a:ext cx="6711300" cy="3716797"/>
          </a:xfrm>
          <a:prstGeom prst="rect">
            <a:avLst/>
          </a:prstGeom>
        </p:spPr>
      </p:pic>
      <p:sp>
        <p:nvSpPr>
          <p:cNvPr id="2" name="矩形 1">
            <a:extLst>
              <a:ext uri="{FF2B5EF4-FFF2-40B4-BE49-F238E27FC236}">
                <a16:creationId xmlns:a16="http://schemas.microsoft.com/office/drawing/2014/main" id="{E915119F-6372-7CCB-FC95-D5E02F73EA66}"/>
              </a:ext>
            </a:extLst>
          </p:cNvPr>
          <p:cNvSpPr/>
          <p:nvPr/>
        </p:nvSpPr>
        <p:spPr>
          <a:xfrm>
            <a:off x="4065457" y="5586985"/>
            <a:ext cx="5630166" cy="523220"/>
          </a:xfrm>
          <a:prstGeom prst="rect">
            <a:avLst/>
          </a:prstGeom>
        </p:spPr>
        <p:txBody>
          <a:bodyPr wrap="square">
            <a:spAutoFit/>
          </a:bodyPr>
          <a:lstStyle/>
          <a:p>
            <a:pPr lvl="0"/>
            <a:r>
              <a:rPr lang="en-US" altLang="zh-CN" sz="2800" dirty="0">
                <a:solidFill>
                  <a:schemeClr val="accent2"/>
                </a:solidFill>
                <a:ea typeface="Gulim" panose="020B0600000101010101" pitchFamily="34" charset="-127"/>
              </a:rPr>
              <a:t>There might be knowledge in the</a:t>
            </a:r>
          </a:p>
        </p:txBody>
      </p:sp>
      <p:sp>
        <p:nvSpPr>
          <p:cNvPr id="3" name="矩形 2">
            <a:extLst>
              <a:ext uri="{FF2B5EF4-FFF2-40B4-BE49-F238E27FC236}">
                <a16:creationId xmlns:a16="http://schemas.microsoft.com/office/drawing/2014/main" id="{C34E4649-1B3B-D4FD-95C3-E908576EC3B9}"/>
              </a:ext>
            </a:extLst>
          </p:cNvPr>
          <p:cNvSpPr/>
          <p:nvPr/>
        </p:nvSpPr>
        <p:spPr>
          <a:xfrm>
            <a:off x="4065457" y="6095984"/>
            <a:ext cx="5630166" cy="523220"/>
          </a:xfrm>
          <a:prstGeom prst="rect">
            <a:avLst/>
          </a:prstGeom>
        </p:spPr>
        <p:txBody>
          <a:bodyPr wrap="square">
            <a:spAutoFit/>
          </a:bodyPr>
          <a:lstStyle/>
          <a:p>
            <a:pPr lvl="0"/>
            <a:r>
              <a:rPr lang="en-US" altLang="zh-CN" sz="2800" dirty="0">
                <a:solidFill>
                  <a:schemeClr val="accent2"/>
                </a:solidFill>
                <a:ea typeface="Gulim" panose="020B0600000101010101" pitchFamily="34" charset="-127"/>
              </a:rPr>
              <a:t> “</a:t>
            </a:r>
            <a:r>
              <a:rPr lang="en-US" altLang="zh-CN" sz="2800" b="1" dirty="0">
                <a:solidFill>
                  <a:schemeClr val="accent2"/>
                </a:solidFill>
                <a:ea typeface="Gulim" panose="020B0600000101010101" pitchFamily="34" charset="-127"/>
              </a:rPr>
              <a:t>hidden state</a:t>
            </a:r>
            <a:r>
              <a:rPr lang="en-US" altLang="zh-CN" sz="2800" dirty="0">
                <a:solidFill>
                  <a:schemeClr val="accent2"/>
                </a:solidFill>
                <a:ea typeface="Gulim" panose="020B0600000101010101" pitchFamily="34" charset="-127"/>
              </a:rPr>
              <a:t>” that not being used!</a:t>
            </a:r>
          </a:p>
        </p:txBody>
      </p:sp>
    </p:spTree>
    <p:extLst>
      <p:ext uri="{BB962C8B-B14F-4D97-AF65-F5344CB8AC3E}">
        <p14:creationId xmlns:p14="http://schemas.microsoft.com/office/powerpoint/2010/main" val="18947068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2.91667E-6 2.22222E-6 L -0.32122 -0.65787 " pathEditMode="relative" rAng="0" ptsTypes="AA">
                                      <p:cBhvr>
                                        <p:cTn id="6" dur="2000" fill="hold"/>
                                        <p:tgtEl>
                                          <p:spTgt spid="2"/>
                                        </p:tgtEl>
                                        <p:attrNameLst>
                                          <p:attrName>ppt_x</p:attrName>
                                          <p:attrName>ppt_y</p:attrName>
                                        </p:attrNameLst>
                                      </p:cBhvr>
                                      <p:rCtr x="-16068" y="-32894"/>
                                    </p:animMotion>
                                  </p:childTnLst>
                                </p:cTn>
                              </p:par>
                              <p:par>
                                <p:cTn id="7" presetID="42" presetClass="path" presetSubtype="0" accel="50000" decel="50000" fill="hold" grpId="0" nodeType="withEffect">
                                  <p:stCondLst>
                                    <p:cond delay="0"/>
                                  </p:stCondLst>
                                  <p:childTnLst>
                                    <p:animMotion origin="layout" path="M -2.91667E-6 -3.33333E-6 L 0.06914 -0.73125 " pathEditMode="relative" rAng="0" ptsTypes="AA">
                                      <p:cBhvr>
                                        <p:cTn id="8" dur="2000" fill="hold"/>
                                        <p:tgtEl>
                                          <p:spTgt spid="3"/>
                                        </p:tgtEl>
                                        <p:attrNameLst>
                                          <p:attrName>ppt_x</p:attrName>
                                          <p:attrName>ppt_y</p:attrName>
                                        </p:attrNameLst>
                                      </p:cBhvr>
                                      <p:rCtr x="3451" y="-36574"/>
                                    </p:animMotion>
                                  </p:childTnLst>
                                </p:cTn>
                              </p:par>
                            </p:childTnLst>
                          </p:cTn>
                        </p:par>
                        <p:par>
                          <p:cTn id="9" fill="hold">
                            <p:stCondLst>
                              <p:cond delay="2000"/>
                            </p:stCondLst>
                            <p:childTnLst>
                              <p:par>
                                <p:cTn id="10" presetID="42"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1000"/>
                                        <p:tgtEl>
                                          <p:spTgt spid="14"/>
                                        </p:tgtEl>
                                      </p:cBhvr>
                                    </p:animEffect>
                                    <p:anim calcmode="lin" valueType="num">
                                      <p:cBhvr>
                                        <p:cTn id="25" dur="1000" fill="hold"/>
                                        <p:tgtEl>
                                          <p:spTgt spid="14"/>
                                        </p:tgtEl>
                                        <p:attrNameLst>
                                          <p:attrName>ppt_x</p:attrName>
                                        </p:attrNameLst>
                                      </p:cBhvr>
                                      <p:tavLst>
                                        <p:tav tm="0">
                                          <p:val>
                                            <p:strVal val="#ppt_x"/>
                                          </p:val>
                                        </p:tav>
                                        <p:tav tm="100000">
                                          <p:val>
                                            <p:strVal val="#ppt_x"/>
                                          </p:val>
                                        </p:tav>
                                      </p:tavLst>
                                    </p:anim>
                                    <p:anim calcmode="lin" valueType="num">
                                      <p:cBhvr>
                                        <p:cTn id="2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C2F93-EB6C-3AE3-2960-61E621FD83B5}"/>
            </a:ext>
          </a:extLst>
        </p:cNvPr>
        <p:cNvGrpSpPr/>
        <p:nvPr/>
      </p:nvGrpSpPr>
      <p:grpSpPr>
        <a:xfrm>
          <a:off x="0" y="0"/>
          <a:ext cx="0" cy="0"/>
          <a:chOff x="0" y="0"/>
          <a:chExt cx="0" cy="0"/>
        </a:xfrm>
      </p:grpSpPr>
      <p:cxnSp>
        <p:nvCxnSpPr>
          <p:cNvPr id="93" name="直接连接符 92">
            <a:extLst>
              <a:ext uri="{FF2B5EF4-FFF2-40B4-BE49-F238E27FC236}">
                <a16:creationId xmlns:a16="http://schemas.microsoft.com/office/drawing/2014/main" id="{C26FEFD9-6CB6-77AB-C89F-AAE2FBA606AC}"/>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等腰三角形 33">
            <a:extLst>
              <a:ext uri="{FF2B5EF4-FFF2-40B4-BE49-F238E27FC236}">
                <a16:creationId xmlns:a16="http://schemas.microsoft.com/office/drawing/2014/main" id="{E787C8CD-5C1E-3B4A-B963-21CE2B79FCC2}"/>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DAAA8CA6-5A5F-6BD9-6863-B64B134E4488}"/>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2</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sp>
        <p:nvSpPr>
          <p:cNvPr id="6" name="矩形 5">
            <a:extLst>
              <a:ext uri="{FF2B5EF4-FFF2-40B4-BE49-F238E27FC236}">
                <a16:creationId xmlns:a16="http://schemas.microsoft.com/office/drawing/2014/main" id="{7062D0A2-D937-DA53-C335-92447B10BB3F}"/>
              </a:ext>
            </a:extLst>
          </p:cNvPr>
          <p:cNvSpPr/>
          <p:nvPr/>
        </p:nvSpPr>
        <p:spPr>
          <a:xfrm>
            <a:off x="6326759" y="305868"/>
            <a:ext cx="4206094" cy="954107"/>
          </a:xfrm>
          <a:prstGeom prst="rect">
            <a:avLst/>
          </a:prstGeom>
        </p:spPr>
        <p:txBody>
          <a:bodyPr wrap="square">
            <a:spAutoFit/>
          </a:bodyPr>
          <a:lstStyle/>
          <a:p>
            <a:pPr lvl="0"/>
            <a:r>
              <a:rPr lang="en-US" altLang="zh-CN" sz="2800" b="1" dirty="0">
                <a:solidFill>
                  <a:schemeClr val="bg1"/>
                </a:solidFill>
                <a:ea typeface="Gulim" panose="020B0600000101010101" pitchFamily="34" charset="-127"/>
              </a:rPr>
              <a:t>Decoder-only</a:t>
            </a:r>
            <a:r>
              <a:rPr lang="en-US" altLang="zh-CN" sz="2800" dirty="0">
                <a:solidFill>
                  <a:schemeClr val="bg1"/>
                </a:solidFill>
                <a:ea typeface="Gulim" panose="020B0600000101010101" pitchFamily="34" charset="-127"/>
              </a:rPr>
              <a:t> architecture</a:t>
            </a:r>
          </a:p>
          <a:p>
            <a:pPr marL="457200" lvl="0" indent="-457200">
              <a:buFont typeface="Arial" panose="020B0604020202020204" pitchFamily="34" charset="0"/>
              <a:buChar char="•"/>
            </a:pPr>
            <a:endParaRPr lang="en-US" altLang="zh-CN" sz="2800" dirty="0">
              <a:solidFill>
                <a:schemeClr val="bg1"/>
              </a:solidFill>
              <a:ea typeface="Gulim" panose="020B0600000101010101" pitchFamily="34" charset="-127"/>
            </a:endParaRPr>
          </a:p>
        </p:txBody>
      </p:sp>
      <p:sp>
        <p:nvSpPr>
          <p:cNvPr id="194" name="矩形 193">
            <a:extLst>
              <a:ext uri="{FF2B5EF4-FFF2-40B4-BE49-F238E27FC236}">
                <a16:creationId xmlns:a16="http://schemas.microsoft.com/office/drawing/2014/main" id="{C2830E58-AB27-B830-A881-BACA884E1E63}"/>
              </a:ext>
            </a:extLst>
          </p:cNvPr>
          <p:cNvSpPr/>
          <p:nvPr/>
        </p:nvSpPr>
        <p:spPr>
          <a:xfrm>
            <a:off x="149639" y="1082604"/>
            <a:ext cx="11570915" cy="523220"/>
          </a:xfrm>
          <a:prstGeom prst="rect">
            <a:avLst/>
          </a:prstGeom>
        </p:spPr>
        <p:txBody>
          <a:bodyPr wrap="square">
            <a:spAutoFit/>
          </a:bodyPr>
          <a:lstStyle/>
          <a:p>
            <a:pPr lvl="0"/>
            <a:r>
              <a:rPr lang="en-US" altLang="zh-CN" sz="2800" dirty="0">
                <a:solidFill>
                  <a:schemeClr val="accent2"/>
                </a:solidFill>
                <a:ea typeface="Gulim" panose="020B0600000101010101" pitchFamily="34" charset="-127"/>
              </a:rPr>
              <a:t>There might be knowledge in the “</a:t>
            </a:r>
            <a:r>
              <a:rPr lang="en-US" altLang="zh-CN" sz="2800" b="1" dirty="0">
                <a:solidFill>
                  <a:schemeClr val="accent2"/>
                </a:solidFill>
                <a:ea typeface="Gulim" panose="020B0600000101010101" pitchFamily="34" charset="-127"/>
              </a:rPr>
              <a:t>hidden state</a:t>
            </a:r>
            <a:r>
              <a:rPr lang="en-US" altLang="zh-CN" sz="2800" dirty="0">
                <a:solidFill>
                  <a:schemeClr val="accent2"/>
                </a:solidFill>
                <a:ea typeface="Gulim" panose="020B0600000101010101" pitchFamily="34" charset="-127"/>
              </a:rPr>
              <a:t>” that not being used!</a:t>
            </a:r>
          </a:p>
        </p:txBody>
      </p:sp>
      <p:sp>
        <p:nvSpPr>
          <p:cNvPr id="4" name="矩形 3">
            <a:extLst>
              <a:ext uri="{FF2B5EF4-FFF2-40B4-BE49-F238E27FC236}">
                <a16:creationId xmlns:a16="http://schemas.microsoft.com/office/drawing/2014/main" id="{9B77486A-0BB8-22D2-F51C-509C8C7BA257}"/>
              </a:ext>
            </a:extLst>
          </p:cNvPr>
          <p:cNvSpPr/>
          <p:nvPr/>
        </p:nvSpPr>
        <p:spPr>
          <a:xfrm>
            <a:off x="1134718" y="259702"/>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Model Evaluation</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sp>
        <p:nvSpPr>
          <p:cNvPr id="3" name="矩形 2">
            <a:extLst>
              <a:ext uri="{FF2B5EF4-FFF2-40B4-BE49-F238E27FC236}">
                <a16:creationId xmlns:a16="http://schemas.microsoft.com/office/drawing/2014/main" id="{5F0CCA30-ECCA-2D5E-A3E6-AE797D0FCDB4}"/>
              </a:ext>
            </a:extLst>
          </p:cNvPr>
          <p:cNvSpPr/>
          <p:nvPr/>
        </p:nvSpPr>
        <p:spPr>
          <a:xfrm>
            <a:off x="149639" y="2474893"/>
            <a:ext cx="11570915" cy="1815882"/>
          </a:xfrm>
          <a:prstGeom prst="rect">
            <a:avLst/>
          </a:prstGeom>
        </p:spPr>
        <p:txBody>
          <a:bodyPr wrap="square">
            <a:spAutoFit/>
          </a:bodyPr>
          <a:lstStyle/>
          <a:p>
            <a:pPr lvl="0"/>
            <a:r>
              <a:rPr lang="en-US" altLang="zh-CN" sz="2800" dirty="0">
                <a:solidFill>
                  <a:schemeClr val="bg1"/>
                </a:solidFill>
                <a:ea typeface="Gulim" panose="020B0600000101010101" pitchFamily="34" charset="-127"/>
              </a:rPr>
              <a:t>Sometimes the correct answer may be stored in the hidden state, but finally it can’t be decoded successfully and we will get a false answer!</a:t>
            </a:r>
          </a:p>
          <a:p>
            <a:pPr lvl="0"/>
            <a:endParaRPr lang="en-US" altLang="zh-CN" sz="2800" dirty="0">
              <a:solidFill>
                <a:schemeClr val="accent1"/>
              </a:solidFill>
              <a:ea typeface="Gulim" panose="020B0600000101010101" pitchFamily="34" charset="-127"/>
            </a:endParaRPr>
          </a:p>
          <a:p>
            <a:pPr lvl="0"/>
            <a:r>
              <a:rPr lang="en-US" altLang="zh-CN" sz="2800" dirty="0">
                <a:solidFill>
                  <a:schemeClr val="accent1"/>
                </a:solidFill>
                <a:ea typeface="Gulim" panose="020B0600000101010101" pitchFamily="34" charset="-127"/>
              </a:rPr>
              <a:t>So how can we translate the hidden states into natural language?</a:t>
            </a:r>
          </a:p>
        </p:txBody>
      </p:sp>
    </p:spTree>
    <p:extLst>
      <p:ext uri="{BB962C8B-B14F-4D97-AF65-F5344CB8AC3E}">
        <p14:creationId xmlns:p14="http://schemas.microsoft.com/office/powerpoint/2010/main" val="3832581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6AB43-06D0-8599-85E2-2C2F089E9B5D}"/>
            </a:ext>
          </a:extLst>
        </p:cNvPr>
        <p:cNvGrpSpPr/>
        <p:nvPr/>
      </p:nvGrpSpPr>
      <p:grpSpPr>
        <a:xfrm>
          <a:off x="0" y="0"/>
          <a:ext cx="0" cy="0"/>
          <a:chOff x="0" y="0"/>
          <a:chExt cx="0" cy="0"/>
        </a:xfrm>
      </p:grpSpPr>
      <p:cxnSp>
        <p:nvCxnSpPr>
          <p:cNvPr id="93" name="直接连接符 92">
            <a:extLst>
              <a:ext uri="{FF2B5EF4-FFF2-40B4-BE49-F238E27FC236}">
                <a16:creationId xmlns:a16="http://schemas.microsoft.com/office/drawing/2014/main" id="{9F0AA921-4F8A-F8BD-25B8-A182BEE9E24F}"/>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等腰三角形 33">
            <a:extLst>
              <a:ext uri="{FF2B5EF4-FFF2-40B4-BE49-F238E27FC236}">
                <a16:creationId xmlns:a16="http://schemas.microsoft.com/office/drawing/2014/main" id="{86595BEC-8A14-F9EE-820C-41D4A57750EA}"/>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801583B7-598C-60A0-6909-7EE36FD86E35}"/>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2</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sp>
        <p:nvSpPr>
          <p:cNvPr id="6" name="矩形 5">
            <a:extLst>
              <a:ext uri="{FF2B5EF4-FFF2-40B4-BE49-F238E27FC236}">
                <a16:creationId xmlns:a16="http://schemas.microsoft.com/office/drawing/2014/main" id="{C92469FA-1B67-8B48-0058-848D0CC9768B}"/>
              </a:ext>
            </a:extLst>
          </p:cNvPr>
          <p:cNvSpPr/>
          <p:nvPr/>
        </p:nvSpPr>
        <p:spPr>
          <a:xfrm>
            <a:off x="6326759" y="305868"/>
            <a:ext cx="4206094" cy="523220"/>
          </a:xfrm>
          <a:prstGeom prst="rect">
            <a:avLst/>
          </a:prstGeom>
        </p:spPr>
        <p:txBody>
          <a:bodyPr wrap="square">
            <a:spAutoFit/>
          </a:bodyPr>
          <a:lstStyle/>
          <a:p>
            <a:pPr lvl="0"/>
            <a:r>
              <a:rPr lang="en-US" altLang="zh-CN" sz="2800" b="1" dirty="0">
                <a:solidFill>
                  <a:schemeClr val="bg1"/>
                </a:solidFill>
                <a:ea typeface="Gulim" panose="020B0600000101010101" pitchFamily="34" charset="-127"/>
              </a:rPr>
              <a:t>Decoder-only</a:t>
            </a:r>
            <a:r>
              <a:rPr lang="en-US" altLang="zh-CN" sz="2800" dirty="0">
                <a:solidFill>
                  <a:schemeClr val="bg1"/>
                </a:solidFill>
                <a:ea typeface="Gulim" panose="020B0600000101010101" pitchFamily="34" charset="-127"/>
              </a:rPr>
              <a:t> architecture</a:t>
            </a:r>
          </a:p>
        </p:txBody>
      </p:sp>
      <p:sp>
        <p:nvSpPr>
          <p:cNvPr id="2" name="矩形: 圆角 1">
            <a:extLst>
              <a:ext uri="{FF2B5EF4-FFF2-40B4-BE49-F238E27FC236}">
                <a16:creationId xmlns:a16="http://schemas.microsoft.com/office/drawing/2014/main" id="{C6B4513B-4F5A-FC48-8C69-FCF27F23A43F}"/>
              </a:ext>
            </a:extLst>
          </p:cNvPr>
          <p:cNvSpPr/>
          <p:nvPr/>
        </p:nvSpPr>
        <p:spPr>
          <a:xfrm>
            <a:off x="681490" y="2173856"/>
            <a:ext cx="1155939" cy="431321"/>
          </a:xfrm>
          <a:prstGeom prst="roundRect">
            <a:avLst>
              <a:gd name="adj" fmla="val 32609"/>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accent1"/>
                </a:solidFill>
              </a:rPr>
              <a:t>United</a:t>
            </a:r>
            <a:endParaRPr lang="zh-CN" altLang="en-US" sz="2400" dirty="0">
              <a:solidFill>
                <a:schemeClr val="accent1"/>
              </a:solidFill>
            </a:endParaRPr>
          </a:p>
        </p:txBody>
      </p:sp>
      <p:sp>
        <p:nvSpPr>
          <p:cNvPr id="3" name="矩形: 圆角 2">
            <a:extLst>
              <a:ext uri="{FF2B5EF4-FFF2-40B4-BE49-F238E27FC236}">
                <a16:creationId xmlns:a16="http://schemas.microsoft.com/office/drawing/2014/main" id="{0710D931-0DC2-0AA9-C5EE-4699666D2A01}"/>
              </a:ext>
            </a:extLst>
          </p:cNvPr>
          <p:cNvSpPr/>
          <p:nvPr/>
        </p:nvSpPr>
        <p:spPr>
          <a:xfrm>
            <a:off x="397498" y="3012055"/>
            <a:ext cx="1448557" cy="431321"/>
          </a:xfrm>
          <a:prstGeom prst="roundRect">
            <a:avLst>
              <a:gd name="adj" fmla="val 32609"/>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accent1"/>
                </a:solidFill>
              </a:rPr>
              <a:t>Kingdom</a:t>
            </a:r>
            <a:endParaRPr lang="zh-CN" altLang="en-US" sz="2400" dirty="0">
              <a:solidFill>
                <a:schemeClr val="accent1"/>
              </a:solidFill>
            </a:endParaRPr>
          </a:p>
        </p:txBody>
      </p:sp>
      <p:cxnSp>
        <p:nvCxnSpPr>
          <p:cNvPr id="8" name="直接箭头连接符 7">
            <a:extLst>
              <a:ext uri="{FF2B5EF4-FFF2-40B4-BE49-F238E27FC236}">
                <a16:creationId xmlns:a16="http://schemas.microsoft.com/office/drawing/2014/main" id="{9EDA3440-977D-F12D-4277-7C8C79751575}"/>
              </a:ext>
            </a:extLst>
          </p:cNvPr>
          <p:cNvCxnSpPr>
            <a:stCxn id="2" idx="3"/>
          </p:cNvCxnSpPr>
          <p:nvPr/>
        </p:nvCxnSpPr>
        <p:spPr>
          <a:xfrm flipV="1">
            <a:off x="1837429" y="2389516"/>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BBF73955-1FD0-9FC9-75E3-C8322314955C}"/>
              </a:ext>
            </a:extLst>
          </p:cNvPr>
          <p:cNvCxnSpPr/>
          <p:nvPr/>
        </p:nvCxnSpPr>
        <p:spPr>
          <a:xfrm flipV="1">
            <a:off x="1846054" y="3227715"/>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梯形 10">
            <a:extLst>
              <a:ext uri="{FF2B5EF4-FFF2-40B4-BE49-F238E27FC236}">
                <a16:creationId xmlns:a16="http://schemas.microsoft.com/office/drawing/2014/main" id="{8F37C2F4-DD88-AB3B-CD8F-DCFCDAC97107}"/>
              </a:ext>
            </a:extLst>
          </p:cNvPr>
          <p:cNvSpPr/>
          <p:nvPr/>
        </p:nvSpPr>
        <p:spPr>
          <a:xfrm rot="5400000">
            <a:off x="2255809" y="2173855"/>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梯形 14">
            <a:extLst>
              <a:ext uri="{FF2B5EF4-FFF2-40B4-BE49-F238E27FC236}">
                <a16:creationId xmlns:a16="http://schemas.microsoft.com/office/drawing/2014/main" id="{BF45278B-09D0-E08A-F090-B196F2917FB1}"/>
              </a:ext>
            </a:extLst>
          </p:cNvPr>
          <p:cNvSpPr/>
          <p:nvPr/>
        </p:nvSpPr>
        <p:spPr>
          <a:xfrm rot="5400000">
            <a:off x="2255808" y="3012054"/>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箭头连接符 15">
            <a:extLst>
              <a:ext uri="{FF2B5EF4-FFF2-40B4-BE49-F238E27FC236}">
                <a16:creationId xmlns:a16="http://schemas.microsoft.com/office/drawing/2014/main" id="{7C7E1771-4855-2A73-A4FA-1B58CCA1AF0E}"/>
              </a:ext>
            </a:extLst>
          </p:cNvPr>
          <p:cNvCxnSpPr/>
          <p:nvPr/>
        </p:nvCxnSpPr>
        <p:spPr>
          <a:xfrm flipV="1">
            <a:off x="2794960" y="2389515"/>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6E5758C4-8424-E5FF-53A1-AE560ACF5972}"/>
              </a:ext>
            </a:extLst>
          </p:cNvPr>
          <p:cNvCxnSpPr/>
          <p:nvPr/>
        </p:nvCxnSpPr>
        <p:spPr>
          <a:xfrm flipV="1">
            <a:off x="2794960" y="3227713"/>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2DEC2394-7AB4-9D14-8BF9-19D2A2ED2A9B}"/>
              </a:ext>
            </a:extLst>
          </p:cNvPr>
          <p:cNvSpPr/>
          <p:nvPr/>
        </p:nvSpPr>
        <p:spPr>
          <a:xfrm>
            <a:off x="3321172" y="2126409"/>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E1C9ECD6-C017-F01E-F1CD-26AC3C4C1209}"/>
              </a:ext>
            </a:extLst>
          </p:cNvPr>
          <p:cNvSpPr/>
          <p:nvPr/>
        </p:nvSpPr>
        <p:spPr>
          <a:xfrm>
            <a:off x="3321172" y="2958857"/>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7145CA00-E87D-4E42-27DF-9A977B8D4D2E}"/>
              </a:ext>
            </a:extLst>
          </p:cNvPr>
          <p:cNvSpPr/>
          <p:nvPr/>
        </p:nvSpPr>
        <p:spPr>
          <a:xfrm>
            <a:off x="4698523" y="2126408"/>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99E1AD8A-00E4-74D5-16F1-209E394E8402}"/>
              </a:ext>
            </a:extLst>
          </p:cNvPr>
          <p:cNvSpPr/>
          <p:nvPr/>
        </p:nvSpPr>
        <p:spPr>
          <a:xfrm>
            <a:off x="4698523" y="2958857"/>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箭头连接符 25">
            <a:extLst>
              <a:ext uri="{FF2B5EF4-FFF2-40B4-BE49-F238E27FC236}">
                <a16:creationId xmlns:a16="http://schemas.microsoft.com/office/drawing/2014/main" id="{66EC6539-B2A4-B0C8-A269-615964C40691}"/>
              </a:ext>
            </a:extLst>
          </p:cNvPr>
          <p:cNvCxnSpPr>
            <a:cxnSpLocks/>
            <a:endCxn id="20" idx="2"/>
          </p:cNvCxnSpPr>
          <p:nvPr/>
        </p:nvCxnSpPr>
        <p:spPr>
          <a:xfrm>
            <a:off x="3847382" y="2389513"/>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EC15337B-E535-CD09-B5AE-4C0026933F48}"/>
              </a:ext>
            </a:extLst>
          </p:cNvPr>
          <p:cNvCxnSpPr>
            <a:cxnSpLocks/>
          </p:cNvCxnSpPr>
          <p:nvPr/>
        </p:nvCxnSpPr>
        <p:spPr>
          <a:xfrm>
            <a:off x="3847381" y="3221962"/>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8" name="梯形 37">
            <a:extLst>
              <a:ext uri="{FF2B5EF4-FFF2-40B4-BE49-F238E27FC236}">
                <a16:creationId xmlns:a16="http://schemas.microsoft.com/office/drawing/2014/main" id="{8089D42F-5F95-9457-B112-EDDFFC4E723E}"/>
              </a:ext>
            </a:extLst>
          </p:cNvPr>
          <p:cNvSpPr/>
          <p:nvPr/>
        </p:nvSpPr>
        <p:spPr>
          <a:xfrm rot="5400000">
            <a:off x="2255808" y="3844498"/>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梯形 38">
            <a:extLst>
              <a:ext uri="{FF2B5EF4-FFF2-40B4-BE49-F238E27FC236}">
                <a16:creationId xmlns:a16="http://schemas.microsoft.com/office/drawing/2014/main" id="{3BDA2571-96EB-D219-282E-001558B59747}"/>
              </a:ext>
            </a:extLst>
          </p:cNvPr>
          <p:cNvSpPr/>
          <p:nvPr/>
        </p:nvSpPr>
        <p:spPr>
          <a:xfrm rot="5400000">
            <a:off x="2255807" y="4682697"/>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箭头连接符 39">
            <a:extLst>
              <a:ext uri="{FF2B5EF4-FFF2-40B4-BE49-F238E27FC236}">
                <a16:creationId xmlns:a16="http://schemas.microsoft.com/office/drawing/2014/main" id="{C40F6A64-9A6F-DAF3-34A6-5C18F17E13F3}"/>
              </a:ext>
            </a:extLst>
          </p:cNvPr>
          <p:cNvCxnSpPr/>
          <p:nvPr/>
        </p:nvCxnSpPr>
        <p:spPr>
          <a:xfrm flipV="1">
            <a:off x="2794959" y="4060158"/>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0913E502-704A-3E03-49DF-5A6208BA0576}"/>
              </a:ext>
            </a:extLst>
          </p:cNvPr>
          <p:cNvCxnSpPr/>
          <p:nvPr/>
        </p:nvCxnSpPr>
        <p:spPr>
          <a:xfrm flipV="1">
            <a:off x="2794959" y="4898356"/>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2" name="椭圆 41">
            <a:extLst>
              <a:ext uri="{FF2B5EF4-FFF2-40B4-BE49-F238E27FC236}">
                <a16:creationId xmlns:a16="http://schemas.microsoft.com/office/drawing/2014/main" id="{478B4066-A0A0-2FC6-D9FC-2D7B430E5F0E}"/>
              </a:ext>
            </a:extLst>
          </p:cNvPr>
          <p:cNvSpPr/>
          <p:nvPr/>
        </p:nvSpPr>
        <p:spPr>
          <a:xfrm>
            <a:off x="3321171" y="3797052"/>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57C20002-79B9-35F3-9165-478AD950B884}"/>
              </a:ext>
            </a:extLst>
          </p:cNvPr>
          <p:cNvSpPr/>
          <p:nvPr/>
        </p:nvSpPr>
        <p:spPr>
          <a:xfrm>
            <a:off x="3321171" y="4629500"/>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CF142C8B-4047-BBCB-4470-AE8276C9C197}"/>
              </a:ext>
            </a:extLst>
          </p:cNvPr>
          <p:cNvSpPr/>
          <p:nvPr/>
        </p:nvSpPr>
        <p:spPr>
          <a:xfrm>
            <a:off x="4698522" y="3797051"/>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30ECBCDE-BCE2-CCD6-53DC-55FAD76A64FB}"/>
              </a:ext>
            </a:extLst>
          </p:cNvPr>
          <p:cNvSpPr/>
          <p:nvPr/>
        </p:nvSpPr>
        <p:spPr>
          <a:xfrm>
            <a:off x="4698522" y="4629500"/>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6" name="直接箭头连接符 45">
            <a:extLst>
              <a:ext uri="{FF2B5EF4-FFF2-40B4-BE49-F238E27FC236}">
                <a16:creationId xmlns:a16="http://schemas.microsoft.com/office/drawing/2014/main" id="{5876B6E1-9815-348F-7CD8-EFF45D3964FB}"/>
              </a:ext>
            </a:extLst>
          </p:cNvPr>
          <p:cNvCxnSpPr>
            <a:cxnSpLocks/>
            <a:endCxn id="44" idx="2"/>
          </p:cNvCxnSpPr>
          <p:nvPr/>
        </p:nvCxnSpPr>
        <p:spPr>
          <a:xfrm>
            <a:off x="3847381" y="4060156"/>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DB62794D-F066-3038-B335-AB530E77BBC6}"/>
              </a:ext>
            </a:extLst>
          </p:cNvPr>
          <p:cNvCxnSpPr>
            <a:cxnSpLocks/>
          </p:cNvCxnSpPr>
          <p:nvPr/>
        </p:nvCxnSpPr>
        <p:spPr>
          <a:xfrm>
            <a:off x="3847380" y="4892605"/>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3" name="连接符: 曲线 52">
            <a:extLst>
              <a:ext uri="{FF2B5EF4-FFF2-40B4-BE49-F238E27FC236}">
                <a16:creationId xmlns:a16="http://schemas.microsoft.com/office/drawing/2014/main" id="{08209165-A985-F501-341A-8C9D10C6EA5D}"/>
              </a:ext>
            </a:extLst>
          </p:cNvPr>
          <p:cNvCxnSpPr>
            <a:cxnSpLocks/>
            <a:stCxn id="18" idx="6"/>
            <a:endCxn id="21" idx="2"/>
          </p:cNvCxnSpPr>
          <p:nvPr/>
        </p:nvCxnSpPr>
        <p:spPr>
          <a:xfrm>
            <a:off x="3847383" y="2389515"/>
            <a:ext cx="851140" cy="832448"/>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57" name="连接符: 曲线 56">
            <a:extLst>
              <a:ext uri="{FF2B5EF4-FFF2-40B4-BE49-F238E27FC236}">
                <a16:creationId xmlns:a16="http://schemas.microsoft.com/office/drawing/2014/main" id="{A566955C-FCF9-DAE1-A9CE-46391F33E033}"/>
              </a:ext>
            </a:extLst>
          </p:cNvPr>
          <p:cNvCxnSpPr>
            <a:cxnSpLocks/>
            <a:stCxn id="19" idx="6"/>
            <a:endCxn id="44" idx="2"/>
          </p:cNvCxnSpPr>
          <p:nvPr/>
        </p:nvCxnSpPr>
        <p:spPr>
          <a:xfrm>
            <a:off x="3847383" y="3221963"/>
            <a:ext cx="851139" cy="838194"/>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60" name="连接符: 曲线 59">
            <a:extLst>
              <a:ext uri="{FF2B5EF4-FFF2-40B4-BE49-F238E27FC236}">
                <a16:creationId xmlns:a16="http://schemas.microsoft.com/office/drawing/2014/main" id="{D5ED9E1D-9F8C-8B8E-3674-CF189657CD84}"/>
              </a:ext>
            </a:extLst>
          </p:cNvPr>
          <p:cNvCxnSpPr>
            <a:cxnSpLocks/>
          </p:cNvCxnSpPr>
          <p:nvPr/>
        </p:nvCxnSpPr>
        <p:spPr>
          <a:xfrm>
            <a:off x="3847382" y="4054406"/>
            <a:ext cx="851139" cy="838194"/>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C41DA129-508A-DE5B-76FF-894CC8C77AAA}"/>
              </a:ext>
            </a:extLst>
          </p:cNvPr>
          <p:cNvCxnSpPr>
            <a:cxnSpLocks/>
          </p:cNvCxnSpPr>
          <p:nvPr/>
        </p:nvCxnSpPr>
        <p:spPr>
          <a:xfrm>
            <a:off x="4272950" y="2760445"/>
            <a:ext cx="0" cy="83244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AC4D6BC7-7646-6BAA-3F62-0358755958FC}"/>
              </a:ext>
            </a:extLst>
          </p:cNvPr>
          <p:cNvCxnSpPr>
            <a:cxnSpLocks/>
          </p:cNvCxnSpPr>
          <p:nvPr/>
        </p:nvCxnSpPr>
        <p:spPr>
          <a:xfrm>
            <a:off x="4272950" y="3592894"/>
            <a:ext cx="0" cy="83244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3" name="椭圆 72">
            <a:extLst>
              <a:ext uri="{FF2B5EF4-FFF2-40B4-BE49-F238E27FC236}">
                <a16:creationId xmlns:a16="http://schemas.microsoft.com/office/drawing/2014/main" id="{996A22FA-05CC-21F2-55FF-B5DBF23A4CB4}"/>
              </a:ext>
            </a:extLst>
          </p:cNvPr>
          <p:cNvSpPr/>
          <p:nvPr/>
        </p:nvSpPr>
        <p:spPr>
          <a:xfrm>
            <a:off x="8082933" y="2109151"/>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DC2786D4-31F8-9D79-8DFF-FB07925D9E18}"/>
              </a:ext>
            </a:extLst>
          </p:cNvPr>
          <p:cNvSpPr/>
          <p:nvPr/>
        </p:nvSpPr>
        <p:spPr>
          <a:xfrm>
            <a:off x="8082933" y="2941600"/>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EA625826-F738-6F59-4BFB-F8CCB9C27600}"/>
              </a:ext>
            </a:extLst>
          </p:cNvPr>
          <p:cNvSpPr/>
          <p:nvPr/>
        </p:nvSpPr>
        <p:spPr>
          <a:xfrm>
            <a:off x="8082932" y="3779794"/>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44F703AD-3B3F-D753-996B-DEAFD59646F9}"/>
              </a:ext>
            </a:extLst>
          </p:cNvPr>
          <p:cNvSpPr/>
          <p:nvPr/>
        </p:nvSpPr>
        <p:spPr>
          <a:xfrm>
            <a:off x="8082932" y="4612243"/>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8" name="直接箭头连接符 87">
            <a:extLst>
              <a:ext uri="{FF2B5EF4-FFF2-40B4-BE49-F238E27FC236}">
                <a16:creationId xmlns:a16="http://schemas.microsoft.com/office/drawing/2014/main" id="{7E0023E9-F1A2-1427-D1F8-9C6585727F31}"/>
              </a:ext>
            </a:extLst>
          </p:cNvPr>
          <p:cNvCxnSpPr>
            <a:cxnSpLocks/>
            <a:stCxn id="20" idx="6"/>
          </p:cNvCxnSpPr>
          <p:nvPr/>
        </p:nvCxnSpPr>
        <p:spPr>
          <a:xfrm flipV="1">
            <a:off x="5224734" y="2372256"/>
            <a:ext cx="854028" cy="172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2F14FCE1-91C5-3B8A-101C-06B8ABDA1D54}"/>
              </a:ext>
            </a:extLst>
          </p:cNvPr>
          <p:cNvCxnSpPr>
            <a:cxnSpLocks/>
          </p:cNvCxnSpPr>
          <p:nvPr/>
        </p:nvCxnSpPr>
        <p:spPr>
          <a:xfrm>
            <a:off x="5227620" y="3204704"/>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8B8EEBEF-BFF1-B70B-ECDB-A67E8323A83B}"/>
              </a:ext>
            </a:extLst>
          </p:cNvPr>
          <p:cNvCxnSpPr>
            <a:cxnSpLocks/>
            <a:stCxn id="44" idx="6"/>
          </p:cNvCxnSpPr>
          <p:nvPr/>
        </p:nvCxnSpPr>
        <p:spPr>
          <a:xfrm flipV="1">
            <a:off x="5224733" y="4042899"/>
            <a:ext cx="854028" cy="172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a:extLst>
              <a:ext uri="{FF2B5EF4-FFF2-40B4-BE49-F238E27FC236}">
                <a16:creationId xmlns:a16="http://schemas.microsoft.com/office/drawing/2014/main" id="{804093F6-BA27-6EE3-8E8F-478B55CD349E}"/>
              </a:ext>
            </a:extLst>
          </p:cNvPr>
          <p:cNvCxnSpPr>
            <a:cxnSpLocks/>
            <a:stCxn id="45" idx="6"/>
          </p:cNvCxnSpPr>
          <p:nvPr/>
        </p:nvCxnSpPr>
        <p:spPr>
          <a:xfrm flipV="1">
            <a:off x="5224733" y="4881092"/>
            <a:ext cx="854027" cy="115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6" name="连接符: 曲线 95">
            <a:extLst>
              <a:ext uri="{FF2B5EF4-FFF2-40B4-BE49-F238E27FC236}">
                <a16:creationId xmlns:a16="http://schemas.microsoft.com/office/drawing/2014/main" id="{9D2A7F4E-A9D1-085E-20CE-1EE39C73FA66}"/>
              </a:ext>
            </a:extLst>
          </p:cNvPr>
          <p:cNvCxnSpPr>
            <a:cxnSpLocks/>
            <a:stCxn id="20" idx="6"/>
          </p:cNvCxnSpPr>
          <p:nvPr/>
        </p:nvCxnSpPr>
        <p:spPr>
          <a:xfrm>
            <a:off x="5224734" y="2389514"/>
            <a:ext cx="854028" cy="815191"/>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97" name="连接符: 曲线 96">
            <a:extLst>
              <a:ext uri="{FF2B5EF4-FFF2-40B4-BE49-F238E27FC236}">
                <a16:creationId xmlns:a16="http://schemas.microsoft.com/office/drawing/2014/main" id="{64C4FB66-936B-CE1C-BB24-3DA6E5B4F785}"/>
              </a:ext>
            </a:extLst>
          </p:cNvPr>
          <p:cNvCxnSpPr>
            <a:cxnSpLocks/>
            <a:stCxn id="21" idx="6"/>
          </p:cNvCxnSpPr>
          <p:nvPr/>
        </p:nvCxnSpPr>
        <p:spPr>
          <a:xfrm>
            <a:off x="5224734" y="3221963"/>
            <a:ext cx="854027" cy="820936"/>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98" name="连接符: 曲线 97">
            <a:extLst>
              <a:ext uri="{FF2B5EF4-FFF2-40B4-BE49-F238E27FC236}">
                <a16:creationId xmlns:a16="http://schemas.microsoft.com/office/drawing/2014/main" id="{C73354BD-D146-C6EA-32DA-6AAFD389304C}"/>
              </a:ext>
            </a:extLst>
          </p:cNvPr>
          <p:cNvCxnSpPr>
            <a:cxnSpLocks/>
            <a:stCxn id="44" idx="6"/>
          </p:cNvCxnSpPr>
          <p:nvPr/>
        </p:nvCxnSpPr>
        <p:spPr>
          <a:xfrm>
            <a:off x="5224733" y="4060157"/>
            <a:ext cx="854027" cy="815185"/>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D6733642-485E-1439-4A07-D2389A949A8E}"/>
              </a:ext>
            </a:extLst>
          </p:cNvPr>
          <p:cNvCxnSpPr>
            <a:cxnSpLocks/>
          </p:cNvCxnSpPr>
          <p:nvPr/>
        </p:nvCxnSpPr>
        <p:spPr>
          <a:xfrm>
            <a:off x="5653189" y="2743187"/>
            <a:ext cx="0" cy="83244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5E04E2B6-9E6C-5B15-DD03-E3FB79ED0D59}"/>
              </a:ext>
            </a:extLst>
          </p:cNvPr>
          <p:cNvCxnSpPr>
            <a:cxnSpLocks/>
          </p:cNvCxnSpPr>
          <p:nvPr/>
        </p:nvCxnSpPr>
        <p:spPr>
          <a:xfrm>
            <a:off x="5653189" y="3575636"/>
            <a:ext cx="0" cy="83244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3" name="椭圆 102">
            <a:extLst>
              <a:ext uri="{FF2B5EF4-FFF2-40B4-BE49-F238E27FC236}">
                <a16:creationId xmlns:a16="http://schemas.microsoft.com/office/drawing/2014/main" id="{F130761E-8CE8-BE38-6FF5-B4048346032B}"/>
              </a:ext>
            </a:extLst>
          </p:cNvPr>
          <p:cNvSpPr/>
          <p:nvPr/>
        </p:nvSpPr>
        <p:spPr>
          <a:xfrm>
            <a:off x="6242669" y="2273052"/>
            <a:ext cx="198407" cy="198407"/>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DDC43B38-1ADF-652C-8E7A-304565F41C0A}"/>
              </a:ext>
            </a:extLst>
          </p:cNvPr>
          <p:cNvSpPr/>
          <p:nvPr/>
        </p:nvSpPr>
        <p:spPr>
          <a:xfrm>
            <a:off x="6505765" y="2273051"/>
            <a:ext cx="198407" cy="198407"/>
          </a:xfrm>
          <a:prstGeom prst="ellipse">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a:extLst>
              <a:ext uri="{FF2B5EF4-FFF2-40B4-BE49-F238E27FC236}">
                <a16:creationId xmlns:a16="http://schemas.microsoft.com/office/drawing/2014/main" id="{DBA9EB0D-73B3-ABA7-B243-82CB6F449E48}"/>
              </a:ext>
            </a:extLst>
          </p:cNvPr>
          <p:cNvSpPr/>
          <p:nvPr/>
        </p:nvSpPr>
        <p:spPr>
          <a:xfrm>
            <a:off x="6768861" y="2273050"/>
            <a:ext cx="198407" cy="198407"/>
          </a:xfrm>
          <a:prstGeom prst="ellipse">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a:extLst>
              <a:ext uri="{FF2B5EF4-FFF2-40B4-BE49-F238E27FC236}">
                <a16:creationId xmlns:a16="http://schemas.microsoft.com/office/drawing/2014/main" id="{161C226F-809D-BF3E-30E5-30F36F286CE6}"/>
              </a:ext>
            </a:extLst>
          </p:cNvPr>
          <p:cNvSpPr/>
          <p:nvPr/>
        </p:nvSpPr>
        <p:spPr>
          <a:xfrm>
            <a:off x="6242669" y="3105502"/>
            <a:ext cx="198407" cy="198407"/>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a:extLst>
              <a:ext uri="{FF2B5EF4-FFF2-40B4-BE49-F238E27FC236}">
                <a16:creationId xmlns:a16="http://schemas.microsoft.com/office/drawing/2014/main" id="{DE30F2B4-19D0-D3F9-BD22-8C9327BFC38E}"/>
              </a:ext>
            </a:extLst>
          </p:cNvPr>
          <p:cNvSpPr/>
          <p:nvPr/>
        </p:nvSpPr>
        <p:spPr>
          <a:xfrm>
            <a:off x="6505765" y="3105501"/>
            <a:ext cx="198407" cy="198407"/>
          </a:xfrm>
          <a:prstGeom prst="ellipse">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a:extLst>
              <a:ext uri="{FF2B5EF4-FFF2-40B4-BE49-F238E27FC236}">
                <a16:creationId xmlns:a16="http://schemas.microsoft.com/office/drawing/2014/main" id="{86CB5600-9CA1-D749-E568-90A0A21BF339}"/>
              </a:ext>
            </a:extLst>
          </p:cNvPr>
          <p:cNvSpPr/>
          <p:nvPr/>
        </p:nvSpPr>
        <p:spPr>
          <a:xfrm>
            <a:off x="6768861" y="3105500"/>
            <a:ext cx="198407" cy="198407"/>
          </a:xfrm>
          <a:prstGeom prst="ellipse">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a:extLst>
              <a:ext uri="{FF2B5EF4-FFF2-40B4-BE49-F238E27FC236}">
                <a16:creationId xmlns:a16="http://schemas.microsoft.com/office/drawing/2014/main" id="{2C07F56D-4DE1-E590-16B7-E9953B70ECCB}"/>
              </a:ext>
            </a:extLst>
          </p:cNvPr>
          <p:cNvSpPr/>
          <p:nvPr/>
        </p:nvSpPr>
        <p:spPr>
          <a:xfrm>
            <a:off x="6242669" y="3937946"/>
            <a:ext cx="198407" cy="198407"/>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a:extLst>
              <a:ext uri="{FF2B5EF4-FFF2-40B4-BE49-F238E27FC236}">
                <a16:creationId xmlns:a16="http://schemas.microsoft.com/office/drawing/2014/main" id="{61160B28-3900-0A61-9E84-E26D62C4CA12}"/>
              </a:ext>
            </a:extLst>
          </p:cNvPr>
          <p:cNvSpPr/>
          <p:nvPr/>
        </p:nvSpPr>
        <p:spPr>
          <a:xfrm>
            <a:off x="6505765" y="3937945"/>
            <a:ext cx="198407" cy="198407"/>
          </a:xfrm>
          <a:prstGeom prst="ellipse">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a:extLst>
              <a:ext uri="{FF2B5EF4-FFF2-40B4-BE49-F238E27FC236}">
                <a16:creationId xmlns:a16="http://schemas.microsoft.com/office/drawing/2014/main" id="{58ECEEB6-F222-6449-25AC-20CD3204558F}"/>
              </a:ext>
            </a:extLst>
          </p:cNvPr>
          <p:cNvSpPr/>
          <p:nvPr/>
        </p:nvSpPr>
        <p:spPr>
          <a:xfrm>
            <a:off x="6768861" y="3937944"/>
            <a:ext cx="198407" cy="198407"/>
          </a:xfrm>
          <a:prstGeom prst="ellipse">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a:extLst>
              <a:ext uri="{FF2B5EF4-FFF2-40B4-BE49-F238E27FC236}">
                <a16:creationId xmlns:a16="http://schemas.microsoft.com/office/drawing/2014/main" id="{9F44528C-5CA4-66AA-8E2E-280B83F61100}"/>
              </a:ext>
            </a:extLst>
          </p:cNvPr>
          <p:cNvSpPr/>
          <p:nvPr/>
        </p:nvSpPr>
        <p:spPr>
          <a:xfrm>
            <a:off x="6242669" y="4770390"/>
            <a:ext cx="198407" cy="198407"/>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a:extLst>
              <a:ext uri="{FF2B5EF4-FFF2-40B4-BE49-F238E27FC236}">
                <a16:creationId xmlns:a16="http://schemas.microsoft.com/office/drawing/2014/main" id="{05AC78F0-E2DF-FD44-C9B0-EA9684C0DF1D}"/>
              </a:ext>
            </a:extLst>
          </p:cNvPr>
          <p:cNvSpPr/>
          <p:nvPr/>
        </p:nvSpPr>
        <p:spPr>
          <a:xfrm>
            <a:off x="6505765" y="4770389"/>
            <a:ext cx="198407" cy="198407"/>
          </a:xfrm>
          <a:prstGeom prst="ellipse">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a:extLst>
              <a:ext uri="{FF2B5EF4-FFF2-40B4-BE49-F238E27FC236}">
                <a16:creationId xmlns:a16="http://schemas.microsoft.com/office/drawing/2014/main" id="{9FD1ADEA-B0A2-6902-EE3A-C4D5D6F4D0FC}"/>
              </a:ext>
            </a:extLst>
          </p:cNvPr>
          <p:cNvSpPr/>
          <p:nvPr/>
        </p:nvSpPr>
        <p:spPr>
          <a:xfrm>
            <a:off x="6768861" y="4770388"/>
            <a:ext cx="198407" cy="198407"/>
          </a:xfrm>
          <a:prstGeom prst="ellipse">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5" name="直接箭头连接符 114">
            <a:extLst>
              <a:ext uri="{FF2B5EF4-FFF2-40B4-BE49-F238E27FC236}">
                <a16:creationId xmlns:a16="http://schemas.microsoft.com/office/drawing/2014/main" id="{518FD070-218F-6F2E-38D0-AE0103E35731}"/>
              </a:ext>
            </a:extLst>
          </p:cNvPr>
          <p:cNvCxnSpPr>
            <a:cxnSpLocks/>
            <a:endCxn id="73" idx="2"/>
          </p:cNvCxnSpPr>
          <p:nvPr/>
        </p:nvCxnSpPr>
        <p:spPr>
          <a:xfrm>
            <a:off x="7231797" y="2372255"/>
            <a:ext cx="851136" cy="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38C8ADAC-9D93-B4EE-7638-FC97325F9A5D}"/>
              </a:ext>
            </a:extLst>
          </p:cNvPr>
          <p:cNvCxnSpPr>
            <a:cxnSpLocks/>
          </p:cNvCxnSpPr>
          <p:nvPr/>
        </p:nvCxnSpPr>
        <p:spPr>
          <a:xfrm>
            <a:off x="7231796" y="3204704"/>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id="{49F87B18-7F75-27E8-E99D-B0F874DA7F1A}"/>
              </a:ext>
            </a:extLst>
          </p:cNvPr>
          <p:cNvCxnSpPr>
            <a:cxnSpLocks/>
          </p:cNvCxnSpPr>
          <p:nvPr/>
        </p:nvCxnSpPr>
        <p:spPr>
          <a:xfrm>
            <a:off x="7231796" y="4042898"/>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a:extLst>
              <a:ext uri="{FF2B5EF4-FFF2-40B4-BE49-F238E27FC236}">
                <a16:creationId xmlns:a16="http://schemas.microsoft.com/office/drawing/2014/main" id="{B20B95A1-A560-CEA3-E396-A2BBCEAB1337}"/>
              </a:ext>
            </a:extLst>
          </p:cNvPr>
          <p:cNvCxnSpPr>
            <a:cxnSpLocks/>
            <a:endCxn id="78" idx="2"/>
          </p:cNvCxnSpPr>
          <p:nvPr/>
        </p:nvCxnSpPr>
        <p:spPr>
          <a:xfrm>
            <a:off x="7231795" y="4875347"/>
            <a:ext cx="851137" cy="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9" name="连接符: 曲线 118">
            <a:extLst>
              <a:ext uri="{FF2B5EF4-FFF2-40B4-BE49-F238E27FC236}">
                <a16:creationId xmlns:a16="http://schemas.microsoft.com/office/drawing/2014/main" id="{F3AF9B48-C398-CD1B-5CBB-077DD6979404}"/>
              </a:ext>
            </a:extLst>
          </p:cNvPr>
          <p:cNvCxnSpPr>
            <a:cxnSpLocks/>
            <a:endCxn id="74" idx="2"/>
          </p:cNvCxnSpPr>
          <p:nvPr/>
        </p:nvCxnSpPr>
        <p:spPr>
          <a:xfrm>
            <a:off x="7231798" y="2372257"/>
            <a:ext cx="851135" cy="832449"/>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120" name="连接符: 曲线 119">
            <a:extLst>
              <a:ext uri="{FF2B5EF4-FFF2-40B4-BE49-F238E27FC236}">
                <a16:creationId xmlns:a16="http://schemas.microsoft.com/office/drawing/2014/main" id="{23A153C2-E2DC-65A4-190C-57DB153290C4}"/>
              </a:ext>
            </a:extLst>
          </p:cNvPr>
          <p:cNvCxnSpPr>
            <a:cxnSpLocks/>
            <a:endCxn id="77" idx="2"/>
          </p:cNvCxnSpPr>
          <p:nvPr/>
        </p:nvCxnSpPr>
        <p:spPr>
          <a:xfrm>
            <a:off x="7231798" y="3204705"/>
            <a:ext cx="851134" cy="838195"/>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121" name="连接符: 曲线 120">
            <a:extLst>
              <a:ext uri="{FF2B5EF4-FFF2-40B4-BE49-F238E27FC236}">
                <a16:creationId xmlns:a16="http://schemas.microsoft.com/office/drawing/2014/main" id="{D5B7CA0F-65C7-0623-6C26-B79676E5982D}"/>
              </a:ext>
            </a:extLst>
          </p:cNvPr>
          <p:cNvCxnSpPr>
            <a:cxnSpLocks/>
            <a:endCxn id="78" idx="2"/>
          </p:cNvCxnSpPr>
          <p:nvPr/>
        </p:nvCxnSpPr>
        <p:spPr>
          <a:xfrm>
            <a:off x="7231797" y="4037148"/>
            <a:ext cx="851135" cy="838201"/>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73750331-87A8-D33D-8C6C-FB29D625A35C}"/>
              </a:ext>
            </a:extLst>
          </p:cNvPr>
          <p:cNvCxnSpPr>
            <a:cxnSpLocks/>
          </p:cNvCxnSpPr>
          <p:nvPr/>
        </p:nvCxnSpPr>
        <p:spPr>
          <a:xfrm>
            <a:off x="7657365" y="2760445"/>
            <a:ext cx="0" cy="81519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189A4742-10F4-7BE9-1E41-7BDEFD4108BA}"/>
              </a:ext>
            </a:extLst>
          </p:cNvPr>
          <p:cNvCxnSpPr>
            <a:cxnSpLocks/>
          </p:cNvCxnSpPr>
          <p:nvPr/>
        </p:nvCxnSpPr>
        <p:spPr>
          <a:xfrm>
            <a:off x="7657365" y="3575636"/>
            <a:ext cx="0" cy="9101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0" name="直接箭头连接符 139">
            <a:extLst>
              <a:ext uri="{FF2B5EF4-FFF2-40B4-BE49-F238E27FC236}">
                <a16:creationId xmlns:a16="http://schemas.microsoft.com/office/drawing/2014/main" id="{701B2BA1-81A7-2DB9-F930-F893823612EE}"/>
              </a:ext>
            </a:extLst>
          </p:cNvPr>
          <p:cNvCxnSpPr>
            <a:cxnSpLocks/>
            <a:stCxn id="73" idx="6"/>
            <a:endCxn id="144" idx="0"/>
          </p:cNvCxnSpPr>
          <p:nvPr/>
        </p:nvCxnSpPr>
        <p:spPr>
          <a:xfrm flipV="1">
            <a:off x="8609144" y="2368200"/>
            <a:ext cx="526193" cy="40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1" name="直接箭头连接符 140">
            <a:extLst>
              <a:ext uri="{FF2B5EF4-FFF2-40B4-BE49-F238E27FC236}">
                <a16:creationId xmlns:a16="http://schemas.microsoft.com/office/drawing/2014/main" id="{B3876779-3681-23E1-249E-445788FEEB6D}"/>
              </a:ext>
            </a:extLst>
          </p:cNvPr>
          <p:cNvCxnSpPr>
            <a:cxnSpLocks/>
            <a:stCxn id="74" idx="6"/>
            <a:endCxn id="151" idx="0"/>
          </p:cNvCxnSpPr>
          <p:nvPr/>
        </p:nvCxnSpPr>
        <p:spPr>
          <a:xfrm flipV="1">
            <a:off x="8609144" y="3203521"/>
            <a:ext cx="526190" cy="118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2" name="直接箭头连接符 141">
            <a:extLst>
              <a:ext uri="{FF2B5EF4-FFF2-40B4-BE49-F238E27FC236}">
                <a16:creationId xmlns:a16="http://schemas.microsoft.com/office/drawing/2014/main" id="{F783EC84-B054-4FF3-3870-B5CC37429438}"/>
              </a:ext>
            </a:extLst>
          </p:cNvPr>
          <p:cNvCxnSpPr>
            <a:cxnSpLocks/>
            <a:stCxn id="77" idx="6"/>
            <a:endCxn id="152" idx="0"/>
          </p:cNvCxnSpPr>
          <p:nvPr/>
        </p:nvCxnSpPr>
        <p:spPr>
          <a:xfrm>
            <a:off x="8609143" y="4042900"/>
            <a:ext cx="517521" cy="14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3" name="直接箭头连接符 142">
            <a:extLst>
              <a:ext uri="{FF2B5EF4-FFF2-40B4-BE49-F238E27FC236}">
                <a16:creationId xmlns:a16="http://schemas.microsoft.com/office/drawing/2014/main" id="{6F6497E6-8B07-C647-9627-B5E5EF62D362}"/>
              </a:ext>
            </a:extLst>
          </p:cNvPr>
          <p:cNvCxnSpPr>
            <a:cxnSpLocks/>
            <a:stCxn id="78" idx="6"/>
            <a:endCxn id="153" idx="0"/>
          </p:cNvCxnSpPr>
          <p:nvPr/>
        </p:nvCxnSpPr>
        <p:spPr>
          <a:xfrm flipV="1">
            <a:off x="8609143" y="4873883"/>
            <a:ext cx="526189" cy="14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4" name="梯形 143">
            <a:extLst>
              <a:ext uri="{FF2B5EF4-FFF2-40B4-BE49-F238E27FC236}">
                <a16:creationId xmlns:a16="http://schemas.microsoft.com/office/drawing/2014/main" id="{333DD06C-7814-0AA2-FC11-DCC644B7F53A}"/>
              </a:ext>
            </a:extLst>
          </p:cNvPr>
          <p:cNvSpPr/>
          <p:nvPr/>
        </p:nvSpPr>
        <p:spPr>
          <a:xfrm rot="16200000">
            <a:off x="9027507" y="2152539"/>
            <a:ext cx="646981" cy="431322"/>
          </a:xfrm>
          <a:prstGeom prst="trapezoid">
            <a:avLst/>
          </a:prstGeom>
          <a:noFill/>
          <a:ln w="381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梯形 150">
            <a:extLst>
              <a:ext uri="{FF2B5EF4-FFF2-40B4-BE49-F238E27FC236}">
                <a16:creationId xmlns:a16="http://schemas.microsoft.com/office/drawing/2014/main" id="{B42BA907-9BE5-1415-BE73-E9835A651287}"/>
              </a:ext>
            </a:extLst>
          </p:cNvPr>
          <p:cNvSpPr/>
          <p:nvPr/>
        </p:nvSpPr>
        <p:spPr>
          <a:xfrm rot="16200000">
            <a:off x="9027504" y="2987860"/>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梯形 151">
            <a:extLst>
              <a:ext uri="{FF2B5EF4-FFF2-40B4-BE49-F238E27FC236}">
                <a16:creationId xmlns:a16="http://schemas.microsoft.com/office/drawing/2014/main" id="{D8CC14DB-DA1A-0D4F-D3F7-96C2B7170661}"/>
              </a:ext>
            </a:extLst>
          </p:cNvPr>
          <p:cNvSpPr/>
          <p:nvPr/>
        </p:nvSpPr>
        <p:spPr>
          <a:xfrm rot="16200000">
            <a:off x="9018834" y="3828639"/>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3" name="梯形 152">
            <a:extLst>
              <a:ext uri="{FF2B5EF4-FFF2-40B4-BE49-F238E27FC236}">
                <a16:creationId xmlns:a16="http://schemas.microsoft.com/office/drawing/2014/main" id="{A73256E8-7F1E-AC15-E2C2-05AE1BCEAE9A}"/>
              </a:ext>
            </a:extLst>
          </p:cNvPr>
          <p:cNvSpPr/>
          <p:nvPr/>
        </p:nvSpPr>
        <p:spPr>
          <a:xfrm rot="16200000">
            <a:off x="9027502" y="4658222"/>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4" name="直接箭头连接符 163">
            <a:extLst>
              <a:ext uri="{FF2B5EF4-FFF2-40B4-BE49-F238E27FC236}">
                <a16:creationId xmlns:a16="http://schemas.microsoft.com/office/drawing/2014/main" id="{C904B666-AA45-9E16-2544-88323E2863E0}"/>
              </a:ext>
            </a:extLst>
          </p:cNvPr>
          <p:cNvCxnSpPr>
            <a:cxnSpLocks/>
            <a:endCxn id="38" idx="2"/>
          </p:cNvCxnSpPr>
          <p:nvPr/>
        </p:nvCxnSpPr>
        <p:spPr>
          <a:xfrm>
            <a:off x="1836006" y="4060160"/>
            <a:ext cx="52763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7" name="直接箭头连接符 166">
            <a:extLst>
              <a:ext uri="{FF2B5EF4-FFF2-40B4-BE49-F238E27FC236}">
                <a16:creationId xmlns:a16="http://schemas.microsoft.com/office/drawing/2014/main" id="{0B13FDDD-EF51-FDA2-F4A9-832CDD443B4D}"/>
              </a:ext>
            </a:extLst>
          </p:cNvPr>
          <p:cNvCxnSpPr>
            <a:cxnSpLocks/>
            <a:endCxn id="39" idx="2"/>
          </p:cNvCxnSpPr>
          <p:nvPr/>
        </p:nvCxnSpPr>
        <p:spPr>
          <a:xfrm>
            <a:off x="1846054" y="4898359"/>
            <a:ext cx="51758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1" name="弧形 170">
            <a:extLst>
              <a:ext uri="{FF2B5EF4-FFF2-40B4-BE49-F238E27FC236}">
                <a16:creationId xmlns:a16="http://schemas.microsoft.com/office/drawing/2014/main" id="{302AC638-3FC1-27D1-12CD-B14158281D0C}"/>
              </a:ext>
            </a:extLst>
          </p:cNvPr>
          <p:cNvSpPr/>
          <p:nvPr/>
        </p:nvSpPr>
        <p:spPr>
          <a:xfrm flipH="1" flipV="1">
            <a:off x="1447854" y="3766866"/>
            <a:ext cx="792144" cy="293288"/>
          </a:xfrm>
          <a:prstGeom prst="arc">
            <a:avLst>
              <a:gd name="adj1" fmla="val 16384094"/>
              <a:gd name="adj2" fmla="val 5022831"/>
            </a:avLst>
          </a:prstGeom>
          <a:ln w="38100">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2" name="弧形 171">
            <a:extLst>
              <a:ext uri="{FF2B5EF4-FFF2-40B4-BE49-F238E27FC236}">
                <a16:creationId xmlns:a16="http://schemas.microsoft.com/office/drawing/2014/main" id="{7E7D0424-A8D1-C41B-0B1D-4D0CBFDD0253}"/>
              </a:ext>
            </a:extLst>
          </p:cNvPr>
          <p:cNvSpPr/>
          <p:nvPr/>
        </p:nvSpPr>
        <p:spPr>
          <a:xfrm flipH="1" flipV="1">
            <a:off x="1476604" y="4607915"/>
            <a:ext cx="792144" cy="293288"/>
          </a:xfrm>
          <a:prstGeom prst="arc">
            <a:avLst>
              <a:gd name="adj1" fmla="val 16384094"/>
              <a:gd name="adj2" fmla="val 5022831"/>
            </a:avLst>
          </a:prstGeom>
          <a:ln w="38100">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3" name="矩形: 圆角 172">
            <a:extLst>
              <a:ext uri="{FF2B5EF4-FFF2-40B4-BE49-F238E27FC236}">
                <a16:creationId xmlns:a16="http://schemas.microsoft.com/office/drawing/2014/main" id="{D6A3EC66-14E1-16E1-0473-776BD2214DEB}"/>
              </a:ext>
            </a:extLst>
          </p:cNvPr>
          <p:cNvSpPr/>
          <p:nvPr/>
        </p:nvSpPr>
        <p:spPr>
          <a:xfrm>
            <a:off x="9954884" y="2989034"/>
            <a:ext cx="577970" cy="431321"/>
          </a:xfrm>
          <a:prstGeom prst="roundRect">
            <a:avLst>
              <a:gd name="adj" fmla="val 32609"/>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accent1"/>
                </a:solidFill>
              </a:rPr>
              <a:t>is</a:t>
            </a:r>
            <a:endParaRPr lang="zh-CN" altLang="en-US" sz="2400" dirty="0">
              <a:solidFill>
                <a:schemeClr val="accent1"/>
              </a:solidFill>
            </a:endParaRPr>
          </a:p>
        </p:txBody>
      </p:sp>
      <p:sp>
        <p:nvSpPr>
          <p:cNvPr id="174" name="矩形: 圆角 173">
            <a:extLst>
              <a:ext uri="{FF2B5EF4-FFF2-40B4-BE49-F238E27FC236}">
                <a16:creationId xmlns:a16="http://schemas.microsoft.com/office/drawing/2014/main" id="{1D823ADB-DF27-3C49-DC24-8597EC6A80B3}"/>
              </a:ext>
            </a:extLst>
          </p:cNvPr>
          <p:cNvSpPr/>
          <p:nvPr/>
        </p:nvSpPr>
        <p:spPr>
          <a:xfrm>
            <a:off x="9954883" y="3835867"/>
            <a:ext cx="431323" cy="431321"/>
          </a:xfrm>
          <a:prstGeom prst="roundRect">
            <a:avLst>
              <a:gd name="adj" fmla="val 32609"/>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accent1"/>
                </a:solidFill>
              </a:rPr>
              <a:t>a</a:t>
            </a:r>
            <a:endParaRPr lang="zh-CN" altLang="en-US" sz="2400" dirty="0">
              <a:solidFill>
                <a:schemeClr val="accent1"/>
              </a:solidFill>
            </a:endParaRPr>
          </a:p>
        </p:txBody>
      </p:sp>
      <p:sp>
        <p:nvSpPr>
          <p:cNvPr id="175" name="矩形: 圆角 174">
            <a:extLst>
              <a:ext uri="{FF2B5EF4-FFF2-40B4-BE49-F238E27FC236}">
                <a16:creationId xmlns:a16="http://schemas.microsoft.com/office/drawing/2014/main" id="{7D301F7B-DFCD-5F55-F4E7-96151453F0FE}"/>
              </a:ext>
            </a:extLst>
          </p:cNvPr>
          <p:cNvSpPr/>
          <p:nvPr/>
        </p:nvSpPr>
        <p:spPr>
          <a:xfrm>
            <a:off x="9954883" y="4665431"/>
            <a:ext cx="1250830" cy="431321"/>
          </a:xfrm>
          <a:prstGeom prst="roundRect">
            <a:avLst>
              <a:gd name="adj" fmla="val 32609"/>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accent1"/>
                </a:solidFill>
              </a:rPr>
              <a:t>country</a:t>
            </a:r>
            <a:endParaRPr lang="zh-CN" altLang="en-US" sz="2400" dirty="0">
              <a:solidFill>
                <a:schemeClr val="accent1"/>
              </a:solidFill>
            </a:endParaRPr>
          </a:p>
        </p:txBody>
      </p:sp>
      <p:cxnSp>
        <p:nvCxnSpPr>
          <p:cNvPr id="176" name="直接箭头连接符 175">
            <a:extLst>
              <a:ext uri="{FF2B5EF4-FFF2-40B4-BE49-F238E27FC236}">
                <a16:creationId xmlns:a16="http://schemas.microsoft.com/office/drawing/2014/main" id="{C6F83CD9-5098-0933-92A3-AFC68338FB71}"/>
              </a:ext>
            </a:extLst>
          </p:cNvPr>
          <p:cNvCxnSpPr>
            <a:cxnSpLocks/>
            <a:endCxn id="173" idx="1"/>
          </p:cNvCxnSpPr>
          <p:nvPr/>
        </p:nvCxnSpPr>
        <p:spPr>
          <a:xfrm>
            <a:off x="9566654" y="3203521"/>
            <a:ext cx="388230" cy="11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8" name="直接箭头连接符 177">
            <a:extLst>
              <a:ext uri="{FF2B5EF4-FFF2-40B4-BE49-F238E27FC236}">
                <a16:creationId xmlns:a16="http://schemas.microsoft.com/office/drawing/2014/main" id="{81998F3E-D5F4-B013-D411-759D19413EFD}"/>
              </a:ext>
            </a:extLst>
          </p:cNvPr>
          <p:cNvCxnSpPr>
            <a:cxnSpLocks/>
            <a:stCxn id="152" idx="2"/>
            <a:endCxn id="174" idx="1"/>
          </p:cNvCxnSpPr>
          <p:nvPr/>
        </p:nvCxnSpPr>
        <p:spPr>
          <a:xfrm>
            <a:off x="9557986" y="4044300"/>
            <a:ext cx="396897" cy="722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1" name="直接箭头连接符 180">
            <a:extLst>
              <a:ext uri="{FF2B5EF4-FFF2-40B4-BE49-F238E27FC236}">
                <a16:creationId xmlns:a16="http://schemas.microsoft.com/office/drawing/2014/main" id="{854F8A59-8AAD-0E8D-32BA-92AC59F7AFC4}"/>
              </a:ext>
            </a:extLst>
          </p:cNvPr>
          <p:cNvCxnSpPr>
            <a:cxnSpLocks/>
            <a:stCxn id="153" idx="2"/>
            <a:endCxn id="175" idx="1"/>
          </p:cNvCxnSpPr>
          <p:nvPr/>
        </p:nvCxnSpPr>
        <p:spPr>
          <a:xfrm>
            <a:off x="9566654" y="4873883"/>
            <a:ext cx="388229" cy="720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8" name="椭圆 187">
            <a:extLst>
              <a:ext uri="{FF2B5EF4-FFF2-40B4-BE49-F238E27FC236}">
                <a16:creationId xmlns:a16="http://schemas.microsoft.com/office/drawing/2014/main" id="{F842CC26-06BC-D6C8-BB6D-B791392E339B}"/>
              </a:ext>
            </a:extLst>
          </p:cNvPr>
          <p:cNvSpPr/>
          <p:nvPr/>
        </p:nvSpPr>
        <p:spPr>
          <a:xfrm>
            <a:off x="1512519" y="5688666"/>
            <a:ext cx="161026" cy="161026"/>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a:extLst>
              <a:ext uri="{FF2B5EF4-FFF2-40B4-BE49-F238E27FC236}">
                <a16:creationId xmlns:a16="http://schemas.microsoft.com/office/drawing/2014/main" id="{B67B06E8-7B3A-4934-290C-E92B0BD10F00}"/>
              </a:ext>
            </a:extLst>
          </p:cNvPr>
          <p:cNvSpPr/>
          <p:nvPr/>
        </p:nvSpPr>
        <p:spPr>
          <a:xfrm>
            <a:off x="1775615" y="5688665"/>
            <a:ext cx="161026" cy="161026"/>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0" name="椭圆 189">
            <a:extLst>
              <a:ext uri="{FF2B5EF4-FFF2-40B4-BE49-F238E27FC236}">
                <a16:creationId xmlns:a16="http://schemas.microsoft.com/office/drawing/2014/main" id="{2C7CDB60-C1FD-8937-8107-4F62F8D80A4D}"/>
              </a:ext>
            </a:extLst>
          </p:cNvPr>
          <p:cNvSpPr/>
          <p:nvPr/>
        </p:nvSpPr>
        <p:spPr>
          <a:xfrm>
            <a:off x="2038711" y="5688664"/>
            <a:ext cx="161026" cy="161026"/>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1" name="椭圆 190">
            <a:extLst>
              <a:ext uri="{FF2B5EF4-FFF2-40B4-BE49-F238E27FC236}">
                <a16:creationId xmlns:a16="http://schemas.microsoft.com/office/drawing/2014/main" id="{F7E472D0-E770-FA0C-BEFD-233A12D8678F}"/>
              </a:ext>
            </a:extLst>
          </p:cNvPr>
          <p:cNvSpPr/>
          <p:nvPr/>
        </p:nvSpPr>
        <p:spPr>
          <a:xfrm>
            <a:off x="4701408" y="2966041"/>
            <a:ext cx="526211" cy="526211"/>
          </a:xfrm>
          <a:prstGeom prst="ellipse">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F56EF43F-BB02-810D-48F9-FCB52F76EB3B}"/>
              </a:ext>
            </a:extLst>
          </p:cNvPr>
          <p:cNvSpPr/>
          <p:nvPr/>
        </p:nvSpPr>
        <p:spPr>
          <a:xfrm>
            <a:off x="1134718" y="259702"/>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Related Works</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sp>
        <p:nvSpPr>
          <p:cNvPr id="5" name="矩形 4">
            <a:extLst>
              <a:ext uri="{FF2B5EF4-FFF2-40B4-BE49-F238E27FC236}">
                <a16:creationId xmlns:a16="http://schemas.microsoft.com/office/drawing/2014/main" id="{C6B212B1-2A5F-5ED9-864B-E240A9381971}"/>
              </a:ext>
            </a:extLst>
          </p:cNvPr>
          <p:cNvSpPr/>
          <p:nvPr/>
        </p:nvSpPr>
        <p:spPr>
          <a:xfrm>
            <a:off x="1121776" y="1184089"/>
            <a:ext cx="5667531" cy="523220"/>
          </a:xfrm>
          <a:prstGeom prst="rect">
            <a:avLst/>
          </a:prstGeom>
        </p:spPr>
        <p:txBody>
          <a:bodyPr wrap="square">
            <a:spAutoFit/>
          </a:bodyPr>
          <a:lstStyle/>
          <a:p>
            <a:pPr marL="571500" lvl="0" indent="-571500">
              <a:buFont typeface="+mj-lt"/>
              <a:buAutoNum type="romanUcPeriod"/>
            </a:pPr>
            <a:r>
              <a:rPr lang="en-US" altLang="zh-CN" sz="2800" b="1" dirty="0">
                <a:solidFill>
                  <a:schemeClr val="accent4"/>
                </a:solidFill>
                <a:ea typeface="Gulim" panose="020B0600000101010101" pitchFamily="34" charset="-127"/>
              </a:rPr>
              <a:t>Probing Approaches</a:t>
            </a:r>
          </a:p>
        </p:txBody>
      </p:sp>
      <p:cxnSp>
        <p:nvCxnSpPr>
          <p:cNvPr id="9" name="连接符: 曲线 8">
            <a:extLst>
              <a:ext uri="{FF2B5EF4-FFF2-40B4-BE49-F238E27FC236}">
                <a16:creationId xmlns:a16="http://schemas.microsoft.com/office/drawing/2014/main" id="{9F7C79A6-BEC7-97B9-23F9-702702E8133D}"/>
              </a:ext>
            </a:extLst>
          </p:cNvPr>
          <p:cNvCxnSpPr>
            <a:cxnSpLocks/>
            <a:stCxn id="191" idx="6"/>
            <a:endCxn id="13" idx="1"/>
          </p:cNvCxnSpPr>
          <p:nvPr/>
        </p:nvCxnSpPr>
        <p:spPr>
          <a:xfrm>
            <a:off x="5227619" y="3229147"/>
            <a:ext cx="1027968" cy="2560842"/>
          </a:xfrm>
          <a:prstGeom prst="curvedConnector3">
            <a:avLst>
              <a:gd name="adj1" fmla="val 42587"/>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3" name="矩形: 圆角 12">
            <a:extLst>
              <a:ext uri="{FF2B5EF4-FFF2-40B4-BE49-F238E27FC236}">
                <a16:creationId xmlns:a16="http://schemas.microsoft.com/office/drawing/2014/main" id="{BDE8CF22-4373-467B-47AC-6B29AA1E885A}"/>
              </a:ext>
            </a:extLst>
          </p:cNvPr>
          <p:cNvSpPr/>
          <p:nvPr/>
        </p:nvSpPr>
        <p:spPr>
          <a:xfrm>
            <a:off x="6255587" y="5424719"/>
            <a:ext cx="1223515" cy="730539"/>
          </a:xfrm>
          <a:prstGeom prst="roundRect">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accent2"/>
                </a:solidFill>
              </a:rPr>
              <a:t>Probe classifier</a:t>
            </a:r>
            <a:endParaRPr lang="zh-CN" altLang="en-US" sz="2000" b="1" dirty="0">
              <a:solidFill>
                <a:schemeClr val="accent2"/>
              </a:solidFill>
            </a:endParaRPr>
          </a:p>
        </p:txBody>
      </p:sp>
      <p:cxnSp>
        <p:nvCxnSpPr>
          <p:cNvPr id="49" name="直接箭头连接符 48">
            <a:extLst>
              <a:ext uri="{FF2B5EF4-FFF2-40B4-BE49-F238E27FC236}">
                <a16:creationId xmlns:a16="http://schemas.microsoft.com/office/drawing/2014/main" id="{5D8A88C1-987B-D219-7FA2-7B25BE2CD48A}"/>
              </a:ext>
            </a:extLst>
          </p:cNvPr>
          <p:cNvCxnSpPr>
            <a:cxnSpLocks/>
            <a:stCxn id="13" idx="3"/>
            <a:endCxn id="81" idx="0"/>
          </p:cNvCxnSpPr>
          <p:nvPr/>
        </p:nvCxnSpPr>
        <p:spPr>
          <a:xfrm>
            <a:off x="7479102" y="5789989"/>
            <a:ext cx="608527" cy="4734"/>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8C89B526-9279-9D69-DF48-64D45B80984D}"/>
              </a:ext>
            </a:extLst>
          </p:cNvPr>
          <p:cNvSpPr/>
          <p:nvPr/>
        </p:nvSpPr>
        <p:spPr>
          <a:xfrm>
            <a:off x="8082932" y="5528065"/>
            <a:ext cx="526211" cy="526211"/>
          </a:xfrm>
          <a:prstGeom prst="ellipse">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弧形 80">
            <a:extLst>
              <a:ext uri="{FF2B5EF4-FFF2-40B4-BE49-F238E27FC236}">
                <a16:creationId xmlns:a16="http://schemas.microsoft.com/office/drawing/2014/main" id="{ABA5F613-65F0-7AE4-B3DE-283E38AC1418}"/>
              </a:ext>
            </a:extLst>
          </p:cNvPr>
          <p:cNvSpPr/>
          <p:nvPr/>
        </p:nvSpPr>
        <p:spPr>
          <a:xfrm>
            <a:off x="8087619" y="5667144"/>
            <a:ext cx="258418" cy="258418"/>
          </a:xfrm>
          <a:prstGeom prst="arc">
            <a:avLst>
              <a:gd name="adj1" fmla="val 10843358"/>
              <a:gd name="adj2" fmla="val 0"/>
            </a:avLst>
          </a:pr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 name="弧形 81">
            <a:extLst>
              <a:ext uri="{FF2B5EF4-FFF2-40B4-BE49-F238E27FC236}">
                <a16:creationId xmlns:a16="http://schemas.microsoft.com/office/drawing/2014/main" id="{44164B78-3FA1-5D24-71F6-9B5C9C2617F3}"/>
              </a:ext>
            </a:extLst>
          </p:cNvPr>
          <p:cNvSpPr/>
          <p:nvPr/>
        </p:nvSpPr>
        <p:spPr>
          <a:xfrm rot="10800000">
            <a:off x="8346037" y="5658678"/>
            <a:ext cx="258418" cy="258418"/>
          </a:xfrm>
          <a:prstGeom prst="arc">
            <a:avLst>
              <a:gd name="adj1" fmla="val 10843358"/>
              <a:gd name="adj2" fmla="val 0"/>
            </a:avLst>
          </a:pr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83" name="直接箭头连接符 82">
            <a:extLst>
              <a:ext uri="{FF2B5EF4-FFF2-40B4-BE49-F238E27FC236}">
                <a16:creationId xmlns:a16="http://schemas.microsoft.com/office/drawing/2014/main" id="{89C9F723-EB23-79DE-8C31-6449968EEBFC}"/>
              </a:ext>
            </a:extLst>
          </p:cNvPr>
          <p:cNvCxnSpPr>
            <a:cxnSpLocks/>
            <a:stCxn id="82" idx="0"/>
            <a:endCxn id="86" idx="1"/>
          </p:cNvCxnSpPr>
          <p:nvPr/>
        </p:nvCxnSpPr>
        <p:spPr>
          <a:xfrm>
            <a:off x="8604445" y="5789517"/>
            <a:ext cx="504409" cy="6564"/>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6" name="矩形: 圆角 85">
            <a:extLst>
              <a:ext uri="{FF2B5EF4-FFF2-40B4-BE49-F238E27FC236}">
                <a16:creationId xmlns:a16="http://schemas.microsoft.com/office/drawing/2014/main" id="{E028E89B-1B89-4B13-F030-114503FAA897}"/>
              </a:ext>
            </a:extLst>
          </p:cNvPr>
          <p:cNvSpPr/>
          <p:nvPr/>
        </p:nvSpPr>
        <p:spPr>
          <a:xfrm>
            <a:off x="9108854" y="5427133"/>
            <a:ext cx="1499879" cy="737896"/>
          </a:xfrm>
          <a:prstGeom prst="roundRect">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accent2"/>
                </a:solidFill>
              </a:rPr>
              <a:t> vocabulary space</a:t>
            </a:r>
            <a:endParaRPr lang="zh-CN" altLang="en-US" sz="2000" b="1" dirty="0">
              <a:solidFill>
                <a:schemeClr val="accent2"/>
              </a:solidFill>
            </a:endParaRPr>
          </a:p>
        </p:txBody>
      </p:sp>
      <p:sp>
        <p:nvSpPr>
          <p:cNvPr id="7" name="文本框 6">
            <a:extLst>
              <a:ext uri="{FF2B5EF4-FFF2-40B4-BE49-F238E27FC236}">
                <a16:creationId xmlns:a16="http://schemas.microsoft.com/office/drawing/2014/main" id="{0173B35C-22AE-D7BC-E7CD-1E7BAF370C8C}"/>
              </a:ext>
            </a:extLst>
          </p:cNvPr>
          <p:cNvSpPr txBox="1"/>
          <p:nvPr/>
        </p:nvSpPr>
        <p:spPr>
          <a:xfrm>
            <a:off x="768431" y="6069305"/>
            <a:ext cx="4310333" cy="461665"/>
          </a:xfrm>
          <a:prstGeom prst="rect">
            <a:avLst/>
          </a:prstGeom>
          <a:noFill/>
        </p:spPr>
        <p:txBody>
          <a:bodyPr wrap="square" rtlCol="0">
            <a:spAutoFit/>
          </a:bodyPr>
          <a:lstStyle/>
          <a:p>
            <a:r>
              <a:rPr lang="en-US" altLang="zh-CN" sz="2400" dirty="0">
                <a:solidFill>
                  <a:schemeClr val="bg1"/>
                </a:solidFill>
              </a:rPr>
              <a:t>Train a very simple classifier!</a:t>
            </a:r>
            <a:endParaRPr lang="zh-CN" altLang="en-US" sz="2400" dirty="0">
              <a:solidFill>
                <a:schemeClr val="bg1"/>
              </a:solidFill>
            </a:endParaRPr>
          </a:p>
        </p:txBody>
      </p:sp>
    </p:spTree>
    <p:extLst>
      <p:ext uri="{BB962C8B-B14F-4D97-AF65-F5344CB8AC3E}">
        <p14:creationId xmlns:p14="http://schemas.microsoft.com/office/powerpoint/2010/main" val="2544638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A33-69AB-7B98-1B92-4EDCD5DB663E}"/>
            </a:ext>
          </a:extLst>
        </p:cNvPr>
        <p:cNvGrpSpPr/>
        <p:nvPr/>
      </p:nvGrpSpPr>
      <p:grpSpPr>
        <a:xfrm>
          <a:off x="0" y="0"/>
          <a:ext cx="0" cy="0"/>
          <a:chOff x="0" y="0"/>
          <a:chExt cx="0" cy="0"/>
        </a:xfrm>
      </p:grpSpPr>
      <p:cxnSp>
        <p:nvCxnSpPr>
          <p:cNvPr id="93" name="直接连接符 92">
            <a:extLst>
              <a:ext uri="{FF2B5EF4-FFF2-40B4-BE49-F238E27FC236}">
                <a16:creationId xmlns:a16="http://schemas.microsoft.com/office/drawing/2014/main" id="{C6FCF1E2-FDB1-1819-A39C-1F072DFB20FC}"/>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等腰三角形 33">
            <a:extLst>
              <a:ext uri="{FF2B5EF4-FFF2-40B4-BE49-F238E27FC236}">
                <a16:creationId xmlns:a16="http://schemas.microsoft.com/office/drawing/2014/main" id="{2587815C-529B-2AE0-B9F3-FE537890F3EE}"/>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DC06D2AF-3FC7-0945-0A9B-5925E9A30C3A}"/>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2</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sp>
        <p:nvSpPr>
          <p:cNvPr id="4" name="矩形 3">
            <a:extLst>
              <a:ext uri="{FF2B5EF4-FFF2-40B4-BE49-F238E27FC236}">
                <a16:creationId xmlns:a16="http://schemas.microsoft.com/office/drawing/2014/main" id="{69455333-8E5A-5370-F86D-C372DE55C1FF}"/>
              </a:ext>
            </a:extLst>
          </p:cNvPr>
          <p:cNvSpPr/>
          <p:nvPr/>
        </p:nvSpPr>
        <p:spPr>
          <a:xfrm>
            <a:off x="1134718" y="259702"/>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Related Works</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sp>
        <p:nvSpPr>
          <p:cNvPr id="7" name="文本框 6">
            <a:extLst>
              <a:ext uri="{FF2B5EF4-FFF2-40B4-BE49-F238E27FC236}">
                <a16:creationId xmlns:a16="http://schemas.microsoft.com/office/drawing/2014/main" id="{51FD2E60-D4B6-B10B-C730-16C01ED7E56E}"/>
              </a:ext>
            </a:extLst>
          </p:cNvPr>
          <p:cNvSpPr txBox="1"/>
          <p:nvPr/>
        </p:nvSpPr>
        <p:spPr>
          <a:xfrm>
            <a:off x="218181" y="1516878"/>
            <a:ext cx="9335936" cy="2308324"/>
          </a:xfrm>
          <a:prstGeom prst="rect">
            <a:avLst/>
          </a:prstGeom>
          <a:noFill/>
        </p:spPr>
        <p:txBody>
          <a:bodyPr wrap="square" rtlCol="0">
            <a:spAutoFit/>
          </a:bodyPr>
          <a:lstStyle/>
          <a:p>
            <a:r>
              <a:rPr lang="en-US" altLang="zh-CN" sz="2400" dirty="0">
                <a:solidFill>
                  <a:schemeClr val="bg1"/>
                </a:solidFill>
              </a:rPr>
              <a:t>Cons:</a:t>
            </a:r>
          </a:p>
          <a:p>
            <a:r>
              <a:rPr lang="en-US" altLang="zh-CN" sz="2400" b="0" i="0" dirty="0">
                <a:solidFill>
                  <a:schemeClr val="bg1"/>
                </a:solidFill>
                <a:effectLst/>
                <a:latin typeface="quote-cjk-patch"/>
              </a:rPr>
              <a:t>The probe classifier must be sufficiently simple. If it is too complex (e.g., another large neural network), it may learn the target attributes directly from the raw input rather than relying on the LLM's representations.</a:t>
            </a:r>
          </a:p>
          <a:p>
            <a:endParaRPr lang="en-US" altLang="zh-CN" sz="2400" dirty="0">
              <a:solidFill>
                <a:schemeClr val="bg1"/>
              </a:solidFill>
              <a:latin typeface="quote-cjk-patch"/>
            </a:endParaRPr>
          </a:p>
          <a:p>
            <a:r>
              <a:rPr lang="en-US" altLang="zh-CN" sz="2400" dirty="0">
                <a:solidFill>
                  <a:schemeClr val="accent2"/>
                </a:solidFill>
                <a:latin typeface="quote-cjk-patch"/>
              </a:rPr>
              <a:t>But</a:t>
            </a:r>
            <a:r>
              <a:rPr lang="zh-CN" altLang="en-US" sz="2400" dirty="0">
                <a:solidFill>
                  <a:schemeClr val="accent2"/>
                </a:solidFill>
                <a:latin typeface="quote-cjk-patch"/>
              </a:rPr>
              <a:t> </a:t>
            </a:r>
            <a:r>
              <a:rPr lang="en-US" altLang="zh-CN" sz="2400" dirty="0">
                <a:solidFill>
                  <a:schemeClr val="accent2"/>
                </a:solidFill>
                <a:latin typeface="quote-cjk-patch"/>
              </a:rPr>
              <a:t>too</a:t>
            </a:r>
            <a:r>
              <a:rPr lang="zh-CN" altLang="en-US" sz="2400" dirty="0">
                <a:solidFill>
                  <a:schemeClr val="accent2"/>
                </a:solidFill>
                <a:latin typeface="quote-cjk-patch"/>
              </a:rPr>
              <a:t> </a:t>
            </a:r>
            <a:r>
              <a:rPr lang="en-US" altLang="zh-CN" sz="2400" dirty="0">
                <a:solidFill>
                  <a:schemeClr val="accent2"/>
                </a:solidFill>
                <a:latin typeface="quote-cjk-patch"/>
              </a:rPr>
              <a:t>simple classifier doesn’t  always have good performance!</a:t>
            </a:r>
            <a:endParaRPr lang="en-US" altLang="zh-CN" sz="2400" dirty="0">
              <a:solidFill>
                <a:schemeClr val="accent2"/>
              </a:solidFill>
            </a:endParaRPr>
          </a:p>
        </p:txBody>
      </p:sp>
    </p:spTree>
    <p:extLst>
      <p:ext uri="{BB962C8B-B14F-4D97-AF65-F5344CB8AC3E}">
        <p14:creationId xmlns:p14="http://schemas.microsoft.com/office/powerpoint/2010/main" val="154733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AD02A-225B-36AC-70C4-C246F5E10D8D}"/>
            </a:ext>
          </a:extLst>
        </p:cNvPr>
        <p:cNvGrpSpPr/>
        <p:nvPr/>
      </p:nvGrpSpPr>
      <p:grpSpPr>
        <a:xfrm>
          <a:off x="0" y="0"/>
          <a:ext cx="0" cy="0"/>
          <a:chOff x="0" y="0"/>
          <a:chExt cx="0" cy="0"/>
        </a:xfrm>
      </p:grpSpPr>
      <p:cxnSp>
        <p:nvCxnSpPr>
          <p:cNvPr id="93" name="直接连接符 92">
            <a:extLst>
              <a:ext uri="{FF2B5EF4-FFF2-40B4-BE49-F238E27FC236}">
                <a16:creationId xmlns:a16="http://schemas.microsoft.com/office/drawing/2014/main" id="{86DC33F5-750C-C6CF-2262-57A279E04D76}"/>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等腰三角形 33">
            <a:extLst>
              <a:ext uri="{FF2B5EF4-FFF2-40B4-BE49-F238E27FC236}">
                <a16:creationId xmlns:a16="http://schemas.microsoft.com/office/drawing/2014/main" id="{6670E1DE-EF57-B35F-59C6-0D8811525ED9}"/>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B06CC8C7-B2B0-0DBD-A97B-007E838DC3C8}"/>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2</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sp>
        <p:nvSpPr>
          <p:cNvPr id="4" name="矩形 3">
            <a:extLst>
              <a:ext uri="{FF2B5EF4-FFF2-40B4-BE49-F238E27FC236}">
                <a16:creationId xmlns:a16="http://schemas.microsoft.com/office/drawing/2014/main" id="{ABC6B41B-2FFB-3701-12A1-8592CA0FD919}"/>
              </a:ext>
            </a:extLst>
          </p:cNvPr>
          <p:cNvSpPr/>
          <p:nvPr/>
        </p:nvSpPr>
        <p:spPr>
          <a:xfrm>
            <a:off x="1134718" y="259702"/>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Related Works</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sp>
        <p:nvSpPr>
          <p:cNvPr id="5" name="矩形 4">
            <a:extLst>
              <a:ext uri="{FF2B5EF4-FFF2-40B4-BE49-F238E27FC236}">
                <a16:creationId xmlns:a16="http://schemas.microsoft.com/office/drawing/2014/main" id="{37E12E80-9678-0C7E-12B4-C0768F470410}"/>
              </a:ext>
            </a:extLst>
          </p:cNvPr>
          <p:cNvSpPr/>
          <p:nvPr/>
        </p:nvSpPr>
        <p:spPr>
          <a:xfrm>
            <a:off x="423018" y="1164211"/>
            <a:ext cx="4494276" cy="523220"/>
          </a:xfrm>
          <a:prstGeom prst="rect">
            <a:avLst/>
          </a:prstGeom>
        </p:spPr>
        <p:txBody>
          <a:bodyPr wrap="square">
            <a:spAutoFit/>
          </a:bodyPr>
          <a:lstStyle/>
          <a:p>
            <a:pPr marL="571500" lvl="0" indent="-571500">
              <a:buFont typeface="+mj-lt"/>
              <a:buAutoNum type="romanUcPeriod" startAt="2"/>
            </a:pPr>
            <a:r>
              <a:rPr lang="en-US" altLang="zh-CN" sz="2800" b="1" dirty="0" err="1">
                <a:solidFill>
                  <a:schemeClr val="accent4"/>
                </a:solidFill>
                <a:ea typeface="Gulim" panose="020B0600000101010101" pitchFamily="34" charset="-127"/>
              </a:rPr>
              <a:t>Patchscope</a:t>
            </a:r>
            <a:r>
              <a:rPr lang="en-US" altLang="zh-CN" sz="2800" b="1" dirty="0">
                <a:solidFill>
                  <a:schemeClr val="accent4"/>
                </a:solidFill>
                <a:ea typeface="Gulim" panose="020B0600000101010101" pitchFamily="34" charset="-127"/>
              </a:rPr>
              <a:t> (ICML 2024)</a:t>
            </a:r>
          </a:p>
        </p:txBody>
      </p:sp>
      <p:grpSp>
        <p:nvGrpSpPr>
          <p:cNvPr id="12" name="组合 11">
            <a:extLst>
              <a:ext uri="{FF2B5EF4-FFF2-40B4-BE49-F238E27FC236}">
                <a16:creationId xmlns:a16="http://schemas.microsoft.com/office/drawing/2014/main" id="{60A052D3-EE2D-AC15-4ACB-2D3D3D973DA1}"/>
              </a:ext>
            </a:extLst>
          </p:cNvPr>
          <p:cNvGrpSpPr/>
          <p:nvPr/>
        </p:nvGrpSpPr>
        <p:grpSpPr>
          <a:xfrm>
            <a:off x="5458239" y="618085"/>
            <a:ext cx="6301961" cy="1830044"/>
            <a:chOff x="397498" y="2044709"/>
            <a:chExt cx="10940835" cy="3177139"/>
          </a:xfrm>
        </p:grpSpPr>
        <p:sp>
          <p:nvSpPr>
            <p:cNvPr id="14" name="矩形: 圆角 13">
              <a:extLst>
                <a:ext uri="{FF2B5EF4-FFF2-40B4-BE49-F238E27FC236}">
                  <a16:creationId xmlns:a16="http://schemas.microsoft.com/office/drawing/2014/main" id="{D799709E-35E5-7603-3BEA-65A3A4E69ED7}"/>
                </a:ext>
              </a:extLst>
            </p:cNvPr>
            <p:cNvSpPr/>
            <p:nvPr/>
          </p:nvSpPr>
          <p:spPr>
            <a:xfrm>
              <a:off x="681490" y="2173856"/>
              <a:ext cx="1155939" cy="431321"/>
            </a:xfrm>
            <a:prstGeom prst="roundRect">
              <a:avLst>
                <a:gd name="adj" fmla="val 32609"/>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bg1"/>
                  </a:solidFill>
                </a:rPr>
                <a:t>United</a:t>
              </a:r>
              <a:endParaRPr lang="zh-CN" altLang="en-US" sz="2800" dirty="0">
                <a:solidFill>
                  <a:schemeClr val="bg1"/>
                </a:solidFill>
              </a:endParaRPr>
            </a:p>
          </p:txBody>
        </p:sp>
        <p:sp>
          <p:nvSpPr>
            <p:cNvPr id="22" name="矩形: 圆角 21">
              <a:extLst>
                <a:ext uri="{FF2B5EF4-FFF2-40B4-BE49-F238E27FC236}">
                  <a16:creationId xmlns:a16="http://schemas.microsoft.com/office/drawing/2014/main" id="{E9CBB4FA-0E50-823A-781D-31066415C884}"/>
                </a:ext>
              </a:extLst>
            </p:cNvPr>
            <p:cNvSpPr/>
            <p:nvPr/>
          </p:nvSpPr>
          <p:spPr>
            <a:xfrm>
              <a:off x="397498" y="3012055"/>
              <a:ext cx="1448557" cy="431321"/>
            </a:xfrm>
            <a:prstGeom prst="roundRect">
              <a:avLst>
                <a:gd name="adj" fmla="val 32609"/>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rPr>
                <a:t>Kingdom</a:t>
              </a:r>
              <a:endParaRPr lang="zh-CN" altLang="en-US" sz="2800" dirty="0">
                <a:solidFill>
                  <a:schemeClr val="bg1"/>
                </a:solidFill>
              </a:endParaRPr>
            </a:p>
          </p:txBody>
        </p:sp>
        <p:cxnSp>
          <p:nvCxnSpPr>
            <p:cNvPr id="23" name="直接箭头连接符 22">
              <a:extLst>
                <a:ext uri="{FF2B5EF4-FFF2-40B4-BE49-F238E27FC236}">
                  <a16:creationId xmlns:a16="http://schemas.microsoft.com/office/drawing/2014/main" id="{207E8334-3D68-1DAB-64C6-89CCC4338573}"/>
                </a:ext>
              </a:extLst>
            </p:cNvPr>
            <p:cNvCxnSpPr>
              <a:stCxn id="14" idx="3"/>
            </p:cNvCxnSpPr>
            <p:nvPr/>
          </p:nvCxnSpPr>
          <p:spPr>
            <a:xfrm flipV="1">
              <a:off x="1837429" y="2389516"/>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F288BC7C-7EBF-92C8-EFCD-1684BDFD929A}"/>
                </a:ext>
              </a:extLst>
            </p:cNvPr>
            <p:cNvCxnSpPr/>
            <p:nvPr/>
          </p:nvCxnSpPr>
          <p:spPr>
            <a:xfrm flipV="1">
              <a:off x="1846054" y="3227715"/>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5" name="梯形 24">
              <a:extLst>
                <a:ext uri="{FF2B5EF4-FFF2-40B4-BE49-F238E27FC236}">
                  <a16:creationId xmlns:a16="http://schemas.microsoft.com/office/drawing/2014/main" id="{D259FF65-9E9F-02E0-DE1B-35F20CA707BA}"/>
                </a:ext>
              </a:extLst>
            </p:cNvPr>
            <p:cNvSpPr/>
            <p:nvPr/>
          </p:nvSpPr>
          <p:spPr>
            <a:xfrm rot="5400000">
              <a:off x="2255809" y="2173855"/>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梯形 26">
              <a:extLst>
                <a:ext uri="{FF2B5EF4-FFF2-40B4-BE49-F238E27FC236}">
                  <a16:creationId xmlns:a16="http://schemas.microsoft.com/office/drawing/2014/main" id="{9219803E-D72D-05F5-011F-0019E1561F69}"/>
                </a:ext>
              </a:extLst>
            </p:cNvPr>
            <p:cNvSpPr/>
            <p:nvPr/>
          </p:nvSpPr>
          <p:spPr>
            <a:xfrm rot="5400000">
              <a:off x="2255808" y="3012054"/>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箭头连接符 28">
              <a:extLst>
                <a:ext uri="{FF2B5EF4-FFF2-40B4-BE49-F238E27FC236}">
                  <a16:creationId xmlns:a16="http://schemas.microsoft.com/office/drawing/2014/main" id="{9EFE2297-54D0-AF18-BE0E-8008BF04E290}"/>
                </a:ext>
              </a:extLst>
            </p:cNvPr>
            <p:cNvCxnSpPr/>
            <p:nvPr/>
          </p:nvCxnSpPr>
          <p:spPr>
            <a:xfrm flipV="1">
              <a:off x="2794960" y="2389515"/>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FCD71E0A-0F73-9604-78FE-D927BC22430D}"/>
                </a:ext>
              </a:extLst>
            </p:cNvPr>
            <p:cNvCxnSpPr/>
            <p:nvPr/>
          </p:nvCxnSpPr>
          <p:spPr>
            <a:xfrm flipV="1">
              <a:off x="2794960" y="3227713"/>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1" name="椭圆 30">
              <a:extLst>
                <a:ext uri="{FF2B5EF4-FFF2-40B4-BE49-F238E27FC236}">
                  <a16:creationId xmlns:a16="http://schemas.microsoft.com/office/drawing/2014/main" id="{7B37304C-6072-83DE-484D-35A87CA6E1D8}"/>
                </a:ext>
              </a:extLst>
            </p:cNvPr>
            <p:cNvSpPr/>
            <p:nvPr/>
          </p:nvSpPr>
          <p:spPr>
            <a:xfrm>
              <a:off x="3321172" y="2126409"/>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03B89F68-09CE-73A6-CE7A-A281FCBCC8C9}"/>
                </a:ext>
              </a:extLst>
            </p:cNvPr>
            <p:cNvSpPr/>
            <p:nvPr/>
          </p:nvSpPr>
          <p:spPr>
            <a:xfrm>
              <a:off x="3321172" y="2958857"/>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DC1C7F38-C729-104F-0DD5-901F9508BA66}"/>
                </a:ext>
              </a:extLst>
            </p:cNvPr>
            <p:cNvSpPr/>
            <p:nvPr/>
          </p:nvSpPr>
          <p:spPr>
            <a:xfrm>
              <a:off x="4698523" y="2126408"/>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6A221A68-64C4-E416-C6F3-F400F9F4A9DF}"/>
                </a:ext>
              </a:extLst>
            </p:cNvPr>
            <p:cNvSpPr/>
            <p:nvPr/>
          </p:nvSpPr>
          <p:spPr>
            <a:xfrm>
              <a:off x="4698523" y="2958857"/>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箭头连接符 36">
              <a:extLst>
                <a:ext uri="{FF2B5EF4-FFF2-40B4-BE49-F238E27FC236}">
                  <a16:creationId xmlns:a16="http://schemas.microsoft.com/office/drawing/2014/main" id="{DDEDC2EB-1679-4F85-53EA-EE9BF1BFB34E}"/>
                </a:ext>
              </a:extLst>
            </p:cNvPr>
            <p:cNvCxnSpPr>
              <a:cxnSpLocks/>
              <a:endCxn id="33" idx="2"/>
            </p:cNvCxnSpPr>
            <p:nvPr/>
          </p:nvCxnSpPr>
          <p:spPr>
            <a:xfrm>
              <a:off x="3847382" y="2389513"/>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FED2C1EC-A474-0DA3-E797-31DC48DB7088}"/>
                </a:ext>
              </a:extLst>
            </p:cNvPr>
            <p:cNvCxnSpPr>
              <a:cxnSpLocks/>
            </p:cNvCxnSpPr>
            <p:nvPr/>
          </p:nvCxnSpPr>
          <p:spPr>
            <a:xfrm>
              <a:off x="3847381" y="3221962"/>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0" name="梯形 49">
              <a:extLst>
                <a:ext uri="{FF2B5EF4-FFF2-40B4-BE49-F238E27FC236}">
                  <a16:creationId xmlns:a16="http://schemas.microsoft.com/office/drawing/2014/main" id="{542C420D-85F4-F486-0372-1A40A3B2249B}"/>
                </a:ext>
              </a:extLst>
            </p:cNvPr>
            <p:cNvSpPr/>
            <p:nvPr/>
          </p:nvSpPr>
          <p:spPr>
            <a:xfrm rot="5400000">
              <a:off x="2255808" y="3844498"/>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梯形 50">
              <a:extLst>
                <a:ext uri="{FF2B5EF4-FFF2-40B4-BE49-F238E27FC236}">
                  <a16:creationId xmlns:a16="http://schemas.microsoft.com/office/drawing/2014/main" id="{05311568-9FCD-B2BD-D97D-6D4E489CC40B}"/>
                </a:ext>
              </a:extLst>
            </p:cNvPr>
            <p:cNvSpPr/>
            <p:nvPr/>
          </p:nvSpPr>
          <p:spPr>
            <a:xfrm rot="5400000">
              <a:off x="2255807" y="4682697"/>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4" name="直接箭头连接符 53">
              <a:extLst>
                <a:ext uri="{FF2B5EF4-FFF2-40B4-BE49-F238E27FC236}">
                  <a16:creationId xmlns:a16="http://schemas.microsoft.com/office/drawing/2014/main" id="{D5AFFDE2-456B-81FB-C682-98931AA9BC1B}"/>
                </a:ext>
              </a:extLst>
            </p:cNvPr>
            <p:cNvCxnSpPr/>
            <p:nvPr/>
          </p:nvCxnSpPr>
          <p:spPr>
            <a:xfrm flipV="1">
              <a:off x="2794959" y="4060158"/>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D4775E70-2BF4-27D5-81B7-6D8B65D3DD45}"/>
                </a:ext>
              </a:extLst>
            </p:cNvPr>
            <p:cNvCxnSpPr/>
            <p:nvPr/>
          </p:nvCxnSpPr>
          <p:spPr>
            <a:xfrm flipV="1">
              <a:off x="2794959" y="4898356"/>
              <a:ext cx="52621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6" name="椭圆 55">
              <a:extLst>
                <a:ext uri="{FF2B5EF4-FFF2-40B4-BE49-F238E27FC236}">
                  <a16:creationId xmlns:a16="http://schemas.microsoft.com/office/drawing/2014/main" id="{59AAE0E0-1B2C-46D9-A883-34F99B6A78D1}"/>
                </a:ext>
              </a:extLst>
            </p:cNvPr>
            <p:cNvSpPr/>
            <p:nvPr/>
          </p:nvSpPr>
          <p:spPr>
            <a:xfrm>
              <a:off x="3321171" y="3797052"/>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a:extLst>
                <a:ext uri="{FF2B5EF4-FFF2-40B4-BE49-F238E27FC236}">
                  <a16:creationId xmlns:a16="http://schemas.microsoft.com/office/drawing/2014/main" id="{BD160069-77EC-8E5A-7A41-E5A0DD936C97}"/>
                </a:ext>
              </a:extLst>
            </p:cNvPr>
            <p:cNvSpPr/>
            <p:nvPr/>
          </p:nvSpPr>
          <p:spPr>
            <a:xfrm>
              <a:off x="3321171" y="4629500"/>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1E86CCA7-E199-4740-B988-BC961B575505}"/>
                </a:ext>
              </a:extLst>
            </p:cNvPr>
            <p:cNvSpPr/>
            <p:nvPr/>
          </p:nvSpPr>
          <p:spPr>
            <a:xfrm>
              <a:off x="4698522" y="3797051"/>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a:extLst>
                <a:ext uri="{FF2B5EF4-FFF2-40B4-BE49-F238E27FC236}">
                  <a16:creationId xmlns:a16="http://schemas.microsoft.com/office/drawing/2014/main" id="{E3D65933-B517-DEEC-432D-5510985EBBD3}"/>
                </a:ext>
              </a:extLst>
            </p:cNvPr>
            <p:cNvSpPr/>
            <p:nvPr/>
          </p:nvSpPr>
          <p:spPr>
            <a:xfrm>
              <a:off x="4698522" y="4629500"/>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箭头连接符 61">
              <a:extLst>
                <a:ext uri="{FF2B5EF4-FFF2-40B4-BE49-F238E27FC236}">
                  <a16:creationId xmlns:a16="http://schemas.microsoft.com/office/drawing/2014/main" id="{D51C5DE0-FC50-D2C5-0E8F-AF2C04184488}"/>
                </a:ext>
              </a:extLst>
            </p:cNvPr>
            <p:cNvCxnSpPr>
              <a:cxnSpLocks/>
              <a:endCxn id="59" idx="2"/>
            </p:cNvCxnSpPr>
            <p:nvPr/>
          </p:nvCxnSpPr>
          <p:spPr>
            <a:xfrm>
              <a:off x="3847381" y="4060156"/>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62EC356A-3E2D-C9C0-1CF9-9FA2355E0794}"/>
                </a:ext>
              </a:extLst>
            </p:cNvPr>
            <p:cNvCxnSpPr>
              <a:cxnSpLocks/>
            </p:cNvCxnSpPr>
            <p:nvPr/>
          </p:nvCxnSpPr>
          <p:spPr>
            <a:xfrm>
              <a:off x="3847380" y="4892605"/>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4" name="连接符: 曲线 63">
              <a:extLst>
                <a:ext uri="{FF2B5EF4-FFF2-40B4-BE49-F238E27FC236}">
                  <a16:creationId xmlns:a16="http://schemas.microsoft.com/office/drawing/2014/main" id="{A004B6D7-E05F-4C50-53DA-32A88982D745}"/>
                </a:ext>
              </a:extLst>
            </p:cNvPr>
            <p:cNvCxnSpPr>
              <a:cxnSpLocks/>
              <a:stCxn id="31" idx="6"/>
              <a:endCxn id="36" idx="2"/>
            </p:cNvCxnSpPr>
            <p:nvPr/>
          </p:nvCxnSpPr>
          <p:spPr>
            <a:xfrm>
              <a:off x="3847383" y="2389515"/>
              <a:ext cx="851140" cy="832448"/>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65" name="连接符: 曲线 64">
              <a:extLst>
                <a:ext uri="{FF2B5EF4-FFF2-40B4-BE49-F238E27FC236}">
                  <a16:creationId xmlns:a16="http://schemas.microsoft.com/office/drawing/2014/main" id="{580BF945-B3E1-3B83-9ECA-B4C028E21F6D}"/>
                </a:ext>
              </a:extLst>
            </p:cNvPr>
            <p:cNvCxnSpPr>
              <a:cxnSpLocks/>
              <a:stCxn id="32" idx="6"/>
              <a:endCxn id="59" idx="2"/>
            </p:cNvCxnSpPr>
            <p:nvPr/>
          </p:nvCxnSpPr>
          <p:spPr>
            <a:xfrm>
              <a:off x="3847383" y="3221963"/>
              <a:ext cx="851139" cy="838194"/>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66" name="连接符: 曲线 65">
              <a:extLst>
                <a:ext uri="{FF2B5EF4-FFF2-40B4-BE49-F238E27FC236}">
                  <a16:creationId xmlns:a16="http://schemas.microsoft.com/office/drawing/2014/main" id="{8D3DF66A-105A-BA8F-8131-0E255995E148}"/>
                </a:ext>
              </a:extLst>
            </p:cNvPr>
            <p:cNvCxnSpPr>
              <a:cxnSpLocks/>
            </p:cNvCxnSpPr>
            <p:nvPr/>
          </p:nvCxnSpPr>
          <p:spPr>
            <a:xfrm>
              <a:off x="3847382" y="4054406"/>
              <a:ext cx="851139" cy="838194"/>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8012BFB7-4620-180A-D788-94FC5CB0072F}"/>
                </a:ext>
              </a:extLst>
            </p:cNvPr>
            <p:cNvCxnSpPr>
              <a:cxnSpLocks/>
            </p:cNvCxnSpPr>
            <p:nvPr/>
          </p:nvCxnSpPr>
          <p:spPr>
            <a:xfrm>
              <a:off x="4272950" y="2760445"/>
              <a:ext cx="0" cy="83244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3C0EE2E5-B3ED-2F64-9D24-5DB353348CCD}"/>
                </a:ext>
              </a:extLst>
            </p:cNvPr>
            <p:cNvCxnSpPr>
              <a:cxnSpLocks/>
            </p:cNvCxnSpPr>
            <p:nvPr/>
          </p:nvCxnSpPr>
          <p:spPr>
            <a:xfrm>
              <a:off x="4272950" y="3592894"/>
              <a:ext cx="0" cy="83244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9" name="椭圆 68">
              <a:extLst>
                <a:ext uri="{FF2B5EF4-FFF2-40B4-BE49-F238E27FC236}">
                  <a16:creationId xmlns:a16="http://schemas.microsoft.com/office/drawing/2014/main" id="{215D9442-DE77-DD58-0761-7AA637124D9F}"/>
                </a:ext>
              </a:extLst>
            </p:cNvPr>
            <p:cNvSpPr/>
            <p:nvPr/>
          </p:nvSpPr>
          <p:spPr>
            <a:xfrm>
              <a:off x="8082933" y="2109151"/>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a:extLst>
                <a:ext uri="{FF2B5EF4-FFF2-40B4-BE49-F238E27FC236}">
                  <a16:creationId xmlns:a16="http://schemas.microsoft.com/office/drawing/2014/main" id="{D18053D7-8E18-3B4B-C0CD-6C51D45FB2C7}"/>
                </a:ext>
              </a:extLst>
            </p:cNvPr>
            <p:cNvSpPr/>
            <p:nvPr/>
          </p:nvSpPr>
          <p:spPr>
            <a:xfrm>
              <a:off x="8082933" y="2941600"/>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a:extLst>
                <a:ext uri="{FF2B5EF4-FFF2-40B4-BE49-F238E27FC236}">
                  <a16:creationId xmlns:a16="http://schemas.microsoft.com/office/drawing/2014/main" id="{1522ED15-B0F3-3165-0B5C-FB551EA5342C}"/>
                </a:ext>
              </a:extLst>
            </p:cNvPr>
            <p:cNvSpPr/>
            <p:nvPr/>
          </p:nvSpPr>
          <p:spPr>
            <a:xfrm>
              <a:off x="8082932" y="3779794"/>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47F0D71F-939D-9CFF-D81E-7F9A5DD183BC}"/>
                </a:ext>
              </a:extLst>
            </p:cNvPr>
            <p:cNvSpPr/>
            <p:nvPr/>
          </p:nvSpPr>
          <p:spPr>
            <a:xfrm>
              <a:off x="8082932" y="4612243"/>
              <a:ext cx="526211" cy="526211"/>
            </a:xfrm>
            <a:prstGeom prst="ellipse">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9" name="直接箭头连接符 78">
              <a:extLst>
                <a:ext uri="{FF2B5EF4-FFF2-40B4-BE49-F238E27FC236}">
                  <a16:creationId xmlns:a16="http://schemas.microsoft.com/office/drawing/2014/main" id="{1CF62B84-AF99-50AB-AD08-0420EC3957C9}"/>
                </a:ext>
              </a:extLst>
            </p:cNvPr>
            <p:cNvCxnSpPr>
              <a:cxnSpLocks/>
              <a:stCxn id="33" idx="6"/>
            </p:cNvCxnSpPr>
            <p:nvPr/>
          </p:nvCxnSpPr>
          <p:spPr>
            <a:xfrm flipV="1">
              <a:off x="5224734" y="2372256"/>
              <a:ext cx="854028" cy="172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09BA8EEA-287D-8B1A-595B-2DD30E7EB618}"/>
                </a:ext>
              </a:extLst>
            </p:cNvPr>
            <p:cNvCxnSpPr>
              <a:cxnSpLocks/>
            </p:cNvCxnSpPr>
            <p:nvPr/>
          </p:nvCxnSpPr>
          <p:spPr>
            <a:xfrm>
              <a:off x="5227620" y="3204704"/>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A2A204C2-F849-4C48-D9D7-1691316C8CEA}"/>
                </a:ext>
              </a:extLst>
            </p:cNvPr>
            <p:cNvCxnSpPr>
              <a:cxnSpLocks/>
              <a:stCxn id="59" idx="6"/>
            </p:cNvCxnSpPr>
            <p:nvPr/>
          </p:nvCxnSpPr>
          <p:spPr>
            <a:xfrm flipV="1">
              <a:off x="5224733" y="4042899"/>
              <a:ext cx="854028" cy="172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a:extLst>
                <a:ext uri="{FF2B5EF4-FFF2-40B4-BE49-F238E27FC236}">
                  <a16:creationId xmlns:a16="http://schemas.microsoft.com/office/drawing/2014/main" id="{177843C0-F428-1B98-0E4C-A6EE65BD5924}"/>
                </a:ext>
              </a:extLst>
            </p:cNvPr>
            <p:cNvCxnSpPr>
              <a:cxnSpLocks/>
              <a:stCxn id="61" idx="6"/>
            </p:cNvCxnSpPr>
            <p:nvPr/>
          </p:nvCxnSpPr>
          <p:spPr>
            <a:xfrm flipV="1">
              <a:off x="5224733" y="4881092"/>
              <a:ext cx="854027" cy="115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7" name="连接符: 曲线 86">
              <a:extLst>
                <a:ext uri="{FF2B5EF4-FFF2-40B4-BE49-F238E27FC236}">
                  <a16:creationId xmlns:a16="http://schemas.microsoft.com/office/drawing/2014/main" id="{C6D8D008-B98E-8707-0CE2-C81646A7BC75}"/>
                </a:ext>
              </a:extLst>
            </p:cNvPr>
            <p:cNvCxnSpPr>
              <a:cxnSpLocks/>
              <a:stCxn id="33" idx="6"/>
            </p:cNvCxnSpPr>
            <p:nvPr/>
          </p:nvCxnSpPr>
          <p:spPr>
            <a:xfrm>
              <a:off x="5224734" y="2389514"/>
              <a:ext cx="854028" cy="815191"/>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90" name="连接符: 曲线 89">
              <a:extLst>
                <a:ext uri="{FF2B5EF4-FFF2-40B4-BE49-F238E27FC236}">
                  <a16:creationId xmlns:a16="http://schemas.microsoft.com/office/drawing/2014/main" id="{DAD99D9B-8BB8-104A-4A24-A3120BE68B56}"/>
                </a:ext>
              </a:extLst>
            </p:cNvPr>
            <p:cNvCxnSpPr>
              <a:cxnSpLocks/>
              <a:stCxn id="36" idx="6"/>
            </p:cNvCxnSpPr>
            <p:nvPr/>
          </p:nvCxnSpPr>
          <p:spPr>
            <a:xfrm>
              <a:off x="5224734" y="3221963"/>
              <a:ext cx="854027" cy="820936"/>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91" name="连接符: 曲线 90">
              <a:extLst>
                <a:ext uri="{FF2B5EF4-FFF2-40B4-BE49-F238E27FC236}">
                  <a16:creationId xmlns:a16="http://schemas.microsoft.com/office/drawing/2014/main" id="{EB94D40C-E6BF-9535-DFAD-23F59048CFE3}"/>
                </a:ext>
              </a:extLst>
            </p:cNvPr>
            <p:cNvCxnSpPr>
              <a:cxnSpLocks/>
              <a:stCxn id="59" idx="6"/>
            </p:cNvCxnSpPr>
            <p:nvPr/>
          </p:nvCxnSpPr>
          <p:spPr>
            <a:xfrm>
              <a:off x="5224733" y="4060157"/>
              <a:ext cx="854027" cy="815185"/>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6B335461-84D2-F331-11C5-79582F519086}"/>
                </a:ext>
              </a:extLst>
            </p:cNvPr>
            <p:cNvCxnSpPr>
              <a:cxnSpLocks/>
            </p:cNvCxnSpPr>
            <p:nvPr/>
          </p:nvCxnSpPr>
          <p:spPr>
            <a:xfrm>
              <a:off x="5653189" y="2743187"/>
              <a:ext cx="0" cy="83244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F0DAE1C9-C3FE-4514-96E9-57106516E64E}"/>
                </a:ext>
              </a:extLst>
            </p:cNvPr>
            <p:cNvCxnSpPr>
              <a:cxnSpLocks/>
            </p:cNvCxnSpPr>
            <p:nvPr/>
          </p:nvCxnSpPr>
          <p:spPr>
            <a:xfrm>
              <a:off x="5653189" y="3575636"/>
              <a:ext cx="0" cy="83244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2" name="椭圆 101">
              <a:extLst>
                <a:ext uri="{FF2B5EF4-FFF2-40B4-BE49-F238E27FC236}">
                  <a16:creationId xmlns:a16="http://schemas.microsoft.com/office/drawing/2014/main" id="{5EF92BAF-4992-5E59-40D6-5AA3FD07C96D}"/>
                </a:ext>
              </a:extLst>
            </p:cNvPr>
            <p:cNvSpPr/>
            <p:nvPr/>
          </p:nvSpPr>
          <p:spPr>
            <a:xfrm>
              <a:off x="6242669" y="2273052"/>
              <a:ext cx="198407" cy="198407"/>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a:extLst>
                <a:ext uri="{FF2B5EF4-FFF2-40B4-BE49-F238E27FC236}">
                  <a16:creationId xmlns:a16="http://schemas.microsoft.com/office/drawing/2014/main" id="{74157B96-7DE9-8E1A-F9D2-2F5244ADDB98}"/>
                </a:ext>
              </a:extLst>
            </p:cNvPr>
            <p:cNvSpPr/>
            <p:nvPr/>
          </p:nvSpPr>
          <p:spPr>
            <a:xfrm>
              <a:off x="6505765" y="2273051"/>
              <a:ext cx="198407" cy="198407"/>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椭圆 124">
              <a:extLst>
                <a:ext uri="{FF2B5EF4-FFF2-40B4-BE49-F238E27FC236}">
                  <a16:creationId xmlns:a16="http://schemas.microsoft.com/office/drawing/2014/main" id="{597F6205-F9CA-C978-6403-73F4393EA1D0}"/>
                </a:ext>
              </a:extLst>
            </p:cNvPr>
            <p:cNvSpPr/>
            <p:nvPr/>
          </p:nvSpPr>
          <p:spPr>
            <a:xfrm>
              <a:off x="6768861" y="2273050"/>
              <a:ext cx="198407" cy="198407"/>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a:extLst>
                <a:ext uri="{FF2B5EF4-FFF2-40B4-BE49-F238E27FC236}">
                  <a16:creationId xmlns:a16="http://schemas.microsoft.com/office/drawing/2014/main" id="{58DBAAEC-C358-9599-46B3-5F9AC5FAED59}"/>
                </a:ext>
              </a:extLst>
            </p:cNvPr>
            <p:cNvSpPr/>
            <p:nvPr/>
          </p:nvSpPr>
          <p:spPr>
            <a:xfrm>
              <a:off x="6242669" y="3105502"/>
              <a:ext cx="198407" cy="198407"/>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椭圆 126">
              <a:extLst>
                <a:ext uri="{FF2B5EF4-FFF2-40B4-BE49-F238E27FC236}">
                  <a16:creationId xmlns:a16="http://schemas.microsoft.com/office/drawing/2014/main" id="{5C35D7EE-2566-B558-D8ED-0423DA9C6D1D}"/>
                </a:ext>
              </a:extLst>
            </p:cNvPr>
            <p:cNvSpPr/>
            <p:nvPr/>
          </p:nvSpPr>
          <p:spPr>
            <a:xfrm>
              <a:off x="6505765" y="3105501"/>
              <a:ext cx="198407" cy="198407"/>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a:extLst>
                <a:ext uri="{FF2B5EF4-FFF2-40B4-BE49-F238E27FC236}">
                  <a16:creationId xmlns:a16="http://schemas.microsoft.com/office/drawing/2014/main" id="{411A2A8F-B82E-CC55-4EFF-DC21AD794DDB}"/>
                </a:ext>
              </a:extLst>
            </p:cNvPr>
            <p:cNvSpPr/>
            <p:nvPr/>
          </p:nvSpPr>
          <p:spPr>
            <a:xfrm>
              <a:off x="6768861" y="3105500"/>
              <a:ext cx="198407" cy="198407"/>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a:extLst>
                <a:ext uri="{FF2B5EF4-FFF2-40B4-BE49-F238E27FC236}">
                  <a16:creationId xmlns:a16="http://schemas.microsoft.com/office/drawing/2014/main" id="{F505B05A-C045-0476-7D95-311C570F9B3F}"/>
                </a:ext>
              </a:extLst>
            </p:cNvPr>
            <p:cNvSpPr/>
            <p:nvPr/>
          </p:nvSpPr>
          <p:spPr>
            <a:xfrm>
              <a:off x="6242669" y="3937946"/>
              <a:ext cx="198407" cy="198407"/>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椭圆 130">
              <a:extLst>
                <a:ext uri="{FF2B5EF4-FFF2-40B4-BE49-F238E27FC236}">
                  <a16:creationId xmlns:a16="http://schemas.microsoft.com/office/drawing/2014/main" id="{22D9AB5C-4DF3-D249-D265-549AD5393A20}"/>
                </a:ext>
              </a:extLst>
            </p:cNvPr>
            <p:cNvSpPr/>
            <p:nvPr/>
          </p:nvSpPr>
          <p:spPr>
            <a:xfrm>
              <a:off x="6505765" y="3937945"/>
              <a:ext cx="198407" cy="198407"/>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a:extLst>
                <a:ext uri="{FF2B5EF4-FFF2-40B4-BE49-F238E27FC236}">
                  <a16:creationId xmlns:a16="http://schemas.microsoft.com/office/drawing/2014/main" id="{E1F129BE-CE5E-21BC-E992-DB34D9A663F7}"/>
                </a:ext>
              </a:extLst>
            </p:cNvPr>
            <p:cNvSpPr/>
            <p:nvPr/>
          </p:nvSpPr>
          <p:spPr>
            <a:xfrm>
              <a:off x="6768861" y="3937944"/>
              <a:ext cx="198407" cy="198407"/>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a:extLst>
                <a:ext uri="{FF2B5EF4-FFF2-40B4-BE49-F238E27FC236}">
                  <a16:creationId xmlns:a16="http://schemas.microsoft.com/office/drawing/2014/main" id="{BAF72BD2-C030-D9E7-5A79-CA3935385098}"/>
                </a:ext>
              </a:extLst>
            </p:cNvPr>
            <p:cNvSpPr/>
            <p:nvPr/>
          </p:nvSpPr>
          <p:spPr>
            <a:xfrm>
              <a:off x="6242669" y="4770390"/>
              <a:ext cx="198407" cy="198407"/>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a:extLst>
                <a:ext uri="{FF2B5EF4-FFF2-40B4-BE49-F238E27FC236}">
                  <a16:creationId xmlns:a16="http://schemas.microsoft.com/office/drawing/2014/main" id="{A981F47F-A2AF-7F58-945C-49774A08C43D}"/>
                </a:ext>
              </a:extLst>
            </p:cNvPr>
            <p:cNvSpPr/>
            <p:nvPr/>
          </p:nvSpPr>
          <p:spPr>
            <a:xfrm>
              <a:off x="6505765" y="4770389"/>
              <a:ext cx="198407" cy="198407"/>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134">
              <a:extLst>
                <a:ext uri="{FF2B5EF4-FFF2-40B4-BE49-F238E27FC236}">
                  <a16:creationId xmlns:a16="http://schemas.microsoft.com/office/drawing/2014/main" id="{F9541697-6A1E-F64F-8A5E-5F6AD8CF87C9}"/>
                </a:ext>
              </a:extLst>
            </p:cNvPr>
            <p:cNvSpPr/>
            <p:nvPr/>
          </p:nvSpPr>
          <p:spPr>
            <a:xfrm>
              <a:off x="6768861" y="4770388"/>
              <a:ext cx="198407" cy="198407"/>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6" name="直接箭头连接符 135">
              <a:extLst>
                <a:ext uri="{FF2B5EF4-FFF2-40B4-BE49-F238E27FC236}">
                  <a16:creationId xmlns:a16="http://schemas.microsoft.com/office/drawing/2014/main" id="{95BD3B75-C82B-7072-4A67-D55EC0635DB3}"/>
                </a:ext>
              </a:extLst>
            </p:cNvPr>
            <p:cNvCxnSpPr>
              <a:cxnSpLocks/>
              <a:endCxn id="69" idx="2"/>
            </p:cNvCxnSpPr>
            <p:nvPr/>
          </p:nvCxnSpPr>
          <p:spPr>
            <a:xfrm>
              <a:off x="7231797" y="2372255"/>
              <a:ext cx="851136" cy="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7" name="直接箭头连接符 136">
              <a:extLst>
                <a:ext uri="{FF2B5EF4-FFF2-40B4-BE49-F238E27FC236}">
                  <a16:creationId xmlns:a16="http://schemas.microsoft.com/office/drawing/2014/main" id="{A138DFC8-0DCD-0342-19FF-2908F8B07530}"/>
                </a:ext>
              </a:extLst>
            </p:cNvPr>
            <p:cNvCxnSpPr>
              <a:cxnSpLocks/>
            </p:cNvCxnSpPr>
            <p:nvPr/>
          </p:nvCxnSpPr>
          <p:spPr>
            <a:xfrm>
              <a:off x="7231796" y="3204704"/>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8" name="直接箭头连接符 137">
              <a:extLst>
                <a:ext uri="{FF2B5EF4-FFF2-40B4-BE49-F238E27FC236}">
                  <a16:creationId xmlns:a16="http://schemas.microsoft.com/office/drawing/2014/main" id="{072505AB-210B-0BC4-9C92-15599DD586C0}"/>
                </a:ext>
              </a:extLst>
            </p:cNvPr>
            <p:cNvCxnSpPr>
              <a:cxnSpLocks/>
            </p:cNvCxnSpPr>
            <p:nvPr/>
          </p:nvCxnSpPr>
          <p:spPr>
            <a:xfrm>
              <a:off x="7231796" y="4042898"/>
              <a:ext cx="85114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9" name="直接箭头连接符 138">
              <a:extLst>
                <a:ext uri="{FF2B5EF4-FFF2-40B4-BE49-F238E27FC236}">
                  <a16:creationId xmlns:a16="http://schemas.microsoft.com/office/drawing/2014/main" id="{4502056E-6D21-00A6-5AC9-C9241ABB6EE0}"/>
                </a:ext>
              </a:extLst>
            </p:cNvPr>
            <p:cNvCxnSpPr>
              <a:cxnSpLocks/>
              <a:endCxn id="76" idx="2"/>
            </p:cNvCxnSpPr>
            <p:nvPr/>
          </p:nvCxnSpPr>
          <p:spPr>
            <a:xfrm>
              <a:off x="7231795" y="4875347"/>
              <a:ext cx="851137" cy="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5" name="连接符: 曲线 144">
              <a:extLst>
                <a:ext uri="{FF2B5EF4-FFF2-40B4-BE49-F238E27FC236}">
                  <a16:creationId xmlns:a16="http://schemas.microsoft.com/office/drawing/2014/main" id="{6DBB4DCA-FD87-747F-37B8-DE3A11C4A676}"/>
                </a:ext>
              </a:extLst>
            </p:cNvPr>
            <p:cNvCxnSpPr>
              <a:cxnSpLocks/>
              <a:endCxn id="70" idx="2"/>
            </p:cNvCxnSpPr>
            <p:nvPr/>
          </p:nvCxnSpPr>
          <p:spPr>
            <a:xfrm>
              <a:off x="7231798" y="2372257"/>
              <a:ext cx="851135" cy="832449"/>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146" name="连接符: 曲线 145">
              <a:extLst>
                <a:ext uri="{FF2B5EF4-FFF2-40B4-BE49-F238E27FC236}">
                  <a16:creationId xmlns:a16="http://schemas.microsoft.com/office/drawing/2014/main" id="{F75DD8AA-1DE0-8137-835E-C5000E445E29}"/>
                </a:ext>
              </a:extLst>
            </p:cNvPr>
            <p:cNvCxnSpPr>
              <a:cxnSpLocks/>
              <a:endCxn id="75" idx="2"/>
            </p:cNvCxnSpPr>
            <p:nvPr/>
          </p:nvCxnSpPr>
          <p:spPr>
            <a:xfrm>
              <a:off x="7231798" y="3204705"/>
              <a:ext cx="851134" cy="838195"/>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147" name="连接符: 曲线 146">
              <a:extLst>
                <a:ext uri="{FF2B5EF4-FFF2-40B4-BE49-F238E27FC236}">
                  <a16:creationId xmlns:a16="http://schemas.microsoft.com/office/drawing/2014/main" id="{E347E22E-34FB-A1FD-BBB8-BF27D472D958}"/>
                </a:ext>
              </a:extLst>
            </p:cNvPr>
            <p:cNvCxnSpPr>
              <a:cxnSpLocks/>
              <a:endCxn id="76" idx="2"/>
            </p:cNvCxnSpPr>
            <p:nvPr/>
          </p:nvCxnSpPr>
          <p:spPr>
            <a:xfrm>
              <a:off x="7231797" y="4037148"/>
              <a:ext cx="851135" cy="838201"/>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140EDA00-CD85-B867-0790-7D9ACA9FA391}"/>
                </a:ext>
              </a:extLst>
            </p:cNvPr>
            <p:cNvCxnSpPr>
              <a:cxnSpLocks/>
            </p:cNvCxnSpPr>
            <p:nvPr/>
          </p:nvCxnSpPr>
          <p:spPr>
            <a:xfrm>
              <a:off x="7657365" y="2760445"/>
              <a:ext cx="0" cy="81519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1B090840-3EDB-4B13-2122-B9D360680784}"/>
                </a:ext>
              </a:extLst>
            </p:cNvPr>
            <p:cNvCxnSpPr>
              <a:cxnSpLocks/>
            </p:cNvCxnSpPr>
            <p:nvPr/>
          </p:nvCxnSpPr>
          <p:spPr>
            <a:xfrm>
              <a:off x="7657365" y="3575636"/>
              <a:ext cx="0" cy="9101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7D3702C3-5D39-3405-CFF5-758FDEC3D069}"/>
                </a:ext>
              </a:extLst>
            </p:cNvPr>
            <p:cNvCxnSpPr>
              <a:cxnSpLocks/>
              <a:stCxn id="69" idx="6"/>
              <a:endCxn id="157" idx="0"/>
            </p:cNvCxnSpPr>
            <p:nvPr/>
          </p:nvCxnSpPr>
          <p:spPr>
            <a:xfrm flipV="1">
              <a:off x="8609144" y="2368200"/>
              <a:ext cx="526193" cy="40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4" name="直接箭头连接符 153">
              <a:extLst>
                <a:ext uri="{FF2B5EF4-FFF2-40B4-BE49-F238E27FC236}">
                  <a16:creationId xmlns:a16="http://schemas.microsoft.com/office/drawing/2014/main" id="{9EB3E242-7C43-C507-E884-9D906AF0394A}"/>
                </a:ext>
              </a:extLst>
            </p:cNvPr>
            <p:cNvCxnSpPr>
              <a:cxnSpLocks/>
              <a:stCxn id="70" idx="6"/>
              <a:endCxn id="158" idx="0"/>
            </p:cNvCxnSpPr>
            <p:nvPr/>
          </p:nvCxnSpPr>
          <p:spPr>
            <a:xfrm flipV="1">
              <a:off x="8609144" y="3203521"/>
              <a:ext cx="526190" cy="118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5" name="直接箭头连接符 154">
              <a:extLst>
                <a:ext uri="{FF2B5EF4-FFF2-40B4-BE49-F238E27FC236}">
                  <a16:creationId xmlns:a16="http://schemas.microsoft.com/office/drawing/2014/main" id="{A36C8E79-917E-3105-A12A-0E57620244E6}"/>
                </a:ext>
              </a:extLst>
            </p:cNvPr>
            <p:cNvCxnSpPr>
              <a:cxnSpLocks/>
              <a:stCxn id="75" idx="6"/>
              <a:endCxn id="159" idx="0"/>
            </p:cNvCxnSpPr>
            <p:nvPr/>
          </p:nvCxnSpPr>
          <p:spPr>
            <a:xfrm>
              <a:off x="8609143" y="4042900"/>
              <a:ext cx="517521" cy="14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6" name="直接箭头连接符 155">
              <a:extLst>
                <a:ext uri="{FF2B5EF4-FFF2-40B4-BE49-F238E27FC236}">
                  <a16:creationId xmlns:a16="http://schemas.microsoft.com/office/drawing/2014/main" id="{6C657C64-E5AA-FB28-3C40-8A4ED7DCFCBC}"/>
                </a:ext>
              </a:extLst>
            </p:cNvPr>
            <p:cNvCxnSpPr>
              <a:cxnSpLocks/>
              <a:stCxn id="76" idx="6"/>
              <a:endCxn id="160" idx="0"/>
            </p:cNvCxnSpPr>
            <p:nvPr/>
          </p:nvCxnSpPr>
          <p:spPr>
            <a:xfrm flipV="1">
              <a:off x="8609143" y="4873883"/>
              <a:ext cx="526189" cy="14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7" name="梯形 156">
              <a:extLst>
                <a:ext uri="{FF2B5EF4-FFF2-40B4-BE49-F238E27FC236}">
                  <a16:creationId xmlns:a16="http://schemas.microsoft.com/office/drawing/2014/main" id="{7BC38674-5B37-36FE-CCDB-AC59AEF58C39}"/>
                </a:ext>
              </a:extLst>
            </p:cNvPr>
            <p:cNvSpPr/>
            <p:nvPr/>
          </p:nvSpPr>
          <p:spPr>
            <a:xfrm rot="16200000">
              <a:off x="9027507" y="2152539"/>
              <a:ext cx="646981" cy="431322"/>
            </a:xfrm>
            <a:prstGeom prst="trapezoid">
              <a:avLst/>
            </a:prstGeom>
            <a:noFill/>
            <a:ln w="3810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梯形 157">
              <a:extLst>
                <a:ext uri="{FF2B5EF4-FFF2-40B4-BE49-F238E27FC236}">
                  <a16:creationId xmlns:a16="http://schemas.microsoft.com/office/drawing/2014/main" id="{66722BB2-6B72-DDB5-5541-12371C475A50}"/>
                </a:ext>
              </a:extLst>
            </p:cNvPr>
            <p:cNvSpPr/>
            <p:nvPr/>
          </p:nvSpPr>
          <p:spPr>
            <a:xfrm rot="16200000">
              <a:off x="9027504" y="2987860"/>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梯形 158">
              <a:extLst>
                <a:ext uri="{FF2B5EF4-FFF2-40B4-BE49-F238E27FC236}">
                  <a16:creationId xmlns:a16="http://schemas.microsoft.com/office/drawing/2014/main" id="{676718FF-6027-4133-E4AD-053088559516}"/>
                </a:ext>
              </a:extLst>
            </p:cNvPr>
            <p:cNvSpPr/>
            <p:nvPr/>
          </p:nvSpPr>
          <p:spPr>
            <a:xfrm rot="16200000">
              <a:off x="9018834" y="3828639"/>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0" name="梯形 159">
              <a:extLst>
                <a:ext uri="{FF2B5EF4-FFF2-40B4-BE49-F238E27FC236}">
                  <a16:creationId xmlns:a16="http://schemas.microsoft.com/office/drawing/2014/main" id="{FF0A5034-93C7-EFF5-A0E4-ED096A648083}"/>
                </a:ext>
              </a:extLst>
            </p:cNvPr>
            <p:cNvSpPr/>
            <p:nvPr/>
          </p:nvSpPr>
          <p:spPr>
            <a:xfrm rot="16200000">
              <a:off x="9027502" y="4658222"/>
              <a:ext cx="646981" cy="431322"/>
            </a:xfrm>
            <a:prstGeom prst="trapezoid">
              <a:avLst/>
            </a:prstGeom>
            <a:solidFill>
              <a:schemeClr val="accent1">
                <a:lumMod val="40000"/>
                <a:lumOff val="6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1" name="直接箭头连接符 160">
              <a:extLst>
                <a:ext uri="{FF2B5EF4-FFF2-40B4-BE49-F238E27FC236}">
                  <a16:creationId xmlns:a16="http://schemas.microsoft.com/office/drawing/2014/main" id="{DFF3CDAD-CA98-F4AF-6B98-CD6521A19ADE}"/>
                </a:ext>
              </a:extLst>
            </p:cNvPr>
            <p:cNvCxnSpPr>
              <a:cxnSpLocks/>
              <a:endCxn id="50" idx="2"/>
            </p:cNvCxnSpPr>
            <p:nvPr/>
          </p:nvCxnSpPr>
          <p:spPr>
            <a:xfrm>
              <a:off x="1836006" y="4060160"/>
              <a:ext cx="52763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2" name="直接箭头连接符 161">
              <a:extLst>
                <a:ext uri="{FF2B5EF4-FFF2-40B4-BE49-F238E27FC236}">
                  <a16:creationId xmlns:a16="http://schemas.microsoft.com/office/drawing/2014/main" id="{B312165D-BA7B-C217-2677-BA034D1FFD0E}"/>
                </a:ext>
              </a:extLst>
            </p:cNvPr>
            <p:cNvCxnSpPr>
              <a:cxnSpLocks/>
              <a:endCxn id="51" idx="2"/>
            </p:cNvCxnSpPr>
            <p:nvPr/>
          </p:nvCxnSpPr>
          <p:spPr>
            <a:xfrm>
              <a:off x="1846054" y="4898359"/>
              <a:ext cx="51758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3" name="弧形 162">
              <a:extLst>
                <a:ext uri="{FF2B5EF4-FFF2-40B4-BE49-F238E27FC236}">
                  <a16:creationId xmlns:a16="http://schemas.microsoft.com/office/drawing/2014/main" id="{A4C91EB3-46B9-1CE7-FBC8-71D2B75658B2}"/>
                </a:ext>
              </a:extLst>
            </p:cNvPr>
            <p:cNvSpPr/>
            <p:nvPr/>
          </p:nvSpPr>
          <p:spPr>
            <a:xfrm flipH="1" flipV="1">
              <a:off x="1447854" y="3766866"/>
              <a:ext cx="792144" cy="293288"/>
            </a:xfrm>
            <a:prstGeom prst="arc">
              <a:avLst>
                <a:gd name="adj1" fmla="val 16384094"/>
                <a:gd name="adj2" fmla="val 5022831"/>
              </a:avLst>
            </a:prstGeom>
            <a:ln w="38100">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5" name="弧形 164">
              <a:extLst>
                <a:ext uri="{FF2B5EF4-FFF2-40B4-BE49-F238E27FC236}">
                  <a16:creationId xmlns:a16="http://schemas.microsoft.com/office/drawing/2014/main" id="{8E2F1FE0-36C1-434E-4E1D-F72FA14AC952}"/>
                </a:ext>
              </a:extLst>
            </p:cNvPr>
            <p:cNvSpPr/>
            <p:nvPr/>
          </p:nvSpPr>
          <p:spPr>
            <a:xfrm flipH="1" flipV="1">
              <a:off x="1476604" y="4607915"/>
              <a:ext cx="792144" cy="293288"/>
            </a:xfrm>
            <a:prstGeom prst="arc">
              <a:avLst>
                <a:gd name="adj1" fmla="val 16384094"/>
                <a:gd name="adj2" fmla="val 5022831"/>
              </a:avLst>
            </a:prstGeom>
            <a:ln w="38100">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6" name="矩形: 圆角 165">
              <a:extLst>
                <a:ext uri="{FF2B5EF4-FFF2-40B4-BE49-F238E27FC236}">
                  <a16:creationId xmlns:a16="http://schemas.microsoft.com/office/drawing/2014/main" id="{52FBD17A-4B2A-1B6D-2C21-C6C493AB7249}"/>
                </a:ext>
              </a:extLst>
            </p:cNvPr>
            <p:cNvSpPr/>
            <p:nvPr/>
          </p:nvSpPr>
          <p:spPr>
            <a:xfrm>
              <a:off x="9946214" y="2953852"/>
              <a:ext cx="663197" cy="472061"/>
            </a:xfrm>
            <a:prstGeom prst="roundRect">
              <a:avLst>
                <a:gd name="adj" fmla="val 32609"/>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is</a:t>
              </a:r>
              <a:endParaRPr lang="zh-CN" altLang="en-US" sz="1200" dirty="0">
                <a:solidFill>
                  <a:schemeClr val="bg1"/>
                </a:solidFill>
              </a:endParaRPr>
            </a:p>
          </p:txBody>
        </p:sp>
        <p:sp>
          <p:nvSpPr>
            <p:cNvPr id="168" name="矩形: 圆角 167">
              <a:extLst>
                <a:ext uri="{FF2B5EF4-FFF2-40B4-BE49-F238E27FC236}">
                  <a16:creationId xmlns:a16="http://schemas.microsoft.com/office/drawing/2014/main" id="{8EBE9BBF-5B1C-EAC0-A8AF-5BA83E8349F1}"/>
                </a:ext>
              </a:extLst>
            </p:cNvPr>
            <p:cNvSpPr/>
            <p:nvPr/>
          </p:nvSpPr>
          <p:spPr>
            <a:xfrm>
              <a:off x="9954883" y="3835867"/>
              <a:ext cx="431323" cy="431321"/>
            </a:xfrm>
            <a:prstGeom prst="roundRect">
              <a:avLst>
                <a:gd name="adj" fmla="val 32609"/>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a</a:t>
              </a:r>
              <a:endParaRPr lang="zh-CN" altLang="en-US" dirty="0">
                <a:solidFill>
                  <a:schemeClr val="bg1"/>
                </a:solidFill>
              </a:endParaRPr>
            </a:p>
          </p:txBody>
        </p:sp>
        <p:sp>
          <p:nvSpPr>
            <p:cNvPr id="169" name="矩形: 圆角 168">
              <a:extLst>
                <a:ext uri="{FF2B5EF4-FFF2-40B4-BE49-F238E27FC236}">
                  <a16:creationId xmlns:a16="http://schemas.microsoft.com/office/drawing/2014/main" id="{B13DAE4A-8580-0842-4781-8E6AE160269A}"/>
                </a:ext>
              </a:extLst>
            </p:cNvPr>
            <p:cNvSpPr/>
            <p:nvPr/>
          </p:nvSpPr>
          <p:spPr>
            <a:xfrm>
              <a:off x="9954882" y="4665433"/>
              <a:ext cx="1383451" cy="392536"/>
            </a:xfrm>
            <a:prstGeom prst="roundRect">
              <a:avLst>
                <a:gd name="adj" fmla="val 32609"/>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country</a:t>
              </a:r>
              <a:endParaRPr lang="zh-CN" altLang="en-US" sz="1400" dirty="0">
                <a:solidFill>
                  <a:schemeClr val="bg1"/>
                </a:solidFill>
              </a:endParaRPr>
            </a:p>
          </p:txBody>
        </p:sp>
        <p:cxnSp>
          <p:nvCxnSpPr>
            <p:cNvPr id="170" name="直接箭头连接符 169">
              <a:extLst>
                <a:ext uri="{FF2B5EF4-FFF2-40B4-BE49-F238E27FC236}">
                  <a16:creationId xmlns:a16="http://schemas.microsoft.com/office/drawing/2014/main" id="{25D6FE1E-B09F-F7DC-7385-DF07E52E053D}"/>
                </a:ext>
              </a:extLst>
            </p:cNvPr>
            <p:cNvCxnSpPr>
              <a:cxnSpLocks/>
              <a:stCxn id="158" idx="2"/>
              <a:endCxn id="166" idx="1"/>
            </p:cNvCxnSpPr>
            <p:nvPr/>
          </p:nvCxnSpPr>
          <p:spPr>
            <a:xfrm flipV="1">
              <a:off x="9566656" y="3189884"/>
              <a:ext cx="379558" cy="1363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7" name="直接箭头连接符 176">
              <a:extLst>
                <a:ext uri="{FF2B5EF4-FFF2-40B4-BE49-F238E27FC236}">
                  <a16:creationId xmlns:a16="http://schemas.microsoft.com/office/drawing/2014/main" id="{EF4C52C2-1345-2341-B269-74F48FF4CB67}"/>
                </a:ext>
              </a:extLst>
            </p:cNvPr>
            <p:cNvCxnSpPr>
              <a:cxnSpLocks/>
              <a:stCxn id="159" idx="2"/>
              <a:endCxn id="168" idx="1"/>
            </p:cNvCxnSpPr>
            <p:nvPr/>
          </p:nvCxnSpPr>
          <p:spPr>
            <a:xfrm>
              <a:off x="9557986" y="4044300"/>
              <a:ext cx="396897" cy="722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9" name="直接箭头连接符 178">
              <a:extLst>
                <a:ext uri="{FF2B5EF4-FFF2-40B4-BE49-F238E27FC236}">
                  <a16:creationId xmlns:a16="http://schemas.microsoft.com/office/drawing/2014/main" id="{A23845D4-3C12-82E6-F948-ADCDDC713D2E}"/>
                </a:ext>
              </a:extLst>
            </p:cNvPr>
            <p:cNvCxnSpPr>
              <a:cxnSpLocks/>
              <a:stCxn id="160" idx="2"/>
              <a:endCxn id="169" idx="1"/>
            </p:cNvCxnSpPr>
            <p:nvPr/>
          </p:nvCxnSpPr>
          <p:spPr>
            <a:xfrm flipV="1">
              <a:off x="9566653" y="4861701"/>
              <a:ext cx="388228" cy="121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0" name="椭圆 179">
              <a:extLst>
                <a:ext uri="{FF2B5EF4-FFF2-40B4-BE49-F238E27FC236}">
                  <a16:creationId xmlns:a16="http://schemas.microsoft.com/office/drawing/2014/main" id="{F0A4A4F5-77B8-0645-7C33-1E0A2401909F}"/>
                </a:ext>
              </a:extLst>
            </p:cNvPr>
            <p:cNvSpPr/>
            <p:nvPr/>
          </p:nvSpPr>
          <p:spPr>
            <a:xfrm>
              <a:off x="6100493" y="2941073"/>
              <a:ext cx="526210" cy="526212"/>
            </a:xfrm>
            <a:prstGeom prst="ellipse">
              <a:avLst/>
            </a:prstGeom>
            <a:solidFill>
              <a:schemeClr val="accent2">
                <a:lumMod val="40000"/>
                <a:lumOff val="6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4" name="矩形 183">
            <a:extLst>
              <a:ext uri="{FF2B5EF4-FFF2-40B4-BE49-F238E27FC236}">
                <a16:creationId xmlns:a16="http://schemas.microsoft.com/office/drawing/2014/main" id="{2B4392CF-95D1-D29E-EE4C-3BB1FE4E578E}"/>
              </a:ext>
            </a:extLst>
          </p:cNvPr>
          <p:cNvSpPr/>
          <p:nvPr/>
        </p:nvSpPr>
        <p:spPr>
          <a:xfrm>
            <a:off x="5319635" y="48699"/>
            <a:ext cx="2554365" cy="523220"/>
          </a:xfrm>
          <a:prstGeom prst="rect">
            <a:avLst/>
          </a:prstGeom>
        </p:spPr>
        <p:txBody>
          <a:bodyPr wrap="square">
            <a:spAutoFit/>
          </a:bodyPr>
          <a:lstStyle/>
          <a:p>
            <a:pPr lvl="0"/>
            <a:r>
              <a:rPr lang="en-US" altLang="zh-CN" sz="2800" i="1" dirty="0">
                <a:solidFill>
                  <a:schemeClr val="bg1"/>
                </a:solidFill>
                <a:ea typeface="Gulim" panose="020B0600000101010101" pitchFamily="34" charset="-127"/>
              </a:rPr>
              <a:t>Source prompt</a:t>
            </a:r>
          </a:p>
        </p:txBody>
      </p:sp>
      <p:grpSp>
        <p:nvGrpSpPr>
          <p:cNvPr id="7" name="组合 6">
            <a:extLst>
              <a:ext uri="{FF2B5EF4-FFF2-40B4-BE49-F238E27FC236}">
                <a16:creationId xmlns:a16="http://schemas.microsoft.com/office/drawing/2014/main" id="{1FE95695-854D-D28C-CDE6-0EAC1C96FA9F}"/>
              </a:ext>
            </a:extLst>
          </p:cNvPr>
          <p:cNvGrpSpPr/>
          <p:nvPr/>
        </p:nvGrpSpPr>
        <p:grpSpPr>
          <a:xfrm>
            <a:off x="5496800" y="3151984"/>
            <a:ext cx="5239845" cy="2336462"/>
            <a:chOff x="5496800" y="3151984"/>
            <a:chExt cx="5239845" cy="2336462"/>
          </a:xfrm>
        </p:grpSpPr>
        <p:sp>
          <p:nvSpPr>
            <p:cNvPr id="194" name="梯形 193">
              <a:extLst>
                <a:ext uri="{FF2B5EF4-FFF2-40B4-BE49-F238E27FC236}">
                  <a16:creationId xmlns:a16="http://schemas.microsoft.com/office/drawing/2014/main" id="{102DA243-237D-84B0-2600-DED63A3BB22B}"/>
                </a:ext>
              </a:extLst>
            </p:cNvPr>
            <p:cNvSpPr/>
            <p:nvPr/>
          </p:nvSpPr>
          <p:spPr>
            <a:xfrm rot="5400000">
              <a:off x="6525570" y="4695088"/>
              <a:ext cx="372663" cy="248443"/>
            </a:xfrm>
            <a:prstGeom prst="trapezoid">
              <a:avLst/>
            </a:prstGeom>
            <a:solidFill>
              <a:schemeClr val="accent5">
                <a:lumMod val="60000"/>
                <a:lumOff val="4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4" name="连接符: 曲线 213">
              <a:extLst>
                <a:ext uri="{FF2B5EF4-FFF2-40B4-BE49-F238E27FC236}">
                  <a16:creationId xmlns:a16="http://schemas.microsoft.com/office/drawing/2014/main" id="{EAD9D485-8EE6-52F9-2C25-4F05CAC12E12}"/>
                </a:ext>
              </a:extLst>
            </p:cNvPr>
            <p:cNvCxnSpPr>
              <a:cxnSpLocks/>
              <a:stCxn id="198" idx="6"/>
              <a:endCxn id="201" idx="2"/>
            </p:cNvCxnSpPr>
            <p:nvPr/>
          </p:nvCxnSpPr>
          <p:spPr>
            <a:xfrm>
              <a:off x="7442322" y="4819309"/>
              <a:ext cx="490260" cy="479493"/>
            </a:xfrm>
            <a:prstGeom prst="curvedConnector3">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9" name="直接连接符 338">
              <a:extLst>
                <a:ext uri="{FF2B5EF4-FFF2-40B4-BE49-F238E27FC236}">
                  <a16:creationId xmlns:a16="http://schemas.microsoft.com/office/drawing/2014/main" id="{1D701BF3-9EF3-510C-7C42-E0B7F0DB5F1E}"/>
                </a:ext>
              </a:extLst>
            </p:cNvPr>
            <p:cNvCxnSpPr>
              <a:cxnSpLocks/>
            </p:cNvCxnSpPr>
            <p:nvPr/>
          </p:nvCxnSpPr>
          <p:spPr>
            <a:xfrm>
              <a:off x="7684139" y="4550162"/>
              <a:ext cx="0" cy="479494"/>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482487EF-3204-52BA-BC16-4ABE19C52CF3}"/>
                </a:ext>
              </a:extLst>
            </p:cNvPr>
            <p:cNvGrpSpPr/>
            <p:nvPr/>
          </p:nvGrpSpPr>
          <p:grpSpPr>
            <a:xfrm>
              <a:off x="5496800" y="3151984"/>
              <a:ext cx="5239845" cy="2336462"/>
              <a:chOff x="5496800" y="3151984"/>
              <a:chExt cx="5239845" cy="2336462"/>
            </a:xfrm>
          </p:grpSpPr>
          <p:sp>
            <p:nvSpPr>
              <p:cNvPr id="187" name="矩形: 圆角 186">
                <a:extLst>
                  <a:ext uri="{FF2B5EF4-FFF2-40B4-BE49-F238E27FC236}">
                    <a16:creationId xmlns:a16="http://schemas.microsoft.com/office/drawing/2014/main" id="{85AEE58B-A801-87C0-21E0-9729E8A5C55D}"/>
                  </a:ext>
                </a:extLst>
              </p:cNvPr>
              <p:cNvSpPr/>
              <p:nvPr/>
            </p:nvSpPr>
            <p:spPr>
              <a:xfrm>
                <a:off x="5923524" y="5177894"/>
                <a:ext cx="366025" cy="262498"/>
              </a:xfrm>
              <a:prstGeom prst="roundRect">
                <a:avLst>
                  <a:gd name="adj" fmla="val 32609"/>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1"/>
                    </a:solidFill>
                  </a:rPr>
                  <a:t>x</a:t>
                </a:r>
                <a:endParaRPr lang="zh-CN" altLang="en-US" sz="4400" dirty="0">
                  <a:solidFill>
                    <a:schemeClr val="bg1"/>
                  </a:solidFill>
                </a:endParaRPr>
              </a:p>
            </p:txBody>
          </p:sp>
          <p:cxnSp>
            <p:nvCxnSpPr>
              <p:cNvPr id="193" name="直接箭头连接符 192">
                <a:extLst>
                  <a:ext uri="{FF2B5EF4-FFF2-40B4-BE49-F238E27FC236}">
                    <a16:creationId xmlns:a16="http://schemas.microsoft.com/office/drawing/2014/main" id="{760E5475-7D4E-4340-58A1-0AFE25F1E28E}"/>
                  </a:ext>
                </a:extLst>
              </p:cNvPr>
              <p:cNvCxnSpPr/>
              <p:nvPr/>
            </p:nvCxnSpPr>
            <p:spPr>
              <a:xfrm flipV="1">
                <a:off x="6289550" y="5302115"/>
                <a:ext cx="303099" cy="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95" name="梯形 194">
                <a:extLst>
                  <a:ext uri="{FF2B5EF4-FFF2-40B4-BE49-F238E27FC236}">
                    <a16:creationId xmlns:a16="http://schemas.microsoft.com/office/drawing/2014/main" id="{79837111-7254-DE69-81AE-7070924B9024}"/>
                  </a:ext>
                </a:extLst>
              </p:cNvPr>
              <p:cNvSpPr/>
              <p:nvPr/>
            </p:nvSpPr>
            <p:spPr>
              <a:xfrm rot="5400000">
                <a:off x="6525569" y="5177893"/>
                <a:ext cx="372663" cy="248443"/>
              </a:xfrm>
              <a:prstGeom prst="trapezoid">
                <a:avLst/>
              </a:prstGeom>
              <a:solidFill>
                <a:schemeClr val="accent5">
                  <a:lumMod val="60000"/>
                  <a:lumOff val="4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7" name="直接箭头连接符 196">
                <a:extLst>
                  <a:ext uri="{FF2B5EF4-FFF2-40B4-BE49-F238E27FC236}">
                    <a16:creationId xmlns:a16="http://schemas.microsoft.com/office/drawing/2014/main" id="{A2CEC8F2-0ADB-1711-2B05-D3DC82B6D26B}"/>
                  </a:ext>
                </a:extLst>
              </p:cNvPr>
              <p:cNvCxnSpPr/>
              <p:nvPr/>
            </p:nvCxnSpPr>
            <p:spPr>
              <a:xfrm flipV="1">
                <a:off x="6836123" y="5302114"/>
                <a:ext cx="303099" cy="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99" name="椭圆 198">
                <a:extLst>
                  <a:ext uri="{FF2B5EF4-FFF2-40B4-BE49-F238E27FC236}">
                    <a16:creationId xmlns:a16="http://schemas.microsoft.com/office/drawing/2014/main" id="{BFFCA44C-7C73-C7C2-12BF-76EF3C1D0EB2}"/>
                  </a:ext>
                </a:extLst>
              </p:cNvPr>
              <p:cNvSpPr/>
              <p:nvPr/>
            </p:nvSpPr>
            <p:spPr>
              <a:xfrm>
                <a:off x="7139223" y="5147252"/>
                <a:ext cx="303099" cy="303100"/>
              </a:xfrm>
              <a:prstGeom prst="ellipse">
                <a:avLst/>
              </a:prstGeom>
              <a:solidFill>
                <a:schemeClr val="accent5">
                  <a:lumMod val="60000"/>
                  <a:lumOff val="4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03" name="直接箭头连接符 202">
                <a:extLst>
                  <a:ext uri="{FF2B5EF4-FFF2-40B4-BE49-F238E27FC236}">
                    <a16:creationId xmlns:a16="http://schemas.microsoft.com/office/drawing/2014/main" id="{5DEA4D5E-516E-2E1B-0C75-1E4934E77761}"/>
                  </a:ext>
                </a:extLst>
              </p:cNvPr>
              <p:cNvCxnSpPr>
                <a:cxnSpLocks/>
              </p:cNvCxnSpPr>
              <p:nvPr/>
            </p:nvCxnSpPr>
            <p:spPr>
              <a:xfrm>
                <a:off x="7442321" y="5298801"/>
                <a:ext cx="490260" cy="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144D7CFC-4B62-C807-2F7E-7F4A2C73C5AB}"/>
                  </a:ext>
                </a:extLst>
              </p:cNvPr>
              <p:cNvGrpSpPr/>
              <p:nvPr/>
            </p:nvGrpSpPr>
            <p:grpSpPr>
              <a:xfrm>
                <a:off x="5496800" y="3151984"/>
                <a:ext cx="5239845" cy="1841379"/>
                <a:chOff x="5496800" y="3151984"/>
                <a:chExt cx="5239845" cy="1841379"/>
              </a:xfrm>
            </p:grpSpPr>
            <p:sp>
              <p:nvSpPr>
                <p:cNvPr id="186" name="矩形: 圆角 185">
                  <a:extLst>
                    <a:ext uri="{FF2B5EF4-FFF2-40B4-BE49-F238E27FC236}">
                      <a16:creationId xmlns:a16="http://schemas.microsoft.com/office/drawing/2014/main" id="{9B21DA2C-52DB-B3D3-A1F3-5117A15944BE}"/>
                    </a:ext>
                  </a:extLst>
                </p:cNvPr>
                <p:cNvSpPr/>
                <p:nvPr/>
              </p:nvSpPr>
              <p:spPr>
                <a:xfrm>
                  <a:off x="5849801" y="4695088"/>
                  <a:ext cx="434780" cy="262498"/>
                </a:xfrm>
                <a:prstGeom prst="roundRect">
                  <a:avLst>
                    <a:gd name="adj" fmla="val 32609"/>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in</a:t>
                  </a:r>
                  <a:endParaRPr lang="zh-CN" altLang="en-US" sz="4400" dirty="0">
                    <a:solidFill>
                      <a:schemeClr val="bg1"/>
                    </a:solidFill>
                  </a:endParaRPr>
                </a:p>
              </p:txBody>
            </p:sp>
            <p:cxnSp>
              <p:nvCxnSpPr>
                <p:cNvPr id="192" name="直接箭头连接符 191">
                  <a:extLst>
                    <a:ext uri="{FF2B5EF4-FFF2-40B4-BE49-F238E27FC236}">
                      <a16:creationId xmlns:a16="http://schemas.microsoft.com/office/drawing/2014/main" id="{BAAC6040-9A90-A32C-A52D-46F1D5577425}"/>
                    </a:ext>
                  </a:extLst>
                </p:cNvPr>
                <p:cNvCxnSpPr>
                  <a:cxnSpLocks/>
                  <a:stCxn id="186" idx="3"/>
                </p:cNvCxnSpPr>
                <p:nvPr/>
              </p:nvCxnSpPr>
              <p:spPr>
                <a:xfrm flipV="1">
                  <a:off x="6284581" y="4819309"/>
                  <a:ext cx="303099" cy="7028"/>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直接箭头连接符 195">
                  <a:extLst>
                    <a:ext uri="{FF2B5EF4-FFF2-40B4-BE49-F238E27FC236}">
                      <a16:creationId xmlns:a16="http://schemas.microsoft.com/office/drawing/2014/main" id="{D5B6E681-F2A0-427E-3CC1-B5FF5B0A84C8}"/>
                    </a:ext>
                  </a:extLst>
                </p:cNvPr>
                <p:cNvCxnSpPr/>
                <p:nvPr/>
              </p:nvCxnSpPr>
              <p:spPr>
                <a:xfrm flipV="1">
                  <a:off x="6836123" y="4819309"/>
                  <a:ext cx="303099" cy="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98" name="椭圆 197">
                  <a:extLst>
                    <a:ext uri="{FF2B5EF4-FFF2-40B4-BE49-F238E27FC236}">
                      <a16:creationId xmlns:a16="http://schemas.microsoft.com/office/drawing/2014/main" id="{210FE48D-584B-5F72-B8C3-B283E7866DE1}"/>
                    </a:ext>
                  </a:extLst>
                </p:cNvPr>
                <p:cNvSpPr/>
                <p:nvPr/>
              </p:nvSpPr>
              <p:spPr>
                <a:xfrm>
                  <a:off x="7139223" y="4667759"/>
                  <a:ext cx="303099" cy="303100"/>
                </a:xfrm>
                <a:prstGeom prst="ellipse">
                  <a:avLst/>
                </a:prstGeom>
                <a:solidFill>
                  <a:schemeClr val="accent5">
                    <a:lumMod val="60000"/>
                    <a:lumOff val="4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0" name="椭圆 199">
                  <a:extLst>
                    <a:ext uri="{FF2B5EF4-FFF2-40B4-BE49-F238E27FC236}">
                      <a16:creationId xmlns:a16="http://schemas.microsoft.com/office/drawing/2014/main" id="{5458429C-179B-05ED-239C-59352F372823}"/>
                    </a:ext>
                  </a:extLst>
                </p:cNvPr>
                <p:cNvSpPr/>
                <p:nvPr/>
              </p:nvSpPr>
              <p:spPr>
                <a:xfrm>
                  <a:off x="7932582" y="4667758"/>
                  <a:ext cx="303099" cy="303100"/>
                </a:xfrm>
                <a:prstGeom prst="ellipse">
                  <a:avLst/>
                </a:prstGeom>
                <a:solidFill>
                  <a:schemeClr val="accent5">
                    <a:lumMod val="60000"/>
                    <a:lumOff val="4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2" name="直接箭头连接符 201">
                  <a:extLst>
                    <a:ext uri="{FF2B5EF4-FFF2-40B4-BE49-F238E27FC236}">
                      <a16:creationId xmlns:a16="http://schemas.microsoft.com/office/drawing/2014/main" id="{339FE740-00A7-EE36-F356-0622DD15F27A}"/>
                    </a:ext>
                  </a:extLst>
                </p:cNvPr>
                <p:cNvCxnSpPr>
                  <a:cxnSpLocks/>
                  <a:endCxn id="200" idx="2"/>
                </p:cNvCxnSpPr>
                <p:nvPr/>
              </p:nvCxnSpPr>
              <p:spPr>
                <a:xfrm>
                  <a:off x="7442322" y="4819307"/>
                  <a:ext cx="490260" cy="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19" name="椭圆 218">
                  <a:extLst>
                    <a:ext uri="{FF2B5EF4-FFF2-40B4-BE49-F238E27FC236}">
                      <a16:creationId xmlns:a16="http://schemas.microsoft.com/office/drawing/2014/main" id="{9CAC039D-CABA-1C2A-179B-4E3173EF6094}"/>
                    </a:ext>
                  </a:extLst>
                </p:cNvPr>
                <p:cNvSpPr/>
                <p:nvPr/>
              </p:nvSpPr>
              <p:spPr>
                <a:xfrm>
                  <a:off x="9882014" y="4657818"/>
                  <a:ext cx="303099" cy="303100"/>
                </a:xfrm>
                <a:prstGeom prst="ellipse">
                  <a:avLst/>
                </a:prstGeom>
                <a:solidFill>
                  <a:schemeClr val="accent5">
                    <a:lumMod val="60000"/>
                    <a:lumOff val="4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3" name="直接箭头连接符 222">
                  <a:extLst>
                    <a:ext uri="{FF2B5EF4-FFF2-40B4-BE49-F238E27FC236}">
                      <a16:creationId xmlns:a16="http://schemas.microsoft.com/office/drawing/2014/main" id="{67778E5C-CC69-0DB7-F24A-70AEB9101CB9}"/>
                    </a:ext>
                  </a:extLst>
                </p:cNvPr>
                <p:cNvCxnSpPr>
                  <a:cxnSpLocks/>
                  <a:stCxn id="200" idx="6"/>
                </p:cNvCxnSpPr>
                <p:nvPr/>
              </p:nvCxnSpPr>
              <p:spPr>
                <a:xfrm flipV="1">
                  <a:off x="8235681" y="4809367"/>
                  <a:ext cx="491923" cy="994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32" name="椭圆 231">
                  <a:extLst>
                    <a:ext uri="{FF2B5EF4-FFF2-40B4-BE49-F238E27FC236}">
                      <a16:creationId xmlns:a16="http://schemas.microsoft.com/office/drawing/2014/main" id="{E08A9C3F-3D2D-CAD6-1EDB-2E4CCF84A3A8}"/>
                    </a:ext>
                  </a:extLst>
                </p:cNvPr>
                <p:cNvSpPr/>
                <p:nvPr/>
              </p:nvSpPr>
              <p:spPr>
                <a:xfrm>
                  <a:off x="8822016" y="4752225"/>
                  <a:ext cx="114283" cy="11428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3" name="椭圆 232">
                  <a:extLst>
                    <a:ext uri="{FF2B5EF4-FFF2-40B4-BE49-F238E27FC236}">
                      <a16:creationId xmlns:a16="http://schemas.microsoft.com/office/drawing/2014/main" id="{F3C92EBA-C45A-A932-637A-4FCEE533C1B0}"/>
                    </a:ext>
                  </a:extLst>
                </p:cNvPr>
                <p:cNvSpPr/>
                <p:nvPr/>
              </p:nvSpPr>
              <p:spPr>
                <a:xfrm>
                  <a:off x="8973560" y="4752225"/>
                  <a:ext cx="114283" cy="11428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4" name="椭圆 233">
                  <a:extLst>
                    <a:ext uri="{FF2B5EF4-FFF2-40B4-BE49-F238E27FC236}">
                      <a16:creationId xmlns:a16="http://schemas.microsoft.com/office/drawing/2014/main" id="{328CEAFD-749F-27A9-4639-3997AB01E129}"/>
                    </a:ext>
                  </a:extLst>
                </p:cNvPr>
                <p:cNvSpPr/>
                <p:nvPr/>
              </p:nvSpPr>
              <p:spPr>
                <a:xfrm>
                  <a:off x="9125104" y="4752224"/>
                  <a:ext cx="114283" cy="114283"/>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4" name="直接箭头连接符 243">
                  <a:extLst>
                    <a:ext uri="{FF2B5EF4-FFF2-40B4-BE49-F238E27FC236}">
                      <a16:creationId xmlns:a16="http://schemas.microsoft.com/office/drawing/2014/main" id="{77B60BDF-9735-B4E6-F595-5CEAC4B6499B}"/>
                    </a:ext>
                  </a:extLst>
                </p:cNvPr>
                <p:cNvCxnSpPr>
                  <a:cxnSpLocks/>
                  <a:endCxn id="219" idx="2"/>
                </p:cNvCxnSpPr>
                <p:nvPr/>
              </p:nvCxnSpPr>
              <p:spPr>
                <a:xfrm>
                  <a:off x="9391757" y="4809367"/>
                  <a:ext cx="490257" cy="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53" name="直接箭头连接符 252">
                  <a:extLst>
                    <a:ext uri="{FF2B5EF4-FFF2-40B4-BE49-F238E27FC236}">
                      <a16:creationId xmlns:a16="http://schemas.microsoft.com/office/drawing/2014/main" id="{970A2207-DFCC-647F-2ABC-F6ABAC021977}"/>
                    </a:ext>
                  </a:extLst>
                </p:cNvPr>
                <p:cNvCxnSpPr>
                  <a:cxnSpLocks/>
                  <a:stCxn id="219" idx="6"/>
                  <a:endCxn id="257" idx="0"/>
                </p:cNvCxnSpPr>
                <p:nvPr/>
              </p:nvCxnSpPr>
              <p:spPr>
                <a:xfrm flipV="1">
                  <a:off x="10185114" y="4807031"/>
                  <a:ext cx="303089" cy="2337"/>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57" name="梯形 256">
                  <a:extLst>
                    <a:ext uri="{FF2B5EF4-FFF2-40B4-BE49-F238E27FC236}">
                      <a16:creationId xmlns:a16="http://schemas.microsoft.com/office/drawing/2014/main" id="{84ADCAA7-6DAF-531B-E16D-EAA17298F390}"/>
                    </a:ext>
                  </a:extLst>
                </p:cNvPr>
                <p:cNvSpPr/>
                <p:nvPr/>
              </p:nvSpPr>
              <p:spPr>
                <a:xfrm rot="16200000">
                  <a:off x="10426092" y="4682810"/>
                  <a:ext cx="372663" cy="248443"/>
                </a:xfrm>
                <a:prstGeom prst="trapezoid">
                  <a:avLst/>
                </a:prstGeom>
                <a:noFill/>
                <a:ln w="38100">
                  <a:solidFill>
                    <a:schemeClr val="accent5"/>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矩形: 圆角 271">
                  <a:extLst>
                    <a:ext uri="{FF2B5EF4-FFF2-40B4-BE49-F238E27FC236}">
                      <a16:creationId xmlns:a16="http://schemas.microsoft.com/office/drawing/2014/main" id="{6A4942C7-418D-9340-0A21-92157BECA404}"/>
                    </a:ext>
                  </a:extLst>
                </p:cNvPr>
                <p:cNvSpPr/>
                <p:nvPr/>
              </p:nvSpPr>
              <p:spPr>
                <a:xfrm>
                  <a:off x="5711938" y="4213940"/>
                  <a:ext cx="572643" cy="253812"/>
                </a:xfrm>
                <a:prstGeom prst="roundRect">
                  <a:avLst>
                    <a:gd name="adj" fmla="val 32609"/>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rPr>
                    <a:t>city</a:t>
                  </a:r>
                  <a:endParaRPr lang="zh-CN" altLang="en-US" sz="1600" dirty="0">
                    <a:solidFill>
                      <a:schemeClr val="bg1"/>
                    </a:solidFill>
                  </a:endParaRPr>
                </a:p>
              </p:txBody>
            </p:sp>
            <p:cxnSp>
              <p:nvCxnSpPr>
                <p:cNvPr id="273" name="直接箭头连接符 272">
                  <a:extLst>
                    <a:ext uri="{FF2B5EF4-FFF2-40B4-BE49-F238E27FC236}">
                      <a16:creationId xmlns:a16="http://schemas.microsoft.com/office/drawing/2014/main" id="{EB54D9E0-FB33-73DF-FA13-766DB98BEB10}"/>
                    </a:ext>
                  </a:extLst>
                </p:cNvPr>
                <p:cNvCxnSpPr>
                  <a:cxnSpLocks/>
                  <a:stCxn id="272" idx="3"/>
                </p:cNvCxnSpPr>
                <p:nvPr/>
              </p:nvCxnSpPr>
              <p:spPr>
                <a:xfrm flipV="1">
                  <a:off x="6284581" y="4338161"/>
                  <a:ext cx="303099" cy="2685"/>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74" name="梯形 273">
                  <a:extLst>
                    <a:ext uri="{FF2B5EF4-FFF2-40B4-BE49-F238E27FC236}">
                      <a16:creationId xmlns:a16="http://schemas.microsoft.com/office/drawing/2014/main" id="{CD963BCA-22CD-9081-939D-F74E54AFF470}"/>
                    </a:ext>
                  </a:extLst>
                </p:cNvPr>
                <p:cNvSpPr/>
                <p:nvPr/>
              </p:nvSpPr>
              <p:spPr>
                <a:xfrm rot="5400000">
                  <a:off x="6525570" y="4213940"/>
                  <a:ext cx="372663" cy="248443"/>
                </a:xfrm>
                <a:prstGeom prst="trapezoid">
                  <a:avLst/>
                </a:prstGeom>
                <a:solidFill>
                  <a:schemeClr val="accent5">
                    <a:lumMod val="60000"/>
                    <a:lumOff val="4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5" name="直接箭头连接符 274">
                  <a:extLst>
                    <a:ext uri="{FF2B5EF4-FFF2-40B4-BE49-F238E27FC236}">
                      <a16:creationId xmlns:a16="http://schemas.microsoft.com/office/drawing/2014/main" id="{63527B89-352E-A366-844F-7E8B6DACAB2D}"/>
                    </a:ext>
                  </a:extLst>
                </p:cNvPr>
                <p:cNvCxnSpPr/>
                <p:nvPr/>
              </p:nvCxnSpPr>
              <p:spPr>
                <a:xfrm flipV="1">
                  <a:off x="6836123" y="4338161"/>
                  <a:ext cx="303099" cy="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76" name="椭圆 275">
                  <a:extLst>
                    <a:ext uri="{FF2B5EF4-FFF2-40B4-BE49-F238E27FC236}">
                      <a16:creationId xmlns:a16="http://schemas.microsoft.com/office/drawing/2014/main" id="{564738F7-2E0C-8156-7592-166BBC6DBE7A}"/>
                    </a:ext>
                  </a:extLst>
                </p:cNvPr>
                <p:cNvSpPr/>
                <p:nvPr/>
              </p:nvSpPr>
              <p:spPr>
                <a:xfrm>
                  <a:off x="7139223" y="4186611"/>
                  <a:ext cx="303099" cy="303100"/>
                </a:xfrm>
                <a:prstGeom prst="ellipse">
                  <a:avLst/>
                </a:prstGeom>
                <a:solidFill>
                  <a:schemeClr val="accent5">
                    <a:lumMod val="60000"/>
                    <a:lumOff val="4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7" name="椭圆 276">
                  <a:extLst>
                    <a:ext uri="{FF2B5EF4-FFF2-40B4-BE49-F238E27FC236}">
                      <a16:creationId xmlns:a16="http://schemas.microsoft.com/office/drawing/2014/main" id="{7E818CA6-0E60-DC8E-E27C-7FEC1B6BF737}"/>
                    </a:ext>
                  </a:extLst>
                </p:cNvPr>
                <p:cNvSpPr/>
                <p:nvPr/>
              </p:nvSpPr>
              <p:spPr>
                <a:xfrm>
                  <a:off x="7932582" y="4186610"/>
                  <a:ext cx="303099" cy="303100"/>
                </a:xfrm>
                <a:prstGeom prst="ellipse">
                  <a:avLst/>
                </a:prstGeom>
                <a:solidFill>
                  <a:schemeClr val="accent5">
                    <a:lumMod val="60000"/>
                    <a:lumOff val="4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8" name="直接箭头连接符 277">
                  <a:extLst>
                    <a:ext uri="{FF2B5EF4-FFF2-40B4-BE49-F238E27FC236}">
                      <a16:creationId xmlns:a16="http://schemas.microsoft.com/office/drawing/2014/main" id="{B899229F-B3A9-5AEF-092D-7F4A6D8117CC}"/>
                    </a:ext>
                  </a:extLst>
                </p:cNvPr>
                <p:cNvCxnSpPr>
                  <a:cxnSpLocks/>
                  <a:endCxn id="277" idx="2"/>
                </p:cNvCxnSpPr>
                <p:nvPr/>
              </p:nvCxnSpPr>
              <p:spPr>
                <a:xfrm>
                  <a:off x="7442322" y="4338159"/>
                  <a:ext cx="490260" cy="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79" name="椭圆 278">
                  <a:extLst>
                    <a:ext uri="{FF2B5EF4-FFF2-40B4-BE49-F238E27FC236}">
                      <a16:creationId xmlns:a16="http://schemas.microsoft.com/office/drawing/2014/main" id="{E48F3E62-1B5E-7585-F193-18968919A7EC}"/>
                    </a:ext>
                  </a:extLst>
                </p:cNvPr>
                <p:cNvSpPr/>
                <p:nvPr/>
              </p:nvSpPr>
              <p:spPr>
                <a:xfrm>
                  <a:off x="9882014" y="4176670"/>
                  <a:ext cx="303099" cy="303100"/>
                </a:xfrm>
                <a:prstGeom prst="ellipse">
                  <a:avLst/>
                </a:prstGeom>
                <a:solidFill>
                  <a:schemeClr val="accent5">
                    <a:lumMod val="60000"/>
                    <a:lumOff val="4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0" name="直接箭头连接符 279">
                  <a:extLst>
                    <a:ext uri="{FF2B5EF4-FFF2-40B4-BE49-F238E27FC236}">
                      <a16:creationId xmlns:a16="http://schemas.microsoft.com/office/drawing/2014/main" id="{36CB64E9-0284-2E18-F4BC-40F00FB61D9C}"/>
                    </a:ext>
                  </a:extLst>
                </p:cNvPr>
                <p:cNvCxnSpPr>
                  <a:cxnSpLocks/>
                  <a:stCxn id="277" idx="6"/>
                </p:cNvCxnSpPr>
                <p:nvPr/>
              </p:nvCxnSpPr>
              <p:spPr>
                <a:xfrm flipV="1">
                  <a:off x="8235681" y="4328219"/>
                  <a:ext cx="491923" cy="994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81" name="椭圆 280">
                  <a:extLst>
                    <a:ext uri="{FF2B5EF4-FFF2-40B4-BE49-F238E27FC236}">
                      <a16:creationId xmlns:a16="http://schemas.microsoft.com/office/drawing/2014/main" id="{28A95CFD-0210-B8FB-3F95-F8EB913A8F9B}"/>
                    </a:ext>
                  </a:extLst>
                </p:cNvPr>
                <p:cNvSpPr/>
                <p:nvPr/>
              </p:nvSpPr>
              <p:spPr>
                <a:xfrm>
                  <a:off x="8822016" y="4271077"/>
                  <a:ext cx="114283" cy="11428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2" name="椭圆 281">
                  <a:extLst>
                    <a:ext uri="{FF2B5EF4-FFF2-40B4-BE49-F238E27FC236}">
                      <a16:creationId xmlns:a16="http://schemas.microsoft.com/office/drawing/2014/main" id="{7776FB59-2F85-E3AF-36F9-54EEF6546814}"/>
                    </a:ext>
                  </a:extLst>
                </p:cNvPr>
                <p:cNvSpPr/>
                <p:nvPr/>
              </p:nvSpPr>
              <p:spPr>
                <a:xfrm>
                  <a:off x="8973560" y="4271077"/>
                  <a:ext cx="114283" cy="11428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3" name="椭圆 282">
                  <a:extLst>
                    <a:ext uri="{FF2B5EF4-FFF2-40B4-BE49-F238E27FC236}">
                      <a16:creationId xmlns:a16="http://schemas.microsoft.com/office/drawing/2014/main" id="{8CD2A4AA-3410-FDB5-A146-C3C03E20D774}"/>
                    </a:ext>
                  </a:extLst>
                </p:cNvPr>
                <p:cNvSpPr/>
                <p:nvPr/>
              </p:nvSpPr>
              <p:spPr>
                <a:xfrm>
                  <a:off x="9125104" y="4271076"/>
                  <a:ext cx="114283" cy="114283"/>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4" name="直接箭头连接符 283">
                  <a:extLst>
                    <a:ext uri="{FF2B5EF4-FFF2-40B4-BE49-F238E27FC236}">
                      <a16:creationId xmlns:a16="http://schemas.microsoft.com/office/drawing/2014/main" id="{FC6B8CCD-D25B-8330-1912-A5427B9ADB3A}"/>
                    </a:ext>
                  </a:extLst>
                </p:cNvPr>
                <p:cNvCxnSpPr>
                  <a:cxnSpLocks/>
                  <a:endCxn id="279" idx="2"/>
                </p:cNvCxnSpPr>
                <p:nvPr/>
              </p:nvCxnSpPr>
              <p:spPr>
                <a:xfrm>
                  <a:off x="9391757" y="4328219"/>
                  <a:ext cx="490257" cy="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85" name="直接箭头连接符 284">
                  <a:extLst>
                    <a:ext uri="{FF2B5EF4-FFF2-40B4-BE49-F238E27FC236}">
                      <a16:creationId xmlns:a16="http://schemas.microsoft.com/office/drawing/2014/main" id="{23156D75-8033-5962-7FA9-B84FCAAAB865}"/>
                    </a:ext>
                  </a:extLst>
                </p:cNvPr>
                <p:cNvCxnSpPr>
                  <a:cxnSpLocks/>
                  <a:stCxn id="279" idx="6"/>
                  <a:endCxn id="286" idx="0"/>
                </p:cNvCxnSpPr>
                <p:nvPr/>
              </p:nvCxnSpPr>
              <p:spPr>
                <a:xfrm flipV="1">
                  <a:off x="10185114" y="4325883"/>
                  <a:ext cx="303089" cy="2337"/>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86" name="梯形 285">
                  <a:extLst>
                    <a:ext uri="{FF2B5EF4-FFF2-40B4-BE49-F238E27FC236}">
                      <a16:creationId xmlns:a16="http://schemas.microsoft.com/office/drawing/2014/main" id="{433C3232-62EC-C646-A4E9-6EFBF8115BC0}"/>
                    </a:ext>
                  </a:extLst>
                </p:cNvPr>
                <p:cNvSpPr/>
                <p:nvPr/>
              </p:nvSpPr>
              <p:spPr>
                <a:xfrm rot="16200000">
                  <a:off x="10426092" y="4201662"/>
                  <a:ext cx="372663" cy="248443"/>
                </a:xfrm>
                <a:prstGeom prst="trapezoid">
                  <a:avLst/>
                </a:prstGeom>
                <a:noFill/>
                <a:ln w="38100">
                  <a:solidFill>
                    <a:schemeClr val="accent5"/>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7" name="矩形: 圆角 286">
                  <a:extLst>
                    <a:ext uri="{FF2B5EF4-FFF2-40B4-BE49-F238E27FC236}">
                      <a16:creationId xmlns:a16="http://schemas.microsoft.com/office/drawing/2014/main" id="{D6108600-1EE1-8EBF-ADF1-0DC240EB9133}"/>
                    </a:ext>
                  </a:extLst>
                </p:cNvPr>
                <p:cNvSpPr/>
                <p:nvPr/>
              </p:nvSpPr>
              <p:spPr>
                <a:xfrm>
                  <a:off x="5496800" y="3715125"/>
                  <a:ext cx="787781" cy="262498"/>
                </a:xfrm>
                <a:prstGeom prst="roundRect">
                  <a:avLst>
                    <a:gd name="adj" fmla="val 32609"/>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rPr>
                    <a:t>largest</a:t>
                  </a:r>
                  <a:endParaRPr lang="zh-CN" altLang="en-US" sz="4000" dirty="0">
                    <a:solidFill>
                      <a:schemeClr val="bg1"/>
                    </a:solidFill>
                  </a:endParaRPr>
                </a:p>
              </p:txBody>
            </p:sp>
            <p:cxnSp>
              <p:nvCxnSpPr>
                <p:cNvPr id="288" name="直接箭头连接符 287">
                  <a:extLst>
                    <a:ext uri="{FF2B5EF4-FFF2-40B4-BE49-F238E27FC236}">
                      <a16:creationId xmlns:a16="http://schemas.microsoft.com/office/drawing/2014/main" id="{ECBEBF72-8967-E57A-CB95-6EFF08E13E5A}"/>
                    </a:ext>
                  </a:extLst>
                </p:cNvPr>
                <p:cNvCxnSpPr>
                  <a:cxnSpLocks/>
                  <a:stCxn id="287" idx="3"/>
                  <a:endCxn id="289" idx="2"/>
                </p:cNvCxnSpPr>
                <p:nvPr/>
              </p:nvCxnSpPr>
              <p:spPr>
                <a:xfrm>
                  <a:off x="6284581" y="3846374"/>
                  <a:ext cx="298104"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89" name="梯形 288">
                  <a:extLst>
                    <a:ext uri="{FF2B5EF4-FFF2-40B4-BE49-F238E27FC236}">
                      <a16:creationId xmlns:a16="http://schemas.microsoft.com/office/drawing/2014/main" id="{55B24AE6-9021-097D-A830-85053F950DCA}"/>
                    </a:ext>
                  </a:extLst>
                </p:cNvPr>
                <p:cNvSpPr/>
                <p:nvPr/>
              </p:nvSpPr>
              <p:spPr>
                <a:xfrm rot="5400000">
                  <a:off x="6520575" y="3722152"/>
                  <a:ext cx="372663" cy="248443"/>
                </a:xfrm>
                <a:prstGeom prst="trapezoid">
                  <a:avLst/>
                </a:prstGeom>
                <a:solidFill>
                  <a:schemeClr val="accent5">
                    <a:lumMod val="60000"/>
                    <a:lumOff val="4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0" name="直接箭头连接符 289">
                  <a:extLst>
                    <a:ext uri="{FF2B5EF4-FFF2-40B4-BE49-F238E27FC236}">
                      <a16:creationId xmlns:a16="http://schemas.microsoft.com/office/drawing/2014/main" id="{6FC327AA-0DD0-7779-1B15-E95486A09DE7}"/>
                    </a:ext>
                  </a:extLst>
                </p:cNvPr>
                <p:cNvCxnSpPr/>
                <p:nvPr/>
              </p:nvCxnSpPr>
              <p:spPr>
                <a:xfrm flipV="1">
                  <a:off x="6831128" y="3846373"/>
                  <a:ext cx="303099" cy="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91" name="椭圆 290">
                  <a:extLst>
                    <a:ext uri="{FF2B5EF4-FFF2-40B4-BE49-F238E27FC236}">
                      <a16:creationId xmlns:a16="http://schemas.microsoft.com/office/drawing/2014/main" id="{8B8344C9-BAA1-C964-2C81-DDD480166E47}"/>
                    </a:ext>
                  </a:extLst>
                </p:cNvPr>
                <p:cNvSpPr/>
                <p:nvPr/>
              </p:nvSpPr>
              <p:spPr>
                <a:xfrm>
                  <a:off x="7134228" y="3694823"/>
                  <a:ext cx="303099" cy="303100"/>
                </a:xfrm>
                <a:prstGeom prst="ellipse">
                  <a:avLst/>
                </a:prstGeom>
                <a:solidFill>
                  <a:schemeClr val="accent5">
                    <a:lumMod val="60000"/>
                    <a:lumOff val="4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2" name="椭圆 291">
                  <a:extLst>
                    <a:ext uri="{FF2B5EF4-FFF2-40B4-BE49-F238E27FC236}">
                      <a16:creationId xmlns:a16="http://schemas.microsoft.com/office/drawing/2014/main" id="{9990AF1A-0B32-7DCA-6128-62FB6F5D769E}"/>
                    </a:ext>
                  </a:extLst>
                </p:cNvPr>
                <p:cNvSpPr/>
                <p:nvPr/>
              </p:nvSpPr>
              <p:spPr>
                <a:xfrm>
                  <a:off x="7927587" y="3694822"/>
                  <a:ext cx="303099" cy="303100"/>
                </a:xfrm>
                <a:prstGeom prst="ellipse">
                  <a:avLst/>
                </a:prstGeom>
                <a:solidFill>
                  <a:schemeClr val="accent5">
                    <a:lumMod val="60000"/>
                    <a:lumOff val="4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3" name="直接箭头连接符 292">
                  <a:extLst>
                    <a:ext uri="{FF2B5EF4-FFF2-40B4-BE49-F238E27FC236}">
                      <a16:creationId xmlns:a16="http://schemas.microsoft.com/office/drawing/2014/main" id="{C5E01E36-AD1E-D850-13E2-1280DDBBDF3B}"/>
                    </a:ext>
                  </a:extLst>
                </p:cNvPr>
                <p:cNvCxnSpPr>
                  <a:cxnSpLocks/>
                  <a:stCxn id="291" idx="6"/>
                  <a:endCxn id="292" idx="2"/>
                </p:cNvCxnSpPr>
                <p:nvPr/>
              </p:nvCxnSpPr>
              <p:spPr>
                <a:xfrm flipV="1">
                  <a:off x="7437327" y="3846372"/>
                  <a:ext cx="490260" cy="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94" name="椭圆 293">
                  <a:extLst>
                    <a:ext uri="{FF2B5EF4-FFF2-40B4-BE49-F238E27FC236}">
                      <a16:creationId xmlns:a16="http://schemas.microsoft.com/office/drawing/2014/main" id="{E27283C1-F4A2-4F56-5C34-C5BFE3FEFFF7}"/>
                    </a:ext>
                  </a:extLst>
                </p:cNvPr>
                <p:cNvSpPr/>
                <p:nvPr/>
              </p:nvSpPr>
              <p:spPr>
                <a:xfrm>
                  <a:off x="9877019" y="3684882"/>
                  <a:ext cx="303099" cy="303100"/>
                </a:xfrm>
                <a:prstGeom prst="ellipse">
                  <a:avLst/>
                </a:prstGeom>
                <a:solidFill>
                  <a:schemeClr val="accent5">
                    <a:lumMod val="60000"/>
                    <a:lumOff val="4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5" name="直接箭头连接符 294">
                  <a:extLst>
                    <a:ext uri="{FF2B5EF4-FFF2-40B4-BE49-F238E27FC236}">
                      <a16:creationId xmlns:a16="http://schemas.microsoft.com/office/drawing/2014/main" id="{B1F2697D-4DD6-8A07-DA83-64B3B42994A7}"/>
                    </a:ext>
                  </a:extLst>
                </p:cNvPr>
                <p:cNvCxnSpPr>
                  <a:cxnSpLocks/>
                  <a:stCxn id="292" idx="6"/>
                </p:cNvCxnSpPr>
                <p:nvPr/>
              </p:nvCxnSpPr>
              <p:spPr>
                <a:xfrm flipV="1">
                  <a:off x="8230686" y="3836431"/>
                  <a:ext cx="491923" cy="994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96" name="椭圆 295">
                  <a:extLst>
                    <a:ext uri="{FF2B5EF4-FFF2-40B4-BE49-F238E27FC236}">
                      <a16:creationId xmlns:a16="http://schemas.microsoft.com/office/drawing/2014/main" id="{ED0F4B20-90C1-A399-19E5-62CBE28F4877}"/>
                    </a:ext>
                  </a:extLst>
                </p:cNvPr>
                <p:cNvSpPr/>
                <p:nvPr/>
              </p:nvSpPr>
              <p:spPr>
                <a:xfrm>
                  <a:off x="8817021" y="3779289"/>
                  <a:ext cx="114283" cy="11428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7" name="椭圆 296">
                  <a:extLst>
                    <a:ext uri="{FF2B5EF4-FFF2-40B4-BE49-F238E27FC236}">
                      <a16:creationId xmlns:a16="http://schemas.microsoft.com/office/drawing/2014/main" id="{E9C51585-D0A6-6444-5B24-BA5B50800810}"/>
                    </a:ext>
                  </a:extLst>
                </p:cNvPr>
                <p:cNvSpPr/>
                <p:nvPr/>
              </p:nvSpPr>
              <p:spPr>
                <a:xfrm>
                  <a:off x="8968565" y="3779289"/>
                  <a:ext cx="114283" cy="11428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8" name="椭圆 297">
                  <a:extLst>
                    <a:ext uri="{FF2B5EF4-FFF2-40B4-BE49-F238E27FC236}">
                      <a16:creationId xmlns:a16="http://schemas.microsoft.com/office/drawing/2014/main" id="{F58CC327-2592-96C1-A13B-8EC0D6D958BA}"/>
                    </a:ext>
                  </a:extLst>
                </p:cNvPr>
                <p:cNvSpPr/>
                <p:nvPr/>
              </p:nvSpPr>
              <p:spPr>
                <a:xfrm>
                  <a:off x="9120109" y="3779288"/>
                  <a:ext cx="114283" cy="114283"/>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9" name="直接箭头连接符 298">
                  <a:extLst>
                    <a:ext uri="{FF2B5EF4-FFF2-40B4-BE49-F238E27FC236}">
                      <a16:creationId xmlns:a16="http://schemas.microsoft.com/office/drawing/2014/main" id="{04738B30-E5E2-D592-1E70-63119A37EED3}"/>
                    </a:ext>
                  </a:extLst>
                </p:cNvPr>
                <p:cNvCxnSpPr>
                  <a:cxnSpLocks/>
                  <a:endCxn id="294" idx="2"/>
                </p:cNvCxnSpPr>
                <p:nvPr/>
              </p:nvCxnSpPr>
              <p:spPr>
                <a:xfrm>
                  <a:off x="9386762" y="3836431"/>
                  <a:ext cx="490257" cy="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00" name="直接箭头连接符 299">
                  <a:extLst>
                    <a:ext uri="{FF2B5EF4-FFF2-40B4-BE49-F238E27FC236}">
                      <a16:creationId xmlns:a16="http://schemas.microsoft.com/office/drawing/2014/main" id="{0CE652F6-30DC-95AB-DF94-BBC6F6446F4D}"/>
                    </a:ext>
                  </a:extLst>
                </p:cNvPr>
                <p:cNvCxnSpPr>
                  <a:cxnSpLocks/>
                  <a:stCxn id="294" idx="6"/>
                  <a:endCxn id="301" idx="0"/>
                </p:cNvCxnSpPr>
                <p:nvPr/>
              </p:nvCxnSpPr>
              <p:spPr>
                <a:xfrm flipV="1">
                  <a:off x="10180119" y="3834095"/>
                  <a:ext cx="303089" cy="2337"/>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01" name="梯形 300">
                  <a:extLst>
                    <a:ext uri="{FF2B5EF4-FFF2-40B4-BE49-F238E27FC236}">
                      <a16:creationId xmlns:a16="http://schemas.microsoft.com/office/drawing/2014/main" id="{64FC524F-D6D4-3208-3F09-A1A1069D7B50}"/>
                    </a:ext>
                  </a:extLst>
                </p:cNvPr>
                <p:cNvSpPr/>
                <p:nvPr/>
              </p:nvSpPr>
              <p:spPr>
                <a:xfrm rot="16200000">
                  <a:off x="10421097" y="3709874"/>
                  <a:ext cx="372663" cy="248443"/>
                </a:xfrm>
                <a:prstGeom prst="trapezoid">
                  <a:avLst/>
                </a:prstGeom>
                <a:noFill/>
                <a:ln w="38100">
                  <a:solidFill>
                    <a:schemeClr val="accent5"/>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4" name="矩形: 圆角 303">
                  <a:extLst>
                    <a:ext uri="{FF2B5EF4-FFF2-40B4-BE49-F238E27FC236}">
                      <a16:creationId xmlns:a16="http://schemas.microsoft.com/office/drawing/2014/main" id="{326B79B5-F33B-9317-BACA-A9AA327AC57E}"/>
                    </a:ext>
                  </a:extLst>
                </p:cNvPr>
                <p:cNvSpPr/>
                <p:nvPr/>
              </p:nvSpPr>
              <p:spPr>
                <a:xfrm>
                  <a:off x="5737338" y="3226372"/>
                  <a:ext cx="542248" cy="262498"/>
                </a:xfrm>
                <a:prstGeom prst="roundRect">
                  <a:avLst>
                    <a:gd name="adj" fmla="val 32609"/>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rPr>
                    <a:t>The</a:t>
                  </a:r>
                  <a:endParaRPr lang="zh-CN" altLang="en-US" sz="4000" dirty="0">
                    <a:solidFill>
                      <a:schemeClr val="bg1"/>
                    </a:solidFill>
                  </a:endParaRPr>
                </a:p>
              </p:txBody>
            </p:sp>
            <p:cxnSp>
              <p:nvCxnSpPr>
                <p:cNvPr id="305" name="直接箭头连接符 304">
                  <a:extLst>
                    <a:ext uri="{FF2B5EF4-FFF2-40B4-BE49-F238E27FC236}">
                      <a16:creationId xmlns:a16="http://schemas.microsoft.com/office/drawing/2014/main" id="{5D8637A0-54ED-BB37-7650-12241285CCC9}"/>
                    </a:ext>
                  </a:extLst>
                </p:cNvPr>
                <p:cNvCxnSpPr>
                  <a:cxnSpLocks/>
                  <a:stCxn id="304" idx="3"/>
                </p:cNvCxnSpPr>
                <p:nvPr/>
              </p:nvCxnSpPr>
              <p:spPr>
                <a:xfrm flipV="1">
                  <a:off x="6279586" y="3350593"/>
                  <a:ext cx="303099" cy="7028"/>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06" name="梯形 305">
                  <a:extLst>
                    <a:ext uri="{FF2B5EF4-FFF2-40B4-BE49-F238E27FC236}">
                      <a16:creationId xmlns:a16="http://schemas.microsoft.com/office/drawing/2014/main" id="{9DF81717-EE91-BE5B-CBA4-A710A7EAF489}"/>
                    </a:ext>
                  </a:extLst>
                </p:cNvPr>
                <p:cNvSpPr/>
                <p:nvPr/>
              </p:nvSpPr>
              <p:spPr>
                <a:xfrm rot="5400000">
                  <a:off x="6520575" y="3226372"/>
                  <a:ext cx="372663" cy="248443"/>
                </a:xfrm>
                <a:prstGeom prst="trapezoid">
                  <a:avLst/>
                </a:prstGeom>
                <a:solidFill>
                  <a:schemeClr val="accent5">
                    <a:lumMod val="60000"/>
                    <a:lumOff val="4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7" name="直接箭头连接符 306">
                  <a:extLst>
                    <a:ext uri="{FF2B5EF4-FFF2-40B4-BE49-F238E27FC236}">
                      <a16:creationId xmlns:a16="http://schemas.microsoft.com/office/drawing/2014/main" id="{0308684F-B877-AF0E-4634-3AAF6C13525B}"/>
                    </a:ext>
                  </a:extLst>
                </p:cNvPr>
                <p:cNvCxnSpPr/>
                <p:nvPr/>
              </p:nvCxnSpPr>
              <p:spPr>
                <a:xfrm flipV="1">
                  <a:off x="6831128" y="3350593"/>
                  <a:ext cx="303099" cy="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08" name="椭圆 307">
                  <a:extLst>
                    <a:ext uri="{FF2B5EF4-FFF2-40B4-BE49-F238E27FC236}">
                      <a16:creationId xmlns:a16="http://schemas.microsoft.com/office/drawing/2014/main" id="{F8AD45D0-250F-BF87-3306-F7C5F75D573A}"/>
                    </a:ext>
                  </a:extLst>
                </p:cNvPr>
                <p:cNvSpPr/>
                <p:nvPr/>
              </p:nvSpPr>
              <p:spPr>
                <a:xfrm>
                  <a:off x="7134228" y="3199043"/>
                  <a:ext cx="303099" cy="303100"/>
                </a:xfrm>
                <a:prstGeom prst="ellipse">
                  <a:avLst/>
                </a:prstGeom>
                <a:solidFill>
                  <a:schemeClr val="accent5">
                    <a:lumMod val="60000"/>
                    <a:lumOff val="4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9" name="椭圆 308">
                  <a:extLst>
                    <a:ext uri="{FF2B5EF4-FFF2-40B4-BE49-F238E27FC236}">
                      <a16:creationId xmlns:a16="http://schemas.microsoft.com/office/drawing/2014/main" id="{F23960C2-98E7-C98D-1EA5-BE2ACDD4F64E}"/>
                    </a:ext>
                  </a:extLst>
                </p:cNvPr>
                <p:cNvSpPr/>
                <p:nvPr/>
              </p:nvSpPr>
              <p:spPr>
                <a:xfrm>
                  <a:off x="7927587" y="3199042"/>
                  <a:ext cx="303099" cy="303100"/>
                </a:xfrm>
                <a:prstGeom prst="ellipse">
                  <a:avLst/>
                </a:prstGeom>
                <a:solidFill>
                  <a:schemeClr val="accent5">
                    <a:lumMod val="60000"/>
                    <a:lumOff val="4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0" name="直接箭头连接符 309">
                  <a:extLst>
                    <a:ext uri="{FF2B5EF4-FFF2-40B4-BE49-F238E27FC236}">
                      <a16:creationId xmlns:a16="http://schemas.microsoft.com/office/drawing/2014/main" id="{20C00AB0-B53E-4851-432C-89CC6B142D89}"/>
                    </a:ext>
                  </a:extLst>
                </p:cNvPr>
                <p:cNvCxnSpPr>
                  <a:cxnSpLocks/>
                  <a:endCxn id="309" idx="2"/>
                </p:cNvCxnSpPr>
                <p:nvPr/>
              </p:nvCxnSpPr>
              <p:spPr>
                <a:xfrm>
                  <a:off x="7437327" y="3350591"/>
                  <a:ext cx="490260" cy="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11" name="椭圆 310">
                  <a:extLst>
                    <a:ext uri="{FF2B5EF4-FFF2-40B4-BE49-F238E27FC236}">
                      <a16:creationId xmlns:a16="http://schemas.microsoft.com/office/drawing/2014/main" id="{A9652A38-CC5B-8DC0-1D61-F0EEE96A35DC}"/>
                    </a:ext>
                  </a:extLst>
                </p:cNvPr>
                <p:cNvSpPr/>
                <p:nvPr/>
              </p:nvSpPr>
              <p:spPr>
                <a:xfrm>
                  <a:off x="9877019" y="3189102"/>
                  <a:ext cx="303099" cy="303100"/>
                </a:xfrm>
                <a:prstGeom prst="ellipse">
                  <a:avLst/>
                </a:prstGeom>
                <a:solidFill>
                  <a:schemeClr val="accent5">
                    <a:lumMod val="60000"/>
                    <a:lumOff val="4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2" name="直接箭头连接符 311">
                  <a:extLst>
                    <a:ext uri="{FF2B5EF4-FFF2-40B4-BE49-F238E27FC236}">
                      <a16:creationId xmlns:a16="http://schemas.microsoft.com/office/drawing/2014/main" id="{1278A2FA-2108-4BAA-3DDF-1145BBD2481A}"/>
                    </a:ext>
                  </a:extLst>
                </p:cNvPr>
                <p:cNvCxnSpPr>
                  <a:cxnSpLocks/>
                  <a:stCxn id="309" idx="6"/>
                </p:cNvCxnSpPr>
                <p:nvPr/>
              </p:nvCxnSpPr>
              <p:spPr>
                <a:xfrm flipV="1">
                  <a:off x="8230686" y="3340651"/>
                  <a:ext cx="491923" cy="994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13" name="椭圆 312">
                  <a:extLst>
                    <a:ext uri="{FF2B5EF4-FFF2-40B4-BE49-F238E27FC236}">
                      <a16:creationId xmlns:a16="http://schemas.microsoft.com/office/drawing/2014/main" id="{2B33777A-1FE8-4C86-0945-5B0CDC684582}"/>
                    </a:ext>
                  </a:extLst>
                </p:cNvPr>
                <p:cNvSpPr/>
                <p:nvPr/>
              </p:nvSpPr>
              <p:spPr>
                <a:xfrm>
                  <a:off x="8817021" y="3283509"/>
                  <a:ext cx="114283" cy="11428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4" name="椭圆 313">
                  <a:extLst>
                    <a:ext uri="{FF2B5EF4-FFF2-40B4-BE49-F238E27FC236}">
                      <a16:creationId xmlns:a16="http://schemas.microsoft.com/office/drawing/2014/main" id="{ED5A747D-FAFD-A381-DCA9-2F3C6F1A310D}"/>
                    </a:ext>
                  </a:extLst>
                </p:cNvPr>
                <p:cNvSpPr/>
                <p:nvPr/>
              </p:nvSpPr>
              <p:spPr>
                <a:xfrm>
                  <a:off x="8968565" y="3283509"/>
                  <a:ext cx="114283" cy="11428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5" name="椭圆 314">
                  <a:extLst>
                    <a:ext uri="{FF2B5EF4-FFF2-40B4-BE49-F238E27FC236}">
                      <a16:creationId xmlns:a16="http://schemas.microsoft.com/office/drawing/2014/main" id="{FACB450B-7777-A73E-A3A9-732A267AB3F2}"/>
                    </a:ext>
                  </a:extLst>
                </p:cNvPr>
                <p:cNvSpPr/>
                <p:nvPr/>
              </p:nvSpPr>
              <p:spPr>
                <a:xfrm>
                  <a:off x="9120109" y="3283508"/>
                  <a:ext cx="114283" cy="114283"/>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6" name="直接箭头连接符 315">
                  <a:extLst>
                    <a:ext uri="{FF2B5EF4-FFF2-40B4-BE49-F238E27FC236}">
                      <a16:creationId xmlns:a16="http://schemas.microsoft.com/office/drawing/2014/main" id="{4B1CB23C-BC42-5A42-9F78-C9CE76F6E781}"/>
                    </a:ext>
                  </a:extLst>
                </p:cNvPr>
                <p:cNvCxnSpPr>
                  <a:cxnSpLocks/>
                  <a:endCxn id="311" idx="2"/>
                </p:cNvCxnSpPr>
                <p:nvPr/>
              </p:nvCxnSpPr>
              <p:spPr>
                <a:xfrm>
                  <a:off x="9386762" y="3340651"/>
                  <a:ext cx="490257" cy="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17" name="直接箭头连接符 316">
                  <a:extLst>
                    <a:ext uri="{FF2B5EF4-FFF2-40B4-BE49-F238E27FC236}">
                      <a16:creationId xmlns:a16="http://schemas.microsoft.com/office/drawing/2014/main" id="{417BFE3F-9F82-AE04-BB2D-3D3B684DE6E7}"/>
                    </a:ext>
                  </a:extLst>
                </p:cNvPr>
                <p:cNvCxnSpPr>
                  <a:cxnSpLocks/>
                  <a:stCxn id="311" idx="6"/>
                  <a:endCxn id="318" idx="0"/>
                </p:cNvCxnSpPr>
                <p:nvPr/>
              </p:nvCxnSpPr>
              <p:spPr>
                <a:xfrm flipV="1">
                  <a:off x="10180119" y="3338315"/>
                  <a:ext cx="303089" cy="2337"/>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18" name="梯形 317">
                  <a:extLst>
                    <a:ext uri="{FF2B5EF4-FFF2-40B4-BE49-F238E27FC236}">
                      <a16:creationId xmlns:a16="http://schemas.microsoft.com/office/drawing/2014/main" id="{08966E49-E21F-5CE1-A49C-B4D2FCD43BBB}"/>
                    </a:ext>
                  </a:extLst>
                </p:cNvPr>
                <p:cNvSpPr/>
                <p:nvPr/>
              </p:nvSpPr>
              <p:spPr>
                <a:xfrm rot="16200000">
                  <a:off x="10421097" y="3214094"/>
                  <a:ext cx="372663" cy="248443"/>
                </a:xfrm>
                <a:prstGeom prst="trapezoid">
                  <a:avLst/>
                </a:prstGeom>
                <a:noFill/>
                <a:ln w="38100">
                  <a:solidFill>
                    <a:schemeClr val="accent5"/>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7" name="连接符: 曲线 336">
                  <a:extLst>
                    <a:ext uri="{FF2B5EF4-FFF2-40B4-BE49-F238E27FC236}">
                      <a16:creationId xmlns:a16="http://schemas.microsoft.com/office/drawing/2014/main" id="{8C48B1D7-AADA-2419-6A31-47A0A18ED887}"/>
                    </a:ext>
                  </a:extLst>
                </p:cNvPr>
                <p:cNvCxnSpPr>
                  <a:cxnSpLocks/>
                  <a:stCxn id="276" idx="6"/>
                  <a:endCxn id="200" idx="2"/>
                </p:cNvCxnSpPr>
                <p:nvPr/>
              </p:nvCxnSpPr>
              <p:spPr>
                <a:xfrm>
                  <a:off x="7442322" y="4338161"/>
                  <a:ext cx="490260" cy="481147"/>
                </a:xfrm>
                <a:prstGeom prst="curvedConnector3">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8" name="直接连接符 337">
                  <a:extLst>
                    <a:ext uri="{FF2B5EF4-FFF2-40B4-BE49-F238E27FC236}">
                      <a16:creationId xmlns:a16="http://schemas.microsoft.com/office/drawing/2014/main" id="{925E676B-B4E7-D906-459F-E217C7D1B20B}"/>
                    </a:ext>
                  </a:extLst>
                </p:cNvPr>
                <p:cNvCxnSpPr>
                  <a:cxnSpLocks/>
                </p:cNvCxnSpPr>
                <p:nvPr/>
              </p:nvCxnSpPr>
              <p:spPr>
                <a:xfrm>
                  <a:off x="7684139" y="4070669"/>
                  <a:ext cx="0" cy="479494"/>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5" name="连接符: 曲线 344">
                  <a:extLst>
                    <a:ext uri="{FF2B5EF4-FFF2-40B4-BE49-F238E27FC236}">
                      <a16:creationId xmlns:a16="http://schemas.microsoft.com/office/drawing/2014/main" id="{4342F34C-B943-8BE0-31B7-E179C82DCCAD}"/>
                    </a:ext>
                  </a:extLst>
                </p:cNvPr>
                <p:cNvCxnSpPr>
                  <a:cxnSpLocks/>
                  <a:stCxn id="291" idx="6"/>
                  <a:endCxn id="277" idx="2"/>
                </p:cNvCxnSpPr>
                <p:nvPr/>
              </p:nvCxnSpPr>
              <p:spPr>
                <a:xfrm>
                  <a:off x="7437327" y="3846373"/>
                  <a:ext cx="495255" cy="491787"/>
                </a:xfrm>
                <a:prstGeom prst="curvedConnector3">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6" name="直接连接符 345">
                  <a:extLst>
                    <a:ext uri="{FF2B5EF4-FFF2-40B4-BE49-F238E27FC236}">
                      <a16:creationId xmlns:a16="http://schemas.microsoft.com/office/drawing/2014/main" id="{AE3A9131-0C3A-BBF1-38ED-DBAB0E472DC9}"/>
                    </a:ext>
                  </a:extLst>
                </p:cNvPr>
                <p:cNvCxnSpPr>
                  <a:cxnSpLocks/>
                </p:cNvCxnSpPr>
                <p:nvPr/>
              </p:nvCxnSpPr>
              <p:spPr>
                <a:xfrm>
                  <a:off x="7683733" y="3579591"/>
                  <a:ext cx="0" cy="479494"/>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7" name="直接连接符 346">
                  <a:extLst>
                    <a:ext uri="{FF2B5EF4-FFF2-40B4-BE49-F238E27FC236}">
                      <a16:creationId xmlns:a16="http://schemas.microsoft.com/office/drawing/2014/main" id="{A8AAD72D-D1B1-5CA1-E8DC-7CBECE38746F}"/>
                    </a:ext>
                  </a:extLst>
                </p:cNvPr>
                <p:cNvCxnSpPr>
                  <a:cxnSpLocks/>
                </p:cNvCxnSpPr>
                <p:nvPr/>
              </p:nvCxnSpPr>
              <p:spPr>
                <a:xfrm>
                  <a:off x="7683733" y="4059084"/>
                  <a:ext cx="0" cy="479494"/>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54" name="连接符: 曲线 353">
                  <a:extLst>
                    <a:ext uri="{FF2B5EF4-FFF2-40B4-BE49-F238E27FC236}">
                      <a16:creationId xmlns:a16="http://schemas.microsoft.com/office/drawing/2014/main" id="{79A8B864-A550-46FA-AA1F-FEB365E6733F}"/>
                    </a:ext>
                  </a:extLst>
                </p:cNvPr>
                <p:cNvCxnSpPr>
                  <a:cxnSpLocks/>
                  <a:stCxn id="308" idx="6"/>
                  <a:endCxn id="292" idx="2"/>
                </p:cNvCxnSpPr>
                <p:nvPr/>
              </p:nvCxnSpPr>
              <p:spPr>
                <a:xfrm>
                  <a:off x="7437327" y="3350593"/>
                  <a:ext cx="490260" cy="495779"/>
                </a:xfrm>
                <a:prstGeom prst="curvedConnector3">
                  <a:avLst>
                    <a:gd name="adj1" fmla="val 50000"/>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57" name="连接符: 曲线 356">
                  <a:extLst>
                    <a:ext uri="{FF2B5EF4-FFF2-40B4-BE49-F238E27FC236}">
                      <a16:creationId xmlns:a16="http://schemas.microsoft.com/office/drawing/2014/main" id="{A6DD02B7-0B0C-CA80-EDAB-007FA7A81D47}"/>
                    </a:ext>
                  </a:extLst>
                </p:cNvPr>
                <p:cNvCxnSpPr>
                  <a:cxnSpLocks/>
                </p:cNvCxnSpPr>
                <p:nvPr/>
              </p:nvCxnSpPr>
              <p:spPr>
                <a:xfrm>
                  <a:off x="8240249" y="4341470"/>
                  <a:ext cx="490260" cy="481147"/>
                </a:xfrm>
                <a:prstGeom prst="curvedConnector3">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59" name="连接符: 曲线 358">
                  <a:extLst>
                    <a:ext uri="{FF2B5EF4-FFF2-40B4-BE49-F238E27FC236}">
                      <a16:creationId xmlns:a16="http://schemas.microsoft.com/office/drawing/2014/main" id="{84411CF5-A7AC-8DA7-C8BB-62721EF5DD02}"/>
                    </a:ext>
                  </a:extLst>
                </p:cNvPr>
                <p:cNvCxnSpPr>
                  <a:cxnSpLocks/>
                </p:cNvCxnSpPr>
                <p:nvPr/>
              </p:nvCxnSpPr>
              <p:spPr>
                <a:xfrm>
                  <a:off x="8235254" y="3849682"/>
                  <a:ext cx="495255" cy="491787"/>
                </a:xfrm>
                <a:prstGeom prst="curvedConnector3">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60" name="直接连接符 359">
                  <a:extLst>
                    <a:ext uri="{FF2B5EF4-FFF2-40B4-BE49-F238E27FC236}">
                      <a16:creationId xmlns:a16="http://schemas.microsoft.com/office/drawing/2014/main" id="{1CA129C7-9CFF-47E8-92F3-20655CC4FE48}"/>
                    </a:ext>
                  </a:extLst>
                </p:cNvPr>
                <p:cNvCxnSpPr>
                  <a:cxnSpLocks/>
                </p:cNvCxnSpPr>
                <p:nvPr/>
              </p:nvCxnSpPr>
              <p:spPr>
                <a:xfrm>
                  <a:off x="8481660" y="3582900"/>
                  <a:ext cx="0" cy="479494"/>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61" name="直接连接符 360">
                  <a:extLst>
                    <a:ext uri="{FF2B5EF4-FFF2-40B4-BE49-F238E27FC236}">
                      <a16:creationId xmlns:a16="http://schemas.microsoft.com/office/drawing/2014/main" id="{035A3D6D-A309-F6C0-917E-4027CE6CFE80}"/>
                    </a:ext>
                  </a:extLst>
                </p:cNvPr>
                <p:cNvCxnSpPr>
                  <a:cxnSpLocks/>
                </p:cNvCxnSpPr>
                <p:nvPr/>
              </p:nvCxnSpPr>
              <p:spPr>
                <a:xfrm>
                  <a:off x="8481660" y="4062393"/>
                  <a:ext cx="0" cy="479494"/>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62" name="连接符: 曲线 361">
                  <a:extLst>
                    <a:ext uri="{FF2B5EF4-FFF2-40B4-BE49-F238E27FC236}">
                      <a16:creationId xmlns:a16="http://schemas.microsoft.com/office/drawing/2014/main" id="{AFEDA775-84B1-6A4D-B8DD-374DD2D4A7DE}"/>
                    </a:ext>
                  </a:extLst>
                </p:cNvPr>
                <p:cNvCxnSpPr>
                  <a:cxnSpLocks/>
                </p:cNvCxnSpPr>
                <p:nvPr/>
              </p:nvCxnSpPr>
              <p:spPr>
                <a:xfrm>
                  <a:off x="8235254" y="3353902"/>
                  <a:ext cx="490260" cy="495779"/>
                </a:xfrm>
                <a:prstGeom prst="curvedConnector3">
                  <a:avLst>
                    <a:gd name="adj1" fmla="val 50000"/>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63" name="连接符: 曲线 362">
                  <a:extLst>
                    <a:ext uri="{FF2B5EF4-FFF2-40B4-BE49-F238E27FC236}">
                      <a16:creationId xmlns:a16="http://schemas.microsoft.com/office/drawing/2014/main" id="{10C17D17-96EC-109F-2E10-4C003F56A3F7}"/>
                    </a:ext>
                  </a:extLst>
                </p:cNvPr>
                <p:cNvCxnSpPr>
                  <a:cxnSpLocks/>
                  <a:endCxn id="219" idx="2"/>
                </p:cNvCxnSpPr>
                <p:nvPr/>
              </p:nvCxnSpPr>
              <p:spPr>
                <a:xfrm>
                  <a:off x="9392160" y="4324911"/>
                  <a:ext cx="489854" cy="484457"/>
                </a:xfrm>
                <a:prstGeom prst="curvedConnector3">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65" name="连接符: 曲线 364">
                  <a:extLst>
                    <a:ext uri="{FF2B5EF4-FFF2-40B4-BE49-F238E27FC236}">
                      <a16:creationId xmlns:a16="http://schemas.microsoft.com/office/drawing/2014/main" id="{40264220-78C3-C2DD-B1C8-EB9A95E9E232}"/>
                    </a:ext>
                  </a:extLst>
                </p:cNvPr>
                <p:cNvCxnSpPr>
                  <a:cxnSpLocks/>
                </p:cNvCxnSpPr>
                <p:nvPr/>
              </p:nvCxnSpPr>
              <p:spPr>
                <a:xfrm>
                  <a:off x="9387165" y="3833123"/>
                  <a:ext cx="495255" cy="491787"/>
                </a:xfrm>
                <a:prstGeom prst="curvedConnector3">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66" name="直接连接符 365">
                  <a:extLst>
                    <a:ext uri="{FF2B5EF4-FFF2-40B4-BE49-F238E27FC236}">
                      <a16:creationId xmlns:a16="http://schemas.microsoft.com/office/drawing/2014/main" id="{90B9D5E0-9095-800E-C312-21975B3D7998}"/>
                    </a:ext>
                  </a:extLst>
                </p:cNvPr>
                <p:cNvCxnSpPr>
                  <a:cxnSpLocks/>
                </p:cNvCxnSpPr>
                <p:nvPr/>
              </p:nvCxnSpPr>
              <p:spPr>
                <a:xfrm>
                  <a:off x="9633571" y="3566341"/>
                  <a:ext cx="0" cy="479494"/>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67" name="直接连接符 366">
                  <a:extLst>
                    <a:ext uri="{FF2B5EF4-FFF2-40B4-BE49-F238E27FC236}">
                      <a16:creationId xmlns:a16="http://schemas.microsoft.com/office/drawing/2014/main" id="{0C2FBADB-6ADB-3101-A7F0-8370FE3B6632}"/>
                    </a:ext>
                  </a:extLst>
                </p:cNvPr>
                <p:cNvCxnSpPr>
                  <a:cxnSpLocks/>
                </p:cNvCxnSpPr>
                <p:nvPr/>
              </p:nvCxnSpPr>
              <p:spPr>
                <a:xfrm>
                  <a:off x="9633571" y="4045834"/>
                  <a:ext cx="0" cy="479494"/>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2" name="连接符: 曲线 381">
                  <a:extLst>
                    <a:ext uri="{FF2B5EF4-FFF2-40B4-BE49-F238E27FC236}">
                      <a16:creationId xmlns:a16="http://schemas.microsoft.com/office/drawing/2014/main" id="{74CC6D97-7E0A-4BB6-BE49-405EF668FCEF}"/>
                    </a:ext>
                  </a:extLst>
                </p:cNvPr>
                <p:cNvCxnSpPr>
                  <a:cxnSpLocks/>
                </p:cNvCxnSpPr>
                <p:nvPr/>
              </p:nvCxnSpPr>
              <p:spPr>
                <a:xfrm>
                  <a:off x="9388443" y="3339886"/>
                  <a:ext cx="489854" cy="484457"/>
                </a:xfrm>
                <a:prstGeom prst="curvedConnector3">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grpSp>
        </p:grpSp>
      </p:grpSp>
      <p:grpSp>
        <p:nvGrpSpPr>
          <p:cNvPr id="11" name="组合 10">
            <a:extLst>
              <a:ext uri="{FF2B5EF4-FFF2-40B4-BE49-F238E27FC236}">
                <a16:creationId xmlns:a16="http://schemas.microsoft.com/office/drawing/2014/main" id="{2B5E7B62-3415-0701-B7AE-B48354E16EF8}"/>
              </a:ext>
            </a:extLst>
          </p:cNvPr>
          <p:cNvGrpSpPr/>
          <p:nvPr/>
        </p:nvGrpSpPr>
        <p:grpSpPr>
          <a:xfrm>
            <a:off x="6060185" y="4536912"/>
            <a:ext cx="5908619" cy="1913831"/>
            <a:chOff x="6060185" y="4536912"/>
            <a:chExt cx="5908619" cy="1913831"/>
          </a:xfrm>
        </p:grpSpPr>
        <p:cxnSp>
          <p:nvCxnSpPr>
            <p:cNvPr id="227" name="连接符: 曲线 226">
              <a:extLst>
                <a:ext uri="{FF2B5EF4-FFF2-40B4-BE49-F238E27FC236}">
                  <a16:creationId xmlns:a16="http://schemas.microsoft.com/office/drawing/2014/main" id="{E1AA15C3-FF46-A7AE-E42C-E44DFF0299AA}"/>
                </a:ext>
              </a:extLst>
            </p:cNvPr>
            <p:cNvCxnSpPr>
              <a:cxnSpLocks/>
              <a:stCxn id="200" idx="6"/>
            </p:cNvCxnSpPr>
            <p:nvPr/>
          </p:nvCxnSpPr>
          <p:spPr>
            <a:xfrm>
              <a:off x="8235681" y="4819308"/>
              <a:ext cx="491923" cy="469553"/>
            </a:xfrm>
            <a:prstGeom prst="curvedConnector3">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8" name="连接符: 曲线 247">
              <a:extLst>
                <a:ext uri="{FF2B5EF4-FFF2-40B4-BE49-F238E27FC236}">
                  <a16:creationId xmlns:a16="http://schemas.microsoft.com/office/drawing/2014/main" id="{DC579505-F18F-3C9E-6C58-20EC54535AB8}"/>
                </a:ext>
              </a:extLst>
            </p:cNvPr>
            <p:cNvCxnSpPr>
              <a:cxnSpLocks/>
              <a:endCxn id="220" idx="2"/>
            </p:cNvCxnSpPr>
            <p:nvPr/>
          </p:nvCxnSpPr>
          <p:spPr>
            <a:xfrm>
              <a:off x="9391758" y="4809368"/>
              <a:ext cx="490257" cy="479494"/>
            </a:xfrm>
            <a:prstGeom prst="curvedConnector3">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58" name="梯形 257">
              <a:extLst>
                <a:ext uri="{FF2B5EF4-FFF2-40B4-BE49-F238E27FC236}">
                  <a16:creationId xmlns:a16="http://schemas.microsoft.com/office/drawing/2014/main" id="{AA382DCD-4B05-E7E0-5C7E-97C5C258BACA}"/>
                </a:ext>
              </a:extLst>
            </p:cNvPr>
            <p:cNvSpPr/>
            <p:nvPr/>
          </p:nvSpPr>
          <p:spPr>
            <a:xfrm rot="16200000">
              <a:off x="10426091" y="5163958"/>
              <a:ext cx="372663" cy="248443"/>
            </a:xfrm>
            <a:prstGeom prst="trapezoid">
              <a:avLst/>
            </a:prstGeom>
            <a:solidFill>
              <a:schemeClr val="accent2">
                <a:lumMod val="40000"/>
                <a:lumOff val="6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8" name="直接连接符 357">
              <a:extLst>
                <a:ext uri="{FF2B5EF4-FFF2-40B4-BE49-F238E27FC236}">
                  <a16:creationId xmlns:a16="http://schemas.microsoft.com/office/drawing/2014/main" id="{D5C28DF7-FA06-B762-B24C-1FCF05648CC3}"/>
                </a:ext>
              </a:extLst>
            </p:cNvPr>
            <p:cNvCxnSpPr>
              <a:cxnSpLocks/>
            </p:cNvCxnSpPr>
            <p:nvPr/>
          </p:nvCxnSpPr>
          <p:spPr>
            <a:xfrm>
              <a:off x="8482066" y="4553471"/>
              <a:ext cx="0" cy="479494"/>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64" name="直接连接符 363">
              <a:extLst>
                <a:ext uri="{FF2B5EF4-FFF2-40B4-BE49-F238E27FC236}">
                  <a16:creationId xmlns:a16="http://schemas.microsoft.com/office/drawing/2014/main" id="{D72F5A05-78EA-9122-9C76-1621E3CD9E1B}"/>
                </a:ext>
              </a:extLst>
            </p:cNvPr>
            <p:cNvCxnSpPr>
              <a:cxnSpLocks/>
            </p:cNvCxnSpPr>
            <p:nvPr/>
          </p:nvCxnSpPr>
          <p:spPr>
            <a:xfrm>
              <a:off x="9633977" y="4536912"/>
              <a:ext cx="0" cy="479494"/>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85EA80B5-4548-4C6F-C9CC-68CEB990790D}"/>
                </a:ext>
              </a:extLst>
            </p:cNvPr>
            <p:cNvGrpSpPr/>
            <p:nvPr/>
          </p:nvGrpSpPr>
          <p:grpSpPr>
            <a:xfrm>
              <a:off x="6060185" y="5023025"/>
              <a:ext cx="5908619" cy="1427718"/>
              <a:chOff x="6060185" y="5023025"/>
              <a:chExt cx="5908619" cy="1427718"/>
            </a:xfrm>
          </p:grpSpPr>
          <p:sp>
            <p:nvSpPr>
              <p:cNvPr id="201" name="椭圆 200">
                <a:extLst>
                  <a:ext uri="{FF2B5EF4-FFF2-40B4-BE49-F238E27FC236}">
                    <a16:creationId xmlns:a16="http://schemas.microsoft.com/office/drawing/2014/main" id="{9C190988-74AD-2A7A-5EC3-D9889DFB80D0}"/>
                  </a:ext>
                </a:extLst>
              </p:cNvPr>
              <p:cNvSpPr/>
              <p:nvPr/>
            </p:nvSpPr>
            <p:spPr>
              <a:xfrm>
                <a:off x="7932582" y="5147252"/>
                <a:ext cx="303099" cy="303100"/>
              </a:xfrm>
              <a:prstGeom prst="ellipse">
                <a:avLst/>
              </a:prstGeom>
              <a:solidFill>
                <a:schemeClr val="accent2">
                  <a:lumMod val="40000"/>
                  <a:lumOff val="6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梯形 203">
                <a:extLst>
                  <a:ext uri="{FF2B5EF4-FFF2-40B4-BE49-F238E27FC236}">
                    <a16:creationId xmlns:a16="http://schemas.microsoft.com/office/drawing/2014/main" id="{602AE70D-CB33-7126-E1BF-C1CF29FF6CC8}"/>
                  </a:ext>
                </a:extLst>
              </p:cNvPr>
              <p:cNvSpPr/>
              <p:nvPr/>
            </p:nvSpPr>
            <p:spPr>
              <a:xfrm rot="5400000">
                <a:off x="6525569" y="5657384"/>
                <a:ext cx="372663" cy="248443"/>
              </a:xfrm>
              <a:prstGeom prst="trapezoid">
                <a:avLst/>
              </a:prstGeom>
              <a:solidFill>
                <a:schemeClr val="accent2">
                  <a:lumMod val="40000"/>
                  <a:lumOff val="6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梯形 204">
                <a:extLst>
                  <a:ext uri="{FF2B5EF4-FFF2-40B4-BE49-F238E27FC236}">
                    <a16:creationId xmlns:a16="http://schemas.microsoft.com/office/drawing/2014/main" id="{F63C6846-4769-148C-7A8B-3D89A646575E}"/>
                  </a:ext>
                </a:extLst>
              </p:cNvPr>
              <p:cNvSpPr/>
              <p:nvPr/>
            </p:nvSpPr>
            <p:spPr>
              <a:xfrm rot="5400000">
                <a:off x="6525569" y="6140190"/>
                <a:ext cx="372663" cy="248443"/>
              </a:xfrm>
              <a:prstGeom prst="trapezoid">
                <a:avLst/>
              </a:prstGeom>
              <a:solidFill>
                <a:schemeClr val="accent2">
                  <a:lumMod val="40000"/>
                  <a:lumOff val="6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6" name="直接箭头连接符 205">
                <a:extLst>
                  <a:ext uri="{FF2B5EF4-FFF2-40B4-BE49-F238E27FC236}">
                    <a16:creationId xmlns:a16="http://schemas.microsoft.com/office/drawing/2014/main" id="{97F5CC15-FD47-FC79-F14F-5E076E92D07C}"/>
                  </a:ext>
                </a:extLst>
              </p:cNvPr>
              <p:cNvCxnSpPr/>
              <p:nvPr/>
            </p:nvCxnSpPr>
            <p:spPr>
              <a:xfrm flipV="1">
                <a:off x="6836122" y="5781605"/>
                <a:ext cx="303099" cy="1"/>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直接箭头连接符 206">
                <a:extLst>
                  <a:ext uri="{FF2B5EF4-FFF2-40B4-BE49-F238E27FC236}">
                    <a16:creationId xmlns:a16="http://schemas.microsoft.com/office/drawing/2014/main" id="{2018C1B1-1520-79F3-0330-050C151CF2A9}"/>
                  </a:ext>
                </a:extLst>
              </p:cNvPr>
              <p:cNvCxnSpPr/>
              <p:nvPr/>
            </p:nvCxnSpPr>
            <p:spPr>
              <a:xfrm flipV="1">
                <a:off x="6836122" y="6264410"/>
                <a:ext cx="303099" cy="1"/>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08" name="椭圆 207">
                <a:extLst>
                  <a:ext uri="{FF2B5EF4-FFF2-40B4-BE49-F238E27FC236}">
                    <a16:creationId xmlns:a16="http://schemas.microsoft.com/office/drawing/2014/main" id="{A2E84DF9-4A43-B847-E005-D823822DC274}"/>
                  </a:ext>
                </a:extLst>
              </p:cNvPr>
              <p:cNvSpPr/>
              <p:nvPr/>
            </p:nvSpPr>
            <p:spPr>
              <a:xfrm>
                <a:off x="7139222" y="5630055"/>
                <a:ext cx="303099" cy="303100"/>
              </a:xfrm>
              <a:prstGeom prst="ellipse">
                <a:avLst/>
              </a:prstGeom>
              <a:solidFill>
                <a:schemeClr val="accent2">
                  <a:lumMod val="40000"/>
                  <a:lumOff val="6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椭圆 208">
                <a:extLst>
                  <a:ext uri="{FF2B5EF4-FFF2-40B4-BE49-F238E27FC236}">
                    <a16:creationId xmlns:a16="http://schemas.microsoft.com/office/drawing/2014/main" id="{DBBC9E3D-B80E-3AFA-4819-E78B29101A0F}"/>
                  </a:ext>
                </a:extLst>
              </p:cNvPr>
              <p:cNvSpPr/>
              <p:nvPr/>
            </p:nvSpPr>
            <p:spPr>
              <a:xfrm>
                <a:off x="7139222" y="6109548"/>
                <a:ext cx="303099" cy="303100"/>
              </a:xfrm>
              <a:prstGeom prst="ellipse">
                <a:avLst/>
              </a:prstGeom>
              <a:solidFill>
                <a:schemeClr val="accent2">
                  <a:lumMod val="40000"/>
                  <a:lumOff val="6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0" name="椭圆 209">
                <a:extLst>
                  <a:ext uri="{FF2B5EF4-FFF2-40B4-BE49-F238E27FC236}">
                    <a16:creationId xmlns:a16="http://schemas.microsoft.com/office/drawing/2014/main" id="{E98A85F1-46BB-8E35-A28A-2914345EF285}"/>
                  </a:ext>
                </a:extLst>
              </p:cNvPr>
              <p:cNvSpPr/>
              <p:nvPr/>
            </p:nvSpPr>
            <p:spPr>
              <a:xfrm>
                <a:off x="7932581" y="5630055"/>
                <a:ext cx="303099" cy="303100"/>
              </a:xfrm>
              <a:prstGeom prst="ellipse">
                <a:avLst/>
              </a:prstGeom>
              <a:solidFill>
                <a:schemeClr val="accent2">
                  <a:lumMod val="40000"/>
                  <a:lumOff val="6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1" name="椭圆 210">
                <a:extLst>
                  <a:ext uri="{FF2B5EF4-FFF2-40B4-BE49-F238E27FC236}">
                    <a16:creationId xmlns:a16="http://schemas.microsoft.com/office/drawing/2014/main" id="{2B1D3C48-FE01-3E60-8C40-CFC832510256}"/>
                  </a:ext>
                </a:extLst>
              </p:cNvPr>
              <p:cNvSpPr/>
              <p:nvPr/>
            </p:nvSpPr>
            <p:spPr>
              <a:xfrm>
                <a:off x="7932581" y="6109548"/>
                <a:ext cx="303099" cy="303100"/>
              </a:xfrm>
              <a:prstGeom prst="ellipse">
                <a:avLst/>
              </a:prstGeom>
              <a:solidFill>
                <a:schemeClr val="accent2">
                  <a:lumMod val="40000"/>
                  <a:lumOff val="6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3" name="直接箭头连接符 212">
                <a:extLst>
                  <a:ext uri="{FF2B5EF4-FFF2-40B4-BE49-F238E27FC236}">
                    <a16:creationId xmlns:a16="http://schemas.microsoft.com/office/drawing/2014/main" id="{0C1D9B43-DEEA-4D21-6B8A-24B7D3F90CC0}"/>
                  </a:ext>
                </a:extLst>
              </p:cNvPr>
              <p:cNvCxnSpPr>
                <a:cxnSpLocks/>
              </p:cNvCxnSpPr>
              <p:nvPr/>
            </p:nvCxnSpPr>
            <p:spPr>
              <a:xfrm>
                <a:off x="7442321" y="6261098"/>
                <a:ext cx="490260" cy="1"/>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5" name="连接符: 曲线 214">
                <a:extLst>
                  <a:ext uri="{FF2B5EF4-FFF2-40B4-BE49-F238E27FC236}">
                    <a16:creationId xmlns:a16="http://schemas.microsoft.com/office/drawing/2014/main" id="{65DEFE89-9D76-6282-CA03-C56C2CEDE85B}"/>
                  </a:ext>
                </a:extLst>
              </p:cNvPr>
              <p:cNvCxnSpPr>
                <a:cxnSpLocks/>
                <a:stCxn id="199" idx="6"/>
                <a:endCxn id="210" idx="2"/>
              </p:cNvCxnSpPr>
              <p:nvPr/>
            </p:nvCxnSpPr>
            <p:spPr>
              <a:xfrm>
                <a:off x="7442322" y="5298802"/>
                <a:ext cx="490259" cy="482803"/>
              </a:xfrm>
              <a:prstGeom prst="curvedConnector3">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17" name="直接连接符 216">
                <a:extLst>
                  <a:ext uri="{FF2B5EF4-FFF2-40B4-BE49-F238E27FC236}">
                    <a16:creationId xmlns:a16="http://schemas.microsoft.com/office/drawing/2014/main" id="{515457A8-D4C2-126E-82DD-09B9257E217D}"/>
                  </a:ext>
                </a:extLst>
              </p:cNvPr>
              <p:cNvCxnSpPr>
                <a:cxnSpLocks/>
              </p:cNvCxnSpPr>
              <p:nvPr/>
            </p:nvCxnSpPr>
            <p:spPr>
              <a:xfrm>
                <a:off x="7687450" y="5032966"/>
                <a:ext cx="0" cy="479494"/>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12" name="直接箭头连接符 211">
                <a:extLst>
                  <a:ext uri="{FF2B5EF4-FFF2-40B4-BE49-F238E27FC236}">
                    <a16:creationId xmlns:a16="http://schemas.microsoft.com/office/drawing/2014/main" id="{9C76E122-B9EC-867A-0EA2-D7D85375B818}"/>
                  </a:ext>
                </a:extLst>
              </p:cNvPr>
              <p:cNvCxnSpPr>
                <a:cxnSpLocks/>
                <a:endCxn id="210" idx="2"/>
              </p:cNvCxnSpPr>
              <p:nvPr/>
            </p:nvCxnSpPr>
            <p:spPr>
              <a:xfrm>
                <a:off x="7442321" y="5781604"/>
                <a:ext cx="490260" cy="1"/>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1CC365B8-A690-704F-688B-62E732C621E5}"/>
                  </a:ext>
                </a:extLst>
              </p:cNvPr>
              <p:cNvCxnSpPr>
                <a:cxnSpLocks/>
              </p:cNvCxnSpPr>
              <p:nvPr/>
            </p:nvCxnSpPr>
            <p:spPr>
              <a:xfrm>
                <a:off x="7687450" y="5512459"/>
                <a:ext cx="0" cy="479494"/>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16" name="连接符: 曲线 215">
                <a:extLst>
                  <a:ext uri="{FF2B5EF4-FFF2-40B4-BE49-F238E27FC236}">
                    <a16:creationId xmlns:a16="http://schemas.microsoft.com/office/drawing/2014/main" id="{9E7ED821-AE20-89D3-40F0-70EEB1DFF1C9}"/>
                  </a:ext>
                </a:extLst>
              </p:cNvPr>
              <p:cNvCxnSpPr>
                <a:cxnSpLocks/>
              </p:cNvCxnSpPr>
              <p:nvPr/>
            </p:nvCxnSpPr>
            <p:spPr>
              <a:xfrm>
                <a:off x="7442322" y="5778292"/>
                <a:ext cx="490259" cy="482803"/>
              </a:xfrm>
              <a:prstGeom prst="curvedConnector3">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1" name="椭圆 220">
                <a:extLst>
                  <a:ext uri="{FF2B5EF4-FFF2-40B4-BE49-F238E27FC236}">
                    <a16:creationId xmlns:a16="http://schemas.microsoft.com/office/drawing/2014/main" id="{5E31457C-1780-1B6A-E44A-20A18B88BF1E}"/>
                  </a:ext>
                </a:extLst>
              </p:cNvPr>
              <p:cNvSpPr/>
              <p:nvPr/>
            </p:nvSpPr>
            <p:spPr>
              <a:xfrm>
                <a:off x="9882014" y="5620114"/>
                <a:ext cx="303099" cy="303100"/>
              </a:xfrm>
              <a:prstGeom prst="ellipse">
                <a:avLst/>
              </a:prstGeom>
              <a:solidFill>
                <a:schemeClr val="accent2">
                  <a:lumMod val="40000"/>
                  <a:lumOff val="6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椭圆 221">
                <a:extLst>
                  <a:ext uri="{FF2B5EF4-FFF2-40B4-BE49-F238E27FC236}">
                    <a16:creationId xmlns:a16="http://schemas.microsoft.com/office/drawing/2014/main" id="{33210089-5C90-F5D1-02F3-8ABD8853A3B2}"/>
                  </a:ext>
                </a:extLst>
              </p:cNvPr>
              <p:cNvSpPr/>
              <p:nvPr/>
            </p:nvSpPr>
            <p:spPr>
              <a:xfrm>
                <a:off x="9882014" y="6099608"/>
                <a:ext cx="303099" cy="303100"/>
              </a:xfrm>
              <a:prstGeom prst="ellipse">
                <a:avLst/>
              </a:prstGeom>
              <a:solidFill>
                <a:schemeClr val="accent2">
                  <a:lumMod val="40000"/>
                  <a:lumOff val="6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5" name="直接箭头连接符 224">
                <a:extLst>
                  <a:ext uri="{FF2B5EF4-FFF2-40B4-BE49-F238E27FC236}">
                    <a16:creationId xmlns:a16="http://schemas.microsoft.com/office/drawing/2014/main" id="{CA353F4D-983F-E688-704C-CE3934D96021}"/>
                  </a:ext>
                </a:extLst>
              </p:cNvPr>
              <p:cNvCxnSpPr>
                <a:cxnSpLocks/>
                <a:stCxn id="210" idx="6"/>
              </p:cNvCxnSpPr>
              <p:nvPr/>
            </p:nvCxnSpPr>
            <p:spPr>
              <a:xfrm flipV="1">
                <a:off x="8235681" y="5771664"/>
                <a:ext cx="491923" cy="9941"/>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直接箭头连接符 225">
                <a:extLst>
                  <a:ext uri="{FF2B5EF4-FFF2-40B4-BE49-F238E27FC236}">
                    <a16:creationId xmlns:a16="http://schemas.microsoft.com/office/drawing/2014/main" id="{4C1E7271-F545-85E9-7A57-804AF73157E7}"/>
                  </a:ext>
                </a:extLst>
              </p:cNvPr>
              <p:cNvCxnSpPr>
                <a:cxnSpLocks/>
                <a:stCxn id="211" idx="6"/>
              </p:cNvCxnSpPr>
              <p:nvPr/>
            </p:nvCxnSpPr>
            <p:spPr>
              <a:xfrm flipV="1">
                <a:off x="8235681" y="6254466"/>
                <a:ext cx="491923" cy="6632"/>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直接箭头连接符 223">
                <a:extLst>
                  <a:ext uri="{FF2B5EF4-FFF2-40B4-BE49-F238E27FC236}">
                    <a16:creationId xmlns:a16="http://schemas.microsoft.com/office/drawing/2014/main" id="{ED91FFAB-495A-6D4D-A4EB-6A2EF11DCFE8}"/>
                  </a:ext>
                </a:extLst>
              </p:cNvPr>
              <p:cNvCxnSpPr>
                <a:cxnSpLocks/>
              </p:cNvCxnSpPr>
              <p:nvPr/>
            </p:nvCxnSpPr>
            <p:spPr>
              <a:xfrm>
                <a:off x="8237344" y="5288860"/>
                <a:ext cx="490260" cy="1"/>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30" name="直接连接符 229">
                <a:extLst>
                  <a:ext uri="{FF2B5EF4-FFF2-40B4-BE49-F238E27FC236}">
                    <a16:creationId xmlns:a16="http://schemas.microsoft.com/office/drawing/2014/main" id="{F5BA3AF3-619F-BB83-8A43-E5463CCC4C4A}"/>
                  </a:ext>
                </a:extLst>
              </p:cNvPr>
              <p:cNvCxnSpPr>
                <a:cxnSpLocks/>
              </p:cNvCxnSpPr>
              <p:nvPr/>
            </p:nvCxnSpPr>
            <p:spPr>
              <a:xfrm>
                <a:off x="8482473" y="5023025"/>
                <a:ext cx="0" cy="479494"/>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E1F92F7D-321C-94AA-0192-D619A21AAA67}"/>
                  </a:ext>
                </a:extLst>
              </p:cNvPr>
              <p:cNvCxnSpPr>
                <a:cxnSpLocks/>
              </p:cNvCxnSpPr>
              <p:nvPr/>
            </p:nvCxnSpPr>
            <p:spPr>
              <a:xfrm>
                <a:off x="8482473" y="5502519"/>
                <a:ext cx="0" cy="47949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8" name="连接符: 曲线 227">
                <a:extLst>
                  <a:ext uri="{FF2B5EF4-FFF2-40B4-BE49-F238E27FC236}">
                    <a16:creationId xmlns:a16="http://schemas.microsoft.com/office/drawing/2014/main" id="{2F65E94E-FC8A-6337-0F26-69707046DC37}"/>
                  </a:ext>
                </a:extLst>
              </p:cNvPr>
              <p:cNvCxnSpPr>
                <a:cxnSpLocks/>
                <a:stCxn id="201" idx="6"/>
              </p:cNvCxnSpPr>
              <p:nvPr/>
            </p:nvCxnSpPr>
            <p:spPr>
              <a:xfrm>
                <a:off x="8235681" y="5298802"/>
                <a:ext cx="491923" cy="472862"/>
              </a:xfrm>
              <a:prstGeom prst="curvedConnector3">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9" name="连接符: 曲线 228">
                <a:extLst>
                  <a:ext uri="{FF2B5EF4-FFF2-40B4-BE49-F238E27FC236}">
                    <a16:creationId xmlns:a16="http://schemas.microsoft.com/office/drawing/2014/main" id="{1F02F4DB-07B3-1541-AF43-809FF050A59B}"/>
                  </a:ext>
                </a:extLst>
              </p:cNvPr>
              <p:cNvCxnSpPr>
                <a:cxnSpLocks/>
                <a:stCxn id="210" idx="6"/>
              </p:cNvCxnSpPr>
              <p:nvPr/>
            </p:nvCxnSpPr>
            <p:spPr>
              <a:xfrm>
                <a:off x="8235681" y="5781605"/>
                <a:ext cx="491923" cy="469550"/>
              </a:xfrm>
              <a:prstGeom prst="curvedConnector3">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5" name="椭圆 234">
                <a:extLst>
                  <a:ext uri="{FF2B5EF4-FFF2-40B4-BE49-F238E27FC236}">
                    <a16:creationId xmlns:a16="http://schemas.microsoft.com/office/drawing/2014/main" id="{067DB644-B398-625A-B691-425756315F36}"/>
                  </a:ext>
                </a:extLst>
              </p:cNvPr>
              <p:cNvSpPr/>
              <p:nvPr/>
            </p:nvSpPr>
            <p:spPr>
              <a:xfrm>
                <a:off x="8822016" y="5231720"/>
                <a:ext cx="114283" cy="11428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6" name="椭圆 235">
                <a:extLst>
                  <a:ext uri="{FF2B5EF4-FFF2-40B4-BE49-F238E27FC236}">
                    <a16:creationId xmlns:a16="http://schemas.microsoft.com/office/drawing/2014/main" id="{56816E71-D706-B59D-805F-0FEB056EF085}"/>
                  </a:ext>
                </a:extLst>
              </p:cNvPr>
              <p:cNvSpPr/>
              <p:nvPr/>
            </p:nvSpPr>
            <p:spPr>
              <a:xfrm>
                <a:off x="8973560" y="5231719"/>
                <a:ext cx="114283" cy="11428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7" name="椭圆 236">
                <a:extLst>
                  <a:ext uri="{FF2B5EF4-FFF2-40B4-BE49-F238E27FC236}">
                    <a16:creationId xmlns:a16="http://schemas.microsoft.com/office/drawing/2014/main" id="{CDC59762-94B5-1380-693E-E92E02C7D68F}"/>
                  </a:ext>
                </a:extLst>
              </p:cNvPr>
              <p:cNvSpPr/>
              <p:nvPr/>
            </p:nvSpPr>
            <p:spPr>
              <a:xfrm>
                <a:off x="9125104" y="5231719"/>
                <a:ext cx="114283" cy="114283"/>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6" name="直接箭头连接符 245">
                <a:extLst>
                  <a:ext uri="{FF2B5EF4-FFF2-40B4-BE49-F238E27FC236}">
                    <a16:creationId xmlns:a16="http://schemas.microsoft.com/office/drawing/2014/main" id="{FAF70195-BFE5-3604-24FE-C2CA17FCC187}"/>
                  </a:ext>
                </a:extLst>
              </p:cNvPr>
              <p:cNvCxnSpPr>
                <a:cxnSpLocks/>
              </p:cNvCxnSpPr>
              <p:nvPr/>
            </p:nvCxnSpPr>
            <p:spPr>
              <a:xfrm>
                <a:off x="9391756" y="5771663"/>
                <a:ext cx="490260" cy="1"/>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47" name="直接箭头连接符 246">
                <a:extLst>
                  <a:ext uri="{FF2B5EF4-FFF2-40B4-BE49-F238E27FC236}">
                    <a16:creationId xmlns:a16="http://schemas.microsoft.com/office/drawing/2014/main" id="{9BA36814-14F0-56B9-88B7-39C33783A276}"/>
                  </a:ext>
                </a:extLst>
              </p:cNvPr>
              <p:cNvCxnSpPr>
                <a:cxnSpLocks/>
                <a:endCxn id="222" idx="2"/>
              </p:cNvCxnSpPr>
              <p:nvPr/>
            </p:nvCxnSpPr>
            <p:spPr>
              <a:xfrm>
                <a:off x="9391756" y="6251157"/>
                <a:ext cx="490258" cy="1"/>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45" name="直接箭头连接符 244">
                <a:extLst>
                  <a:ext uri="{FF2B5EF4-FFF2-40B4-BE49-F238E27FC236}">
                    <a16:creationId xmlns:a16="http://schemas.microsoft.com/office/drawing/2014/main" id="{10D1E590-2489-562E-34CA-7B8FEC7A52C1}"/>
                  </a:ext>
                </a:extLst>
              </p:cNvPr>
              <p:cNvCxnSpPr>
                <a:cxnSpLocks/>
              </p:cNvCxnSpPr>
              <p:nvPr/>
            </p:nvCxnSpPr>
            <p:spPr>
              <a:xfrm>
                <a:off x="9391756" y="5288860"/>
                <a:ext cx="490260" cy="1"/>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51" name="直接连接符 250">
                <a:extLst>
                  <a:ext uri="{FF2B5EF4-FFF2-40B4-BE49-F238E27FC236}">
                    <a16:creationId xmlns:a16="http://schemas.microsoft.com/office/drawing/2014/main" id="{7A181844-FF61-1A00-4ACC-41DDE933D653}"/>
                  </a:ext>
                </a:extLst>
              </p:cNvPr>
              <p:cNvCxnSpPr>
                <a:cxnSpLocks/>
              </p:cNvCxnSpPr>
              <p:nvPr/>
            </p:nvCxnSpPr>
            <p:spPr>
              <a:xfrm>
                <a:off x="9636886" y="5032966"/>
                <a:ext cx="0" cy="469553"/>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20" name="椭圆 219">
                <a:extLst>
                  <a:ext uri="{FF2B5EF4-FFF2-40B4-BE49-F238E27FC236}">
                    <a16:creationId xmlns:a16="http://schemas.microsoft.com/office/drawing/2014/main" id="{7BE6BA2E-A0D4-C20F-3D83-EC6066CF8482}"/>
                  </a:ext>
                </a:extLst>
              </p:cNvPr>
              <p:cNvSpPr/>
              <p:nvPr/>
            </p:nvSpPr>
            <p:spPr>
              <a:xfrm>
                <a:off x="9882014" y="5137312"/>
                <a:ext cx="303099" cy="303100"/>
              </a:xfrm>
              <a:prstGeom prst="ellipse">
                <a:avLst/>
              </a:prstGeom>
              <a:solidFill>
                <a:schemeClr val="accent2">
                  <a:lumMod val="40000"/>
                  <a:lumOff val="6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2" name="直接连接符 251">
                <a:extLst>
                  <a:ext uri="{FF2B5EF4-FFF2-40B4-BE49-F238E27FC236}">
                    <a16:creationId xmlns:a16="http://schemas.microsoft.com/office/drawing/2014/main" id="{E71FDB52-96A0-89F6-96E9-1AA1F0763438}"/>
                  </a:ext>
                </a:extLst>
              </p:cNvPr>
              <p:cNvCxnSpPr>
                <a:cxnSpLocks/>
              </p:cNvCxnSpPr>
              <p:nvPr/>
            </p:nvCxnSpPr>
            <p:spPr>
              <a:xfrm>
                <a:off x="9636886" y="5502519"/>
                <a:ext cx="0" cy="52422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0" name="连接符: 曲线 249">
                <a:extLst>
                  <a:ext uri="{FF2B5EF4-FFF2-40B4-BE49-F238E27FC236}">
                    <a16:creationId xmlns:a16="http://schemas.microsoft.com/office/drawing/2014/main" id="{800B1B49-615E-8EDC-984D-43A0410601BD}"/>
                  </a:ext>
                </a:extLst>
              </p:cNvPr>
              <p:cNvCxnSpPr>
                <a:cxnSpLocks/>
                <a:endCxn id="222" idx="2"/>
              </p:cNvCxnSpPr>
              <p:nvPr/>
            </p:nvCxnSpPr>
            <p:spPr>
              <a:xfrm>
                <a:off x="9391757" y="5768351"/>
                <a:ext cx="490257" cy="482807"/>
              </a:xfrm>
              <a:prstGeom prst="curvedConnector3">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9" name="连接符: 曲线 248">
                <a:extLst>
                  <a:ext uri="{FF2B5EF4-FFF2-40B4-BE49-F238E27FC236}">
                    <a16:creationId xmlns:a16="http://schemas.microsoft.com/office/drawing/2014/main" id="{A5F83708-5C69-57AA-1D18-6764B7006974}"/>
                  </a:ext>
                </a:extLst>
              </p:cNvPr>
              <p:cNvCxnSpPr>
                <a:cxnSpLocks/>
                <a:endCxn id="221" idx="2"/>
              </p:cNvCxnSpPr>
              <p:nvPr/>
            </p:nvCxnSpPr>
            <p:spPr>
              <a:xfrm>
                <a:off x="9391758" y="5288861"/>
                <a:ext cx="490256" cy="482803"/>
              </a:xfrm>
              <a:prstGeom prst="curvedConnector3">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4" name="直接箭头连接符 253">
                <a:extLst>
                  <a:ext uri="{FF2B5EF4-FFF2-40B4-BE49-F238E27FC236}">
                    <a16:creationId xmlns:a16="http://schemas.microsoft.com/office/drawing/2014/main" id="{8FE0FB4F-1724-06E5-7404-54C099E18AFF}"/>
                  </a:ext>
                </a:extLst>
              </p:cNvPr>
              <p:cNvCxnSpPr>
                <a:cxnSpLocks/>
                <a:stCxn id="220" idx="6"/>
                <a:endCxn id="258" idx="0"/>
              </p:cNvCxnSpPr>
              <p:nvPr/>
            </p:nvCxnSpPr>
            <p:spPr>
              <a:xfrm flipV="1">
                <a:off x="10185114" y="5288179"/>
                <a:ext cx="303087" cy="683"/>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55" name="直接箭头连接符 254">
                <a:extLst>
                  <a:ext uri="{FF2B5EF4-FFF2-40B4-BE49-F238E27FC236}">
                    <a16:creationId xmlns:a16="http://schemas.microsoft.com/office/drawing/2014/main" id="{36B72447-0583-8D5F-E4CC-87B0BA916E2C}"/>
                  </a:ext>
                </a:extLst>
              </p:cNvPr>
              <p:cNvCxnSpPr>
                <a:cxnSpLocks/>
                <a:stCxn id="221" idx="6"/>
                <a:endCxn id="259" idx="0"/>
              </p:cNvCxnSpPr>
              <p:nvPr/>
            </p:nvCxnSpPr>
            <p:spPr>
              <a:xfrm>
                <a:off x="10185113" y="5771665"/>
                <a:ext cx="298094" cy="806"/>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56" name="直接箭头连接符 255">
                <a:extLst>
                  <a:ext uri="{FF2B5EF4-FFF2-40B4-BE49-F238E27FC236}">
                    <a16:creationId xmlns:a16="http://schemas.microsoft.com/office/drawing/2014/main" id="{434AD064-8B0D-E883-E87F-E05D45A4DE6A}"/>
                  </a:ext>
                </a:extLst>
              </p:cNvPr>
              <p:cNvCxnSpPr>
                <a:cxnSpLocks/>
                <a:stCxn id="222" idx="6"/>
                <a:endCxn id="260" idx="0"/>
              </p:cNvCxnSpPr>
              <p:nvPr/>
            </p:nvCxnSpPr>
            <p:spPr>
              <a:xfrm flipV="1">
                <a:off x="10185113" y="6250314"/>
                <a:ext cx="303087" cy="844"/>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59" name="梯形 258">
                <a:extLst>
                  <a:ext uri="{FF2B5EF4-FFF2-40B4-BE49-F238E27FC236}">
                    <a16:creationId xmlns:a16="http://schemas.microsoft.com/office/drawing/2014/main" id="{23455B2C-08EE-454F-E6EB-8D37409222A5}"/>
                  </a:ext>
                </a:extLst>
              </p:cNvPr>
              <p:cNvSpPr/>
              <p:nvPr/>
            </p:nvSpPr>
            <p:spPr>
              <a:xfrm rot="16200000">
                <a:off x="10421097" y="5648249"/>
                <a:ext cx="372663" cy="248443"/>
              </a:xfrm>
              <a:prstGeom prst="trapezoid">
                <a:avLst/>
              </a:prstGeom>
              <a:solidFill>
                <a:schemeClr val="accent2">
                  <a:lumMod val="40000"/>
                  <a:lumOff val="6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0" name="梯形 259">
                <a:extLst>
                  <a:ext uri="{FF2B5EF4-FFF2-40B4-BE49-F238E27FC236}">
                    <a16:creationId xmlns:a16="http://schemas.microsoft.com/office/drawing/2014/main" id="{A0F5FCCC-A429-A4CD-B253-70279B14C09E}"/>
                  </a:ext>
                </a:extLst>
              </p:cNvPr>
              <p:cNvSpPr/>
              <p:nvPr/>
            </p:nvSpPr>
            <p:spPr>
              <a:xfrm rot="16200000">
                <a:off x="10426090" y="6126092"/>
                <a:ext cx="372663" cy="248443"/>
              </a:xfrm>
              <a:prstGeom prst="trapezoid">
                <a:avLst/>
              </a:prstGeom>
              <a:solidFill>
                <a:schemeClr val="accent2">
                  <a:lumMod val="40000"/>
                  <a:lumOff val="6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1" name="直接箭头连接符 260">
                <a:extLst>
                  <a:ext uri="{FF2B5EF4-FFF2-40B4-BE49-F238E27FC236}">
                    <a16:creationId xmlns:a16="http://schemas.microsoft.com/office/drawing/2014/main" id="{3CC096A3-98EF-4DBB-C1A7-20F2AAEB0248}"/>
                  </a:ext>
                </a:extLst>
              </p:cNvPr>
              <p:cNvCxnSpPr>
                <a:cxnSpLocks/>
                <a:endCxn id="204" idx="2"/>
              </p:cNvCxnSpPr>
              <p:nvPr/>
            </p:nvCxnSpPr>
            <p:spPr>
              <a:xfrm>
                <a:off x="6283762" y="5781606"/>
                <a:ext cx="30391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62" name="直接箭头连接符 261">
                <a:extLst>
                  <a:ext uri="{FF2B5EF4-FFF2-40B4-BE49-F238E27FC236}">
                    <a16:creationId xmlns:a16="http://schemas.microsoft.com/office/drawing/2014/main" id="{C13052AF-31FC-E32F-79BE-83E2A085DC66}"/>
                  </a:ext>
                </a:extLst>
              </p:cNvPr>
              <p:cNvCxnSpPr>
                <a:cxnSpLocks/>
                <a:endCxn id="205" idx="2"/>
              </p:cNvCxnSpPr>
              <p:nvPr/>
            </p:nvCxnSpPr>
            <p:spPr>
              <a:xfrm>
                <a:off x="6289550" y="6264412"/>
                <a:ext cx="298130"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63" name="弧形 262">
                <a:extLst>
                  <a:ext uri="{FF2B5EF4-FFF2-40B4-BE49-F238E27FC236}">
                    <a16:creationId xmlns:a16="http://schemas.microsoft.com/office/drawing/2014/main" id="{0780E5F7-3F3B-605A-AD4F-EEED5E7125A1}"/>
                  </a:ext>
                </a:extLst>
              </p:cNvPr>
              <p:cNvSpPr/>
              <p:nvPr/>
            </p:nvSpPr>
            <p:spPr>
              <a:xfrm flipH="1" flipV="1">
                <a:off x="6060185" y="5612668"/>
                <a:ext cx="456278" cy="168935"/>
              </a:xfrm>
              <a:prstGeom prst="arc">
                <a:avLst>
                  <a:gd name="adj1" fmla="val 16384094"/>
                  <a:gd name="adj2" fmla="val 5022831"/>
                </a:avLst>
              </a:prstGeom>
              <a:noFill/>
              <a:ln w="38100">
                <a:solidFill>
                  <a:schemeClr val="accent2"/>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4" name="弧形 263">
                <a:extLst>
                  <a:ext uri="{FF2B5EF4-FFF2-40B4-BE49-F238E27FC236}">
                    <a16:creationId xmlns:a16="http://schemas.microsoft.com/office/drawing/2014/main" id="{40A93C32-F0D9-200B-60AB-068FA7CC3D45}"/>
                  </a:ext>
                </a:extLst>
              </p:cNvPr>
              <p:cNvSpPr/>
              <p:nvPr/>
            </p:nvSpPr>
            <p:spPr>
              <a:xfrm flipH="1" flipV="1">
                <a:off x="6076745" y="6097115"/>
                <a:ext cx="456278" cy="168935"/>
              </a:xfrm>
              <a:prstGeom prst="arc">
                <a:avLst>
                  <a:gd name="adj1" fmla="val 16384094"/>
                  <a:gd name="adj2" fmla="val 5022831"/>
                </a:avLst>
              </a:prstGeom>
              <a:noFill/>
              <a:ln w="38100">
                <a:solidFill>
                  <a:schemeClr val="accent2"/>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5" name="矩形: 圆角 264">
                <a:extLst>
                  <a:ext uri="{FF2B5EF4-FFF2-40B4-BE49-F238E27FC236}">
                    <a16:creationId xmlns:a16="http://schemas.microsoft.com/office/drawing/2014/main" id="{F31C668F-8920-81D5-FE86-A4E8A6D5D1B1}"/>
                  </a:ext>
                </a:extLst>
              </p:cNvPr>
              <p:cNvSpPr/>
              <p:nvPr/>
            </p:nvSpPr>
            <p:spPr>
              <a:xfrm>
                <a:off x="10960265" y="5147252"/>
                <a:ext cx="1008539" cy="274710"/>
              </a:xfrm>
              <a:prstGeom prst="roundRect">
                <a:avLst>
                  <a:gd name="adj" fmla="val 32609"/>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solidFill>
                  </a:rPr>
                  <a:t>London</a:t>
                </a:r>
              </a:p>
            </p:txBody>
          </p:sp>
          <p:sp>
            <p:nvSpPr>
              <p:cNvPr id="266" name="矩形: 圆角 265">
                <a:extLst>
                  <a:ext uri="{FF2B5EF4-FFF2-40B4-BE49-F238E27FC236}">
                    <a16:creationId xmlns:a16="http://schemas.microsoft.com/office/drawing/2014/main" id="{AD8E8B12-8121-47B3-01F6-122564A8CF1F}"/>
                  </a:ext>
                </a:extLst>
              </p:cNvPr>
              <p:cNvSpPr/>
              <p:nvPr/>
            </p:nvSpPr>
            <p:spPr>
              <a:xfrm>
                <a:off x="10960263" y="5652413"/>
                <a:ext cx="475141" cy="270801"/>
              </a:xfrm>
              <a:prstGeom prst="roundRect">
                <a:avLst>
                  <a:gd name="adj" fmla="val 32609"/>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bg2"/>
                    </a:solidFill>
                  </a:rPr>
                  <a:t>is</a:t>
                </a:r>
                <a:endParaRPr lang="zh-CN" altLang="en-US" sz="2000" dirty="0">
                  <a:solidFill>
                    <a:schemeClr val="bg2"/>
                  </a:solidFill>
                </a:endParaRPr>
              </a:p>
            </p:txBody>
          </p:sp>
          <p:sp>
            <p:nvSpPr>
              <p:cNvPr id="267" name="矩形: 圆角 266">
                <a:extLst>
                  <a:ext uri="{FF2B5EF4-FFF2-40B4-BE49-F238E27FC236}">
                    <a16:creationId xmlns:a16="http://schemas.microsoft.com/office/drawing/2014/main" id="{773DFD04-4E10-12D8-67FA-9AE4FC3702CD}"/>
                  </a:ext>
                </a:extLst>
              </p:cNvPr>
              <p:cNvSpPr/>
              <p:nvPr/>
            </p:nvSpPr>
            <p:spPr>
              <a:xfrm>
                <a:off x="10960264" y="6130245"/>
                <a:ext cx="720483" cy="248443"/>
              </a:xfrm>
              <a:prstGeom prst="roundRect">
                <a:avLst>
                  <a:gd name="adj" fmla="val 32609"/>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solidFill>
                  </a:rPr>
                  <a:t>also</a:t>
                </a:r>
                <a:endParaRPr lang="zh-CN" altLang="en-US" dirty="0">
                  <a:solidFill>
                    <a:schemeClr val="bg2"/>
                  </a:solidFill>
                </a:endParaRPr>
              </a:p>
            </p:txBody>
          </p:sp>
          <p:cxnSp>
            <p:nvCxnSpPr>
              <p:cNvPr id="268" name="直接箭头连接符 267">
                <a:extLst>
                  <a:ext uri="{FF2B5EF4-FFF2-40B4-BE49-F238E27FC236}">
                    <a16:creationId xmlns:a16="http://schemas.microsoft.com/office/drawing/2014/main" id="{2C25D673-0D34-EDD1-CCD7-0E927F912E84}"/>
                  </a:ext>
                </a:extLst>
              </p:cNvPr>
              <p:cNvCxnSpPr>
                <a:cxnSpLocks/>
                <a:stCxn id="258" idx="2"/>
                <a:endCxn id="265" idx="1"/>
              </p:cNvCxnSpPr>
              <p:nvPr/>
            </p:nvCxnSpPr>
            <p:spPr>
              <a:xfrm flipV="1">
                <a:off x="10736644" y="5284607"/>
                <a:ext cx="223621" cy="3572"/>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69" name="直接箭头连接符 268">
                <a:extLst>
                  <a:ext uri="{FF2B5EF4-FFF2-40B4-BE49-F238E27FC236}">
                    <a16:creationId xmlns:a16="http://schemas.microsoft.com/office/drawing/2014/main" id="{3F20D59C-706E-2A49-5512-756AB14EFE05}"/>
                  </a:ext>
                </a:extLst>
              </p:cNvPr>
              <p:cNvCxnSpPr>
                <a:cxnSpLocks/>
                <a:stCxn id="259" idx="2"/>
                <a:endCxn id="266" idx="1"/>
              </p:cNvCxnSpPr>
              <p:nvPr/>
            </p:nvCxnSpPr>
            <p:spPr>
              <a:xfrm>
                <a:off x="10731650" y="5772470"/>
                <a:ext cx="228613" cy="15344"/>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70" name="直接箭头连接符 269">
                <a:extLst>
                  <a:ext uri="{FF2B5EF4-FFF2-40B4-BE49-F238E27FC236}">
                    <a16:creationId xmlns:a16="http://schemas.microsoft.com/office/drawing/2014/main" id="{FA428771-B044-248B-D149-68696DD58F3B}"/>
                  </a:ext>
                </a:extLst>
              </p:cNvPr>
              <p:cNvCxnSpPr>
                <a:cxnSpLocks/>
                <a:stCxn id="260" idx="2"/>
                <a:endCxn id="267" idx="1"/>
              </p:cNvCxnSpPr>
              <p:nvPr/>
            </p:nvCxnSpPr>
            <p:spPr>
              <a:xfrm>
                <a:off x="10736643" y="6250314"/>
                <a:ext cx="223621" cy="4152"/>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39" name="椭圆 438">
                <a:extLst>
                  <a:ext uri="{FF2B5EF4-FFF2-40B4-BE49-F238E27FC236}">
                    <a16:creationId xmlns:a16="http://schemas.microsoft.com/office/drawing/2014/main" id="{6C4504ED-C711-5D84-694B-E54A770F7919}"/>
                  </a:ext>
                </a:extLst>
              </p:cNvPr>
              <p:cNvSpPr/>
              <p:nvPr/>
            </p:nvSpPr>
            <p:spPr>
              <a:xfrm>
                <a:off x="8822016" y="5713678"/>
                <a:ext cx="114283" cy="11428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0" name="椭圆 439">
                <a:extLst>
                  <a:ext uri="{FF2B5EF4-FFF2-40B4-BE49-F238E27FC236}">
                    <a16:creationId xmlns:a16="http://schemas.microsoft.com/office/drawing/2014/main" id="{34A1843F-1510-6F6C-A27E-00B0DE7F7B6A}"/>
                  </a:ext>
                </a:extLst>
              </p:cNvPr>
              <p:cNvSpPr/>
              <p:nvPr/>
            </p:nvSpPr>
            <p:spPr>
              <a:xfrm>
                <a:off x="8973560" y="5713678"/>
                <a:ext cx="114283" cy="11428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1" name="椭圆 440">
                <a:extLst>
                  <a:ext uri="{FF2B5EF4-FFF2-40B4-BE49-F238E27FC236}">
                    <a16:creationId xmlns:a16="http://schemas.microsoft.com/office/drawing/2014/main" id="{DAB283C1-2F92-CF85-816F-48CD4FF66C03}"/>
                  </a:ext>
                </a:extLst>
              </p:cNvPr>
              <p:cNvSpPr/>
              <p:nvPr/>
            </p:nvSpPr>
            <p:spPr>
              <a:xfrm>
                <a:off x="9125104" y="5713677"/>
                <a:ext cx="114283" cy="114283"/>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2" name="椭圆 441">
                <a:extLst>
                  <a:ext uri="{FF2B5EF4-FFF2-40B4-BE49-F238E27FC236}">
                    <a16:creationId xmlns:a16="http://schemas.microsoft.com/office/drawing/2014/main" id="{30BD5D6F-5B57-53EE-4C73-F3562C88DBC0}"/>
                  </a:ext>
                </a:extLst>
              </p:cNvPr>
              <p:cNvSpPr/>
              <p:nvPr/>
            </p:nvSpPr>
            <p:spPr>
              <a:xfrm>
                <a:off x="8822016" y="6193173"/>
                <a:ext cx="114283" cy="11428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3" name="椭圆 442">
                <a:extLst>
                  <a:ext uri="{FF2B5EF4-FFF2-40B4-BE49-F238E27FC236}">
                    <a16:creationId xmlns:a16="http://schemas.microsoft.com/office/drawing/2014/main" id="{09C17888-080F-003F-D3AF-ABD1F7825661}"/>
                  </a:ext>
                </a:extLst>
              </p:cNvPr>
              <p:cNvSpPr/>
              <p:nvPr/>
            </p:nvSpPr>
            <p:spPr>
              <a:xfrm>
                <a:off x="8973560" y="6193172"/>
                <a:ext cx="114283" cy="11428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4" name="椭圆 443">
                <a:extLst>
                  <a:ext uri="{FF2B5EF4-FFF2-40B4-BE49-F238E27FC236}">
                    <a16:creationId xmlns:a16="http://schemas.microsoft.com/office/drawing/2014/main" id="{B836CF60-9194-1923-F8B8-D9D34FF82662}"/>
                  </a:ext>
                </a:extLst>
              </p:cNvPr>
              <p:cNvSpPr/>
              <p:nvPr/>
            </p:nvSpPr>
            <p:spPr>
              <a:xfrm>
                <a:off x="9125104" y="6193172"/>
                <a:ext cx="114283" cy="114283"/>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445" name="矩形 444">
            <a:extLst>
              <a:ext uri="{FF2B5EF4-FFF2-40B4-BE49-F238E27FC236}">
                <a16:creationId xmlns:a16="http://schemas.microsoft.com/office/drawing/2014/main" id="{2F12D78C-802D-8B97-A51D-29E635892B5F}"/>
              </a:ext>
            </a:extLst>
          </p:cNvPr>
          <p:cNvSpPr/>
          <p:nvPr/>
        </p:nvSpPr>
        <p:spPr>
          <a:xfrm>
            <a:off x="5319634" y="2560380"/>
            <a:ext cx="2961441" cy="523220"/>
          </a:xfrm>
          <a:prstGeom prst="rect">
            <a:avLst/>
          </a:prstGeom>
        </p:spPr>
        <p:txBody>
          <a:bodyPr wrap="square">
            <a:spAutoFit/>
          </a:bodyPr>
          <a:lstStyle/>
          <a:p>
            <a:pPr lvl="0"/>
            <a:r>
              <a:rPr lang="en-US" altLang="zh-CN" sz="2800" i="1" dirty="0">
                <a:solidFill>
                  <a:schemeClr val="bg1"/>
                </a:solidFill>
                <a:ea typeface="Gulim" panose="020B0600000101010101" pitchFamily="34" charset="-127"/>
              </a:rPr>
              <a:t>Inspection  prompt</a:t>
            </a:r>
          </a:p>
        </p:txBody>
      </p:sp>
      <p:sp>
        <p:nvSpPr>
          <p:cNvPr id="446" name="矩形 445">
            <a:extLst>
              <a:ext uri="{FF2B5EF4-FFF2-40B4-BE49-F238E27FC236}">
                <a16:creationId xmlns:a16="http://schemas.microsoft.com/office/drawing/2014/main" id="{4544058F-D461-85E1-476B-AA0DD48679D9}"/>
              </a:ext>
            </a:extLst>
          </p:cNvPr>
          <p:cNvSpPr/>
          <p:nvPr/>
        </p:nvSpPr>
        <p:spPr>
          <a:xfrm>
            <a:off x="1134718" y="1846457"/>
            <a:ext cx="3865091" cy="707886"/>
          </a:xfrm>
          <a:prstGeom prst="rect">
            <a:avLst/>
          </a:prstGeom>
        </p:spPr>
        <p:txBody>
          <a:bodyPr wrap="square">
            <a:spAutoFit/>
          </a:bodyPr>
          <a:lstStyle/>
          <a:p>
            <a:pPr lvl="0"/>
            <a:r>
              <a:rPr lang="en-US" altLang="zh-CN" sz="2000" b="1" dirty="0">
                <a:solidFill>
                  <a:schemeClr val="bg2"/>
                </a:solidFill>
                <a:ea typeface="Gulim" panose="020B0600000101010101" pitchFamily="34" charset="-127"/>
              </a:rPr>
              <a:t>Step 1</a:t>
            </a:r>
            <a:r>
              <a:rPr lang="en-US" altLang="zh-CN" sz="2000" dirty="0">
                <a:solidFill>
                  <a:schemeClr val="bg2"/>
                </a:solidFill>
                <a:ea typeface="Gulim" panose="020B0600000101010101" pitchFamily="34" charset="-127"/>
              </a:rPr>
              <a:t>. Run a tokenized source prompt through source model.</a:t>
            </a:r>
          </a:p>
        </p:txBody>
      </p:sp>
      <p:sp>
        <p:nvSpPr>
          <p:cNvPr id="447" name="矩形 446">
            <a:extLst>
              <a:ext uri="{FF2B5EF4-FFF2-40B4-BE49-F238E27FC236}">
                <a16:creationId xmlns:a16="http://schemas.microsoft.com/office/drawing/2014/main" id="{722CC473-B5F0-07B5-6A2B-110CCD608BD8}"/>
              </a:ext>
            </a:extLst>
          </p:cNvPr>
          <p:cNvSpPr/>
          <p:nvPr/>
        </p:nvSpPr>
        <p:spPr>
          <a:xfrm>
            <a:off x="1134718" y="2721114"/>
            <a:ext cx="3865091" cy="1015663"/>
          </a:xfrm>
          <a:prstGeom prst="rect">
            <a:avLst/>
          </a:prstGeom>
        </p:spPr>
        <p:txBody>
          <a:bodyPr wrap="square">
            <a:spAutoFit/>
          </a:bodyPr>
          <a:lstStyle/>
          <a:p>
            <a:pPr lvl="0"/>
            <a:r>
              <a:rPr lang="en-US" altLang="zh-CN" sz="2000" b="1" dirty="0">
                <a:solidFill>
                  <a:schemeClr val="bg2"/>
                </a:solidFill>
                <a:ea typeface="Gulim" panose="020B0600000101010101" pitchFamily="34" charset="-127"/>
              </a:rPr>
              <a:t>Step 2</a:t>
            </a:r>
            <a:r>
              <a:rPr lang="en-US" altLang="zh-CN" sz="2000" dirty="0">
                <a:solidFill>
                  <a:schemeClr val="bg2"/>
                </a:solidFill>
                <a:ea typeface="Gulim" panose="020B0600000101010101" pitchFamily="34" charset="-127"/>
              </a:rPr>
              <a:t>. Extract the hidden representation of interest from the source location .</a:t>
            </a:r>
          </a:p>
        </p:txBody>
      </p:sp>
      <p:sp>
        <p:nvSpPr>
          <p:cNvPr id="448" name="矩形 447">
            <a:extLst>
              <a:ext uri="{FF2B5EF4-FFF2-40B4-BE49-F238E27FC236}">
                <a16:creationId xmlns:a16="http://schemas.microsoft.com/office/drawing/2014/main" id="{29838D0C-104D-6D5F-5E6D-E57A0A779D03}"/>
              </a:ext>
            </a:extLst>
          </p:cNvPr>
          <p:cNvSpPr/>
          <p:nvPr/>
        </p:nvSpPr>
        <p:spPr>
          <a:xfrm>
            <a:off x="1138532" y="3941923"/>
            <a:ext cx="3865091" cy="1015663"/>
          </a:xfrm>
          <a:prstGeom prst="rect">
            <a:avLst/>
          </a:prstGeom>
        </p:spPr>
        <p:txBody>
          <a:bodyPr wrap="square">
            <a:spAutoFit/>
          </a:bodyPr>
          <a:lstStyle/>
          <a:p>
            <a:pPr lvl="0"/>
            <a:r>
              <a:rPr lang="en-US" altLang="zh-CN" sz="2000" b="1" dirty="0">
                <a:solidFill>
                  <a:schemeClr val="bg2"/>
                </a:solidFill>
                <a:ea typeface="Gulim" panose="020B0600000101010101" pitchFamily="34" charset="-127"/>
              </a:rPr>
              <a:t>Step 3. </a:t>
            </a:r>
            <a:r>
              <a:rPr lang="en-US" altLang="zh-CN" sz="2000" dirty="0">
                <a:solidFill>
                  <a:schemeClr val="bg2"/>
                </a:solidFill>
                <a:ea typeface="Gulim" panose="020B0600000101010101" pitchFamily="34" charset="-127"/>
              </a:rPr>
              <a:t>Run the inspection prompt through the target model, stopping at a pre-determined target location. </a:t>
            </a:r>
          </a:p>
        </p:txBody>
      </p:sp>
      <p:sp>
        <p:nvSpPr>
          <p:cNvPr id="449" name="矩形 448">
            <a:extLst>
              <a:ext uri="{FF2B5EF4-FFF2-40B4-BE49-F238E27FC236}">
                <a16:creationId xmlns:a16="http://schemas.microsoft.com/office/drawing/2014/main" id="{11419099-632D-496A-890E-5E7C57FE4C14}"/>
              </a:ext>
            </a:extLst>
          </p:cNvPr>
          <p:cNvSpPr/>
          <p:nvPr/>
        </p:nvSpPr>
        <p:spPr>
          <a:xfrm>
            <a:off x="1167515" y="5166079"/>
            <a:ext cx="3865091" cy="400110"/>
          </a:xfrm>
          <a:prstGeom prst="rect">
            <a:avLst/>
          </a:prstGeom>
        </p:spPr>
        <p:txBody>
          <a:bodyPr wrap="square">
            <a:spAutoFit/>
          </a:bodyPr>
          <a:lstStyle/>
          <a:p>
            <a:pPr lvl="0"/>
            <a:r>
              <a:rPr lang="en-US" altLang="zh-CN" sz="2000" b="1" dirty="0">
                <a:solidFill>
                  <a:schemeClr val="bg2"/>
                </a:solidFill>
                <a:ea typeface="Gulim" panose="020B0600000101010101" pitchFamily="34" charset="-127"/>
              </a:rPr>
              <a:t>Step 4. </a:t>
            </a:r>
            <a:r>
              <a:rPr lang="en-US" altLang="zh-CN" sz="2000" dirty="0">
                <a:solidFill>
                  <a:schemeClr val="bg2"/>
                </a:solidFill>
                <a:ea typeface="Gulim" panose="020B0600000101010101" pitchFamily="34" charset="-127"/>
              </a:rPr>
              <a:t>Patching operation. </a:t>
            </a:r>
          </a:p>
        </p:txBody>
      </p:sp>
      <p:sp>
        <p:nvSpPr>
          <p:cNvPr id="450" name="矩形 449">
            <a:extLst>
              <a:ext uri="{FF2B5EF4-FFF2-40B4-BE49-F238E27FC236}">
                <a16:creationId xmlns:a16="http://schemas.microsoft.com/office/drawing/2014/main" id="{ECE7C0D6-E4D3-1CB2-12FB-BDFEAA4A08AB}"/>
              </a:ext>
            </a:extLst>
          </p:cNvPr>
          <p:cNvSpPr/>
          <p:nvPr/>
        </p:nvSpPr>
        <p:spPr>
          <a:xfrm>
            <a:off x="1167515" y="5723159"/>
            <a:ext cx="3865091" cy="400110"/>
          </a:xfrm>
          <a:prstGeom prst="rect">
            <a:avLst/>
          </a:prstGeom>
        </p:spPr>
        <p:txBody>
          <a:bodyPr wrap="square">
            <a:spAutoFit/>
          </a:bodyPr>
          <a:lstStyle/>
          <a:p>
            <a:pPr lvl="0"/>
            <a:r>
              <a:rPr lang="en-US" altLang="zh-CN" sz="2000" b="1" dirty="0">
                <a:solidFill>
                  <a:schemeClr val="bg2"/>
                </a:solidFill>
                <a:ea typeface="Gulim" panose="020B0600000101010101" pitchFamily="34" charset="-127"/>
              </a:rPr>
              <a:t>Step 5. </a:t>
            </a:r>
            <a:r>
              <a:rPr lang="en-US" altLang="zh-CN" sz="2000" dirty="0">
                <a:solidFill>
                  <a:schemeClr val="bg2"/>
                </a:solidFill>
                <a:ea typeface="Gulim" panose="020B0600000101010101" pitchFamily="34" charset="-127"/>
              </a:rPr>
              <a:t>Continue generation. </a:t>
            </a:r>
          </a:p>
        </p:txBody>
      </p:sp>
      <p:sp>
        <p:nvSpPr>
          <p:cNvPr id="451" name="文本框 450">
            <a:extLst>
              <a:ext uri="{FF2B5EF4-FFF2-40B4-BE49-F238E27FC236}">
                <a16:creationId xmlns:a16="http://schemas.microsoft.com/office/drawing/2014/main" id="{4F40068C-6CFE-084B-EEDF-C54679930916}"/>
              </a:ext>
            </a:extLst>
          </p:cNvPr>
          <p:cNvSpPr txBox="1"/>
          <p:nvPr/>
        </p:nvSpPr>
        <p:spPr>
          <a:xfrm>
            <a:off x="8594313" y="2735981"/>
            <a:ext cx="546195" cy="461665"/>
          </a:xfrm>
          <a:prstGeom prst="rect">
            <a:avLst/>
          </a:prstGeom>
          <a:noFill/>
        </p:spPr>
        <p:txBody>
          <a:bodyPr wrap="square" rtlCol="0">
            <a:spAutoFit/>
          </a:bodyPr>
          <a:lstStyle/>
          <a:p>
            <a:r>
              <a:rPr lang="en-US" altLang="zh-CN" sz="2400" b="1" dirty="0">
                <a:solidFill>
                  <a:schemeClr val="accent2"/>
                </a:solidFill>
              </a:rPr>
              <a:t>F</a:t>
            </a:r>
            <a:endParaRPr lang="zh-CN" altLang="en-US" sz="2400" b="1" dirty="0">
              <a:solidFill>
                <a:schemeClr val="accent2"/>
              </a:solidFill>
            </a:endParaRPr>
          </a:p>
        </p:txBody>
      </p:sp>
      <p:cxnSp>
        <p:nvCxnSpPr>
          <p:cNvPr id="438" name="直接箭头连接符 437">
            <a:extLst>
              <a:ext uri="{FF2B5EF4-FFF2-40B4-BE49-F238E27FC236}">
                <a16:creationId xmlns:a16="http://schemas.microsoft.com/office/drawing/2014/main" id="{AD13D303-0177-1F98-49FB-16F51483AF2B}"/>
              </a:ext>
            </a:extLst>
          </p:cNvPr>
          <p:cNvCxnSpPr>
            <a:stCxn id="180" idx="4"/>
            <a:endCxn id="201" idx="0"/>
          </p:cNvCxnSpPr>
          <p:nvPr/>
        </p:nvCxnSpPr>
        <p:spPr>
          <a:xfrm flipH="1">
            <a:off x="8084132" y="1437494"/>
            <a:ext cx="810603" cy="3709758"/>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514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6"/>
                                        </p:tgtEl>
                                        <p:attrNameLst>
                                          <p:attrName>style.visibility</p:attrName>
                                        </p:attrNameLst>
                                      </p:cBhvr>
                                      <p:to>
                                        <p:strVal val="visible"/>
                                      </p:to>
                                    </p:set>
                                    <p:animEffect transition="in" filter="fade">
                                      <p:cBhvr>
                                        <p:cTn id="7" dur="500"/>
                                        <p:tgtEl>
                                          <p:spTgt spid="44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4"/>
                                        </p:tgtEl>
                                        <p:attrNameLst>
                                          <p:attrName>style.visibility</p:attrName>
                                        </p:attrNameLst>
                                      </p:cBhvr>
                                      <p:to>
                                        <p:strVal val="visible"/>
                                      </p:to>
                                    </p:set>
                                    <p:animEffect transition="in" filter="fade">
                                      <p:cBhvr>
                                        <p:cTn id="10" dur="500"/>
                                        <p:tgtEl>
                                          <p:spTgt spid="184"/>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47"/>
                                        </p:tgtEl>
                                        <p:attrNameLst>
                                          <p:attrName>style.visibility</p:attrName>
                                        </p:attrNameLst>
                                      </p:cBhvr>
                                      <p:to>
                                        <p:strVal val="visible"/>
                                      </p:to>
                                    </p:set>
                                    <p:animEffect transition="in" filter="fade">
                                      <p:cBhvr>
                                        <p:cTn id="18" dur="500"/>
                                        <p:tgtEl>
                                          <p:spTgt spid="44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48"/>
                                        </p:tgtEl>
                                        <p:attrNameLst>
                                          <p:attrName>style.visibility</p:attrName>
                                        </p:attrNameLst>
                                      </p:cBhvr>
                                      <p:to>
                                        <p:strVal val="visible"/>
                                      </p:to>
                                    </p:set>
                                    <p:animEffect transition="in" filter="fade">
                                      <p:cBhvr>
                                        <p:cTn id="23" dur="500"/>
                                        <p:tgtEl>
                                          <p:spTgt spid="448"/>
                                        </p:tgtEl>
                                      </p:cBhvr>
                                    </p:animEffect>
                                  </p:childTnLst>
                                </p:cTn>
                              </p:par>
                            </p:childTnLst>
                          </p:cTn>
                        </p:par>
                        <p:par>
                          <p:cTn id="24"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445"/>
                                        </p:tgtEl>
                                        <p:attrNameLst>
                                          <p:attrName>style.visibility</p:attrName>
                                        </p:attrNameLst>
                                      </p:cBhvr>
                                      <p:to>
                                        <p:strVal val="visible"/>
                                      </p:to>
                                    </p:set>
                                    <p:animEffect transition="in" filter="fade">
                                      <p:cBhvr>
                                        <p:cTn id="27" dur="500"/>
                                        <p:tgtEl>
                                          <p:spTgt spid="445"/>
                                        </p:tgtEl>
                                      </p:cBhvr>
                                    </p:animEffect>
                                  </p:childTnLst>
                                </p:cTn>
                              </p:par>
                              <p:par>
                                <p:cTn id="28" presetID="10" presetClass="entr" presetSubtype="0"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49"/>
                                        </p:tgtEl>
                                        <p:attrNameLst>
                                          <p:attrName>style.visibility</p:attrName>
                                        </p:attrNameLst>
                                      </p:cBhvr>
                                      <p:to>
                                        <p:strVal val="visible"/>
                                      </p:to>
                                    </p:set>
                                    <p:animEffect transition="in" filter="fade">
                                      <p:cBhvr>
                                        <p:cTn id="35" dur="500"/>
                                        <p:tgtEl>
                                          <p:spTgt spid="44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438"/>
                                        </p:tgtEl>
                                        <p:attrNameLst>
                                          <p:attrName>style.visibility</p:attrName>
                                        </p:attrNameLst>
                                      </p:cBhvr>
                                      <p:to>
                                        <p:strVal val="visible"/>
                                      </p:to>
                                    </p:set>
                                    <p:animEffect transition="in" filter="wipe(up)">
                                      <p:cBhvr>
                                        <p:cTn id="40" dur="500"/>
                                        <p:tgtEl>
                                          <p:spTgt spid="43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51"/>
                                        </p:tgtEl>
                                        <p:attrNameLst>
                                          <p:attrName>style.visibility</p:attrName>
                                        </p:attrNameLst>
                                      </p:cBhvr>
                                      <p:to>
                                        <p:strVal val="visible"/>
                                      </p:to>
                                    </p:set>
                                    <p:animEffect transition="in" filter="fade">
                                      <p:cBhvr>
                                        <p:cTn id="43" dur="500"/>
                                        <p:tgtEl>
                                          <p:spTgt spid="45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50"/>
                                        </p:tgtEl>
                                        <p:attrNameLst>
                                          <p:attrName>style.visibility</p:attrName>
                                        </p:attrNameLst>
                                      </p:cBhvr>
                                      <p:to>
                                        <p:strVal val="visible"/>
                                      </p:to>
                                    </p:set>
                                    <p:animEffect transition="in" filter="fade">
                                      <p:cBhvr>
                                        <p:cTn id="48" dur="500"/>
                                        <p:tgtEl>
                                          <p:spTgt spid="450"/>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 grpId="0"/>
      <p:bldP spid="445" grpId="0"/>
      <p:bldP spid="446" grpId="0"/>
      <p:bldP spid="447" grpId="0"/>
      <p:bldP spid="448" grpId="0"/>
      <p:bldP spid="449" grpId="0"/>
      <p:bldP spid="450" grpId="0"/>
      <p:bldP spid="45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A20D2-D54D-4FC4-FBCE-FAA3E32673EF}"/>
            </a:ext>
          </a:extLst>
        </p:cNvPr>
        <p:cNvGrpSpPr/>
        <p:nvPr/>
      </p:nvGrpSpPr>
      <p:grpSpPr>
        <a:xfrm>
          <a:off x="0" y="0"/>
          <a:ext cx="0" cy="0"/>
          <a:chOff x="0" y="0"/>
          <a:chExt cx="0" cy="0"/>
        </a:xfrm>
      </p:grpSpPr>
      <p:cxnSp>
        <p:nvCxnSpPr>
          <p:cNvPr id="93" name="直接连接符 92">
            <a:extLst>
              <a:ext uri="{FF2B5EF4-FFF2-40B4-BE49-F238E27FC236}">
                <a16:creationId xmlns:a16="http://schemas.microsoft.com/office/drawing/2014/main" id="{7E149216-D4E1-E932-C6D0-CB6E3FE17C63}"/>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等腰三角形 33">
            <a:extLst>
              <a:ext uri="{FF2B5EF4-FFF2-40B4-BE49-F238E27FC236}">
                <a16:creationId xmlns:a16="http://schemas.microsoft.com/office/drawing/2014/main" id="{9F9544EB-E6BC-97C1-A828-3981D0FAD3B6}"/>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D257457A-6BB1-743A-F183-ED10D0CB7351}"/>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2</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sp>
        <p:nvSpPr>
          <p:cNvPr id="4" name="矩形 3">
            <a:extLst>
              <a:ext uri="{FF2B5EF4-FFF2-40B4-BE49-F238E27FC236}">
                <a16:creationId xmlns:a16="http://schemas.microsoft.com/office/drawing/2014/main" id="{4E77205C-474B-3C31-9E12-36E1BB73E912}"/>
              </a:ext>
            </a:extLst>
          </p:cNvPr>
          <p:cNvSpPr/>
          <p:nvPr/>
        </p:nvSpPr>
        <p:spPr>
          <a:xfrm>
            <a:off x="1134718" y="259702"/>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Related Works</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pic>
        <p:nvPicPr>
          <p:cNvPr id="6" name="图片 5">
            <a:extLst>
              <a:ext uri="{FF2B5EF4-FFF2-40B4-BE49-F238E27FC236}">
                <a16:creationId xmlns:a16="http://schemas.microsoft.com/office/drawing/2014/main" id="{13743B53-04C3-87BF-AACD-2E545EBF4F3F}"/>
              </a:ext>
            </a:extLst>
          </p:cNvPr>
          <p:cNvPicPr>
            <a:picLocks noChangeAspect="1"/>
          </p:cNvPicPr>
          <p:nvPr/>
        </p:nvPicPr>
        <p:blipFill>
          <a:blip r:embed="rId3"/>
          <a:stretch>
            <a:fillRect/>
          </a:stretch>
        </p:blipFill>
        <p:spPr>
          <a:xfrm>
            <a:off x="369525" y="1990924"/>
            <a:ext cx="8930693" cy="4290235"/>
          </a:xfrm>
          <a:prstGeom prst="rect">
            <a:avLst/>
          </a:prstGeom>
        </p:spPr>
      </p:pic>
      <p:sp>
        <p:nvSpPr>
          <p:cNvPr id="7" name="文本框 6">
            <a:extLst>
              <a:ext uri="{FF2B5EF4-FFF2-40B4-BE49-F238E27FC236}">
                <a16:creationId xmlns:a16="http://schemas.microsoft.com/office/drawing/2014/main" id="{B67A9774-EDF0-D973-9AA8-7A86EE7CA415}"/>
              </a:ext>
            </a:extLst>
          </p:cNvPr>
          <p:cNvSpPr txBox="1"/>
          <p:nvPr/>
        </p:nvSpPr>
        <p:spPr>
          <a:xfrm>
            <a:off x="369525" y="1344709"/>
            <a:ext cx="4491505" cy="523220"/>
          </a:xfrm>
          <a:prstGeom prst="rect">
            <a:avLst/>
          </a:prstGeom>
          <a:noFill/>
        </p:spPr>
        <p:txBody>
          <a:bodyPr wrap="square" rtlCol="0">
            <a:spAutoFit/>
          </a:bodyPr>
          <a:lstStyle/>
          <a:p>
            <a:r>
              <a:rPr lang="en-US" altLang="zh-CN" sz="2800">
                <a:solidFill>
                  <a:schemeClr val="bg1"/>
                </a:solidFill>
              </a:rPr>
              <a:t>Much Better </a:t>
            </a:r>
            <a:r>
              <a:rPr lang="en-US" altLang="zh-CN" sz="2800" dirty="0">
                <a:solidFill>
                  <a:schemeClr val="bg1"/>
                </a:solidFill>
              </a:rPr>
              <a:t>Performance!</a:t>
            </a:r>
            <a:endParaRPr lang="zh-CN" altLang="en-US" sz="2800" dirty="0">
              <a:solidFill>
                <a:schemeClr val="bg1"/>
              </a:solidFill>
            </a:endParaRPr>
          </a:p>
        </p:txBody>
      </p:sp>
    </p:spTree>
    <p:extLst>
      <p:ext uri="{BB962C8B-B14F-4D97-AF65-F5344CB8AC3E}">
        <p14:creationId xmlns:p14="http://schemas.microsoft.com/office/powerpoint/2010/main" val="3889942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D16C3-46B8-044A-9549-7CDAD476C2B8}"/>
            </a:ext>
          </a:extLst>
        </p:cNvPr>
        <p:cNvGrpSpPr/>
        <p:nvPr/>
      </p:nvGrpSpPr>
      <p:grpSpPr>
        <a:xfrm>
          <a:off x="0" y="0"/>
          <a:ext cx="0" cy="0"/>
          <a:chOff x="0" y="0"/>
          <a:chExt cx="0" cy="0"/>
        </a:xfrm>
      </p:grpSpPr>
      <p:cxnSp>
        <p:nvCxnSpPr>
          <p:cNvPr id="93" name="直接连接符 92">
            <a:extLst>
              <a:ext uri="{FF2B5EF4-FFF2-40B4-BE49-F238E27FC236}">
                <a16:creationId xmlns:a16="http://schemas.microsoft.com/office/drawing/2014/main" id="{1B531FC5-8B50-1674-0553-FFA323BCD84E}"/>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等腰三角形 33">
            <a:extLst>
              <a:ext uri="{FF2B5EF4-FFF2-40B4-BE49-F238E27FC236}">
                <a16:creationId xmlns:a16="http://schemas.microsoft.com/office/drawing/2014/main" id="{B0D6473E-EBE5-E3DA-25FD-EB579C9DCE01}"/>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7A0113D2-8837-5017-DFDD-AE3A03445E80}"/>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2</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sp>
        <p:nvSpPr>
          <p:cNvPr id="4" name="矩形 3">
            <a:extLst>
              <a:ext uri="{FF2B5EF4-FFF2-40B4-BE49-F238E27FC236}">
                <a16:creationId xmlns:a16="http://schemas.microsoft.com/office/drawing/2014/main" id="{9628D5FD-3C45-9AB9-5B7E-AD19A7A4ED47}"/>
              </a:ext>
            </a:extLst>
          </p:cNvPr>
          <p:cNvSpPr/>
          <p:nvPr/>
        </p:nvSpPr>
        <p:spPr>
          <a:xfrm>
            <a:off x="1134718" y="259702"/>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Related Works</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sp>
        <p:nvSpPr>
          <p:cNvPr id="3" name="矩形 2">
            <a:extLst>
              <a:ext uri="{FF2B5EF4-FFF2-40B4-BE49-F238E27FC236}">
                <a16:creationId xmlns:a16="http://schemas.microsoft.com/office/drawing/2014/main" id="{33B34085-6F10-68E6-A783-905B892964CA}"/>
              </a:ext>
            </a:extLst>
          </p:cNvPr>
          <p:cNvSpPr/>
          <p:nvPr/>
        </p:nvSpPr>
        <p:spPr>
          <a:xfrm>
            <a:off x="149639" y="5501379"/>
            <a:ext cx="11939784" cy="954107"/>
          </a:xfrm>
          <a:prstGeom prst="rect">
            <a:avLst/>
          </a:prstGeom>
        </p:spPr>
        <p:txBody>
          <a:bodyPr wrap="square">
            <a:spAutoFit/>
          </a:bodyPr>
          <a:lstStyle/>
          <a:p>
            <a:pPr lvl="0"/>
            <a:r>
              <a:rPr lang="en-US" altLang="zh-CN" sz="2800" dirty="0">
                <a:solidFill>
                  <a:schemeClr val="accent1"/>
                </a:solidFill>
                <a:ea typeface="Gulim" panose="020B0600000101010101" pitchFamily="34" charset="-127"/>
              </a:rPr>
              <a:t>Based on this method, Can we design a new method to evaluate the hidden knowledge of LLMs?</a:t>
            </a:r>
          </a:p>
        </p:txBody>
      </p:sp>
      <p:sp>
        <p:nvSpPr>
          <p:cNvPr id="7" name="文本框 6">
            <a:extLst>
              <a:ext uri="{FF2B5EF4-FFF2-40B4-BE49-F238E27FC236}">
                <a16:creationId xmlns:a16="http://schemas.microsoft.com/office/drawing/2014/main" id="{883660EF-EAD0-2E6D-40F0-561AA0CC67CB}"/>
              </a:ext>
            </a:extLst>
          </p:cNvPr>
          <p:cNvSpPr txBox="1"/>
          <p:nvPr/>
        </p:nvSpPr>
        <p:spPr>
          <a:xfrm>
            <a:off x="149639" y="2366035"/>
            <a:ext cx="11362355" cy="2616101"/>
          </a:xfrm>
          <a:prstGeom prst="rect">
            <a:avLst/>
          </a:prstGeom>
          <a:noFill/>
        </p:spPr>
        <p:txBody>
          <a:bodyPr wrap="square" rtlCol="0">
            <a:spAutoFit/>
          </a:bodyPr>
          <a:lstStyle/>
          <a:p>
            <a:r>
              <a:rPr lang="en-US" altLang="zh-CN" sz="2000" b="0" i="0" dirty="0">
                <a:solidFill>
                  <a:schemeClr val="bg1"/>
                </a:solidFill>
                <a:effectLst/>
                <a:latin typeface="Arial" panose="020B0604020202020204" pitchFamily="34" charset="0"/>
              </a:rPr>
              <a:t>Interpretability</a:t>
            </a:r>
            <a:r>
              <a:rPr lang="zh-CN" altLang="en-US" sz="2000" b="0" i="0" dirty="0">
                <a:solidFill>
                  <a:schemeClr val="bg1"/>
                </a:solidFill>
                <a:effectLst/>
                <a:latin typeface="Arial" panose="020B0604020202020204" pitchFamily="34" charset="0"/>
              </a:rPr>
              <a:t> </a:t>
            </a:r>
            <a:r>
              <a:rPr lang="en-US" altLang="zh-CN" sz="2000" b="0" i="0" dirty="0">
                <a:solidFill>
                  <a:schemeClr val="bg1"/>
                </a:solidFill>
                <a:effectLst/>
                <a:latin typeface="Arial" panose="020B0604020202020204" pitchFamily="34" charset="0"/>
              </a:rPr>
              <a:t>(In my opinion)</a:t>
            </a:r>
          </a:p>
          <a:p>
            <a:endParaRPr lang="en-US" altLang="zh-CN" sz="2000" dirty="0">
              <a:solidFill>
                <a:schemeClr val="bg1"/>
              </a:solidFill>
              <a:latin typeface="Arial" panose="020B0604020202020204" pitchFamily="34" charset="0"/>
            </a:endParaRPr>
          </a:p>
          <a:p>
            <a:r>
              <a:rPr lang="en-US" altLang="zh-CN" sz="2400" b="0" i="0" dirty="0">
                <a:solidFill>
                  <a:schemeClr val="accent2"/>
                </a:solidFill>
                <a:effectLst/>
                <a:latin typeface="quote-cjk-patch"/>
              </a:rPr>
              <a:t>LLMs can better learn the meaning of words from context.</a:t>
            </a:r>
            <a:endParaRPr lang="en-US" altLang="zh-CN" sz="2400" b="0" i="0" dirty="0">
              <a:solidFill>
                <a:schemeClr val="accent2"/>
              </a:solidFill>
              <a:effectLst/>
              <a:latin typeface="Arial" panose="020B0604020202020204" pitchFamily="34" charset="0"/>
            </a:endParaRPr>
          </a:p>
          <a:p>
            <a:endParaRPr lang="en-US" altLang="zh-CN" sz="2000" dirty="0">
              <a:solidFill>
                <a:schemeClr val="bg1"/>
              </a:solidFill>
            </a:endParaRPr>
          </a:p>
          <a:p>
            <a:r>
              <a:rPr lang="en-US" altLang="zh-CN" sz="2000" dirty="0">
                <a:solidFill>
                  <a:schemeClr val="bg1"/>
                </a:solidFill>
              </a:rPr>
              <a:t>E.g.  	Word: </a:t>
            </a:r>
            <a:r>
              <a:rPr lang="en-US" altLang="zh-CN" sz="2000" b="1" i="0" dirty="0">
                <a:solidFill>
                  <a:schemeClr val="bg1"/>
                </a:solidFill>
                <a:effectLst/>
                <a:latin typeface="quote-cjk-patch"/>
              </a:rPr>
              <a:t>Obfuscate</a:t>
            </a:r>
            <a:endParaRPr lang="en-US" altLang="zh-CN" sz="2000" b="1" dirty="0">
              <a:solidFill>
                <a:schemeClr val="bg1"/>
              </a:solidFill>
              <a:latin typeface="quote-cjk-patch"/>
            </a:endParaRPr>
          </a:p>
          <a:p>
            <a:r>
              <a:rPr lang="en-US" altLang="zh-CN" sz="2000" b="1" i="0" dirty="0">
                <a:solidFill>
                  <a:schemeClr val="bg1"/>
                </a:solidFill>
                <a:effectLst/>
                <a:latin typeface="quote-cjk-patch"/>
              </a:rPr>
              <a:t>	In fact, this is an unfamiliar word to me.</a:t>
            </a:r>
          </a:p>
          <a:p>
            <a:r>
              <a:rPr lang="en-US" altLang="zh-CN" sz="2000" b="1" dirty="0">
                <a:solidFill>
                  <a:schemeClr val="bg1"/>
                </a:solidFill>
                <a:latin typeface="quote-cjk-patch"/>
              </a:rPr>
              <a:t>	But given a sentence “</a:t>
            </a:r>
            <a:r>
              <a:rPr lang="en-US" altLang="zh-CN" sz="2000" b="0" i="0" dirty="0">
                <a:solidFill>
                  <a:schemeClr val="bg1"/>
                </a:solidFill>
                <a:effectLst/>
                <a:latin typeface="quote-cjk-patch"/>
              </a:rPr>
              <a:t>The politician tried to obfuscate the truth by giving vague answers.”</a:t>
            </a:r>
          </a:p>
          <a:p>
            <a:r>
              <a:rPr lang="en-US" altLang="zh-CN" sz="2000" dirty="0">
                <a:solidFill>
                  <a:schemeClr val="bg1"/>
                </a:solidFill>
                <a:latin typeface="quote-cjk-patch"/>
              </a:rPr>
              <a:t>	The meaning of the word “</a:t>
            </a:r>
            <a:r>
              <a:rPr lang="en-US" altLang="zh-CN" sz="2000" b="1" i="0" dirty="0">
                <a:solidFill>
                  <a:schemeClr val="bg1"/>
                </a:solidFill>
                <a:effectLst/>
                <a:latin typeface="quote-cjk-patch"/>
              </a:rPr>
              <a:t>Obfuscate” is obvious.</a:t>
            </a:r>
            <a:endParaRPr lang="zh-CN" altLang="en-US" sz="2000" dirty="0">
              <a:solidFill>
                <a:schemeClr val="bg1"/>
              </a:solidFill>
            </a:endParaRPr>
          </a:p>
        </p:txBody>
      </p:sp>
      <p:sp>
        <p:nvSpPr>
          <p:cNvPr id="2" name="文本框 1">
            <a:extLst>
              <a:ext uri="{FF2B5EF4-FFF2-40B4-BE49-F238E27FC236}">
                <a16:creationId xmlns:a16="http://schemas.microsoft.com/office/drawing/2014/main" id="{65E6914C-229D-A266-6E12-AB6AD30FDAA5}"/>
              </a:ext>
            </a:extLst>
          </p:cNvPr>
          <p:cNvSpPr txBox="1"/>
          <p:nvPr/>
        </p:nvSpPr>
        <p:spPr>
          <a:xfrm>
            <a:off x="193431" y="1441938"/>
            <a:ext cx="5117123" cy="400110"/>
          </a:xfrm>
          <a:prstGeom prst="rect">
            <a:avLst/>
          </a:prstGeom>
          <a:noFill/>
        </p:spPr>
        <p:txBody>
          <a:bodyPr wrap="square" rtlCol="0">
            <a:spAutoFit/>
          </a:bodyPr>
          <a:lstStyle/>
          <a:p>
            <a:r>
              <a:rPr lang="en-US" altLang="zh-CN" sz="2000" dirty="0">
                <a:solidFill>
                  <a:schemeClr val="bg1"/>
                </a:solidFill>
              </a:rPr>
              <a:t>Pros:	Used the model's own decoder. </a:t>
            </a:r>
            <a:endParaRPr lang="zh-CN" altLang="en-US" sz="2000" dirty="0">
              <a:solidFill>
                <a:schemeClr val="bg1"/>
              </a:solidFill>
            </a:endParaRPr>
          </a:p>
        </p:txBody>
      </p:sp>
    </p:spTree>
    <p:extLst>
      <p:ext uri="{BB962C8B-B14F-4D97-AF65-F5344CB8AC3E}">
        <p14:creationId xmlns:p14="http://schemas.microsoft.com/office/powerpoint/2010/main" val="2829967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D6647-8E68-9225-25D5-C8275A437910}"/>
            </a:ext>
          </a:extLst>
        </p:cNvPr>
        <p:cNvGrpSpPr/>
        <p:nvPr/>
      </p:nvGrpSpPr>
      <p:grpSpPr>
        <a:xfrm>
          <a:off x="0" y="0"/>
          <a:ext cx="0" cy="0"/>
          <a:chOff x="0" y="0"/>
          <a:chExt cx="0" cy="0"/>
        </a:xfrm>
      </p:grpSpPr>
      <p:sp>
        <p:nvSpPr>
          <p:cNvPr id="13" name="文本框 12">
            <a:extLst>
              <a:ext uri="{FF2B5EF4-FFF2-40B4-BE49-F238E27FC236}">
                <a16:creationId xmlns:a16="http://schemas.microsoft.com/office/drawing/2014/main" id="{0A21E6C5-C674-A740-38AA-034A2461DEE5}"/>
              </a:ext>
            </a:extLst>
          </p:cNvPr>
          <p:cNvSpPr txBox="1"/>
          <p:nvPr/>
        </p:nvSpPr>
        <p:spPr>
          <a:xfrm>
            <a:off x="1351493" y="2662314"/>
            <a:ext cx="7490581" cy="1323439"/>
          </a:xfrm>
          <a:prstGeom prst="rect">
            <a:avLst/>
          </a:prstGeom>
          <a:noFill/>
        </p:spPr>
        <p:txBody>
          <a:bodyPr wrap="square" rtlCol="0">
            <a:spAutoFit/>
          </a:bodyPr>
          <a:lstStyle/>
          <a:p>
            <a:r>
              <a:rPr lang="en-US" altLang="zh-CN" sz="8000" b="1" dirty="0">
                <a:solidFill>
                  <a:schemeClr val="bg1">
                    <a:lumMod val="95000"/>
                  </a:schemeClr>
                </a:solidFill>
                <a:latin typeface="Gulim" panose="020B0600000101010101" pitchFamily="34" charset="-127"/>
                <a:ea typeface="Gulim" panose="020B0600000101010101" pitchFamily="34" charset="-127"/>
                <a:cs typeface="Aharoni" panose="02010803020104030203" pitchFamily="2" charset="-79"/>
              </a:rPr>
              <a:t>3 </a:t>
            </a:r>
            <a:r>
              <a:rPr lang="en-US" altLang="zh-CN" sz="8000" b="1" cap="small" dirty="0">
                <a:solidFill>
                  <a:schemeClr val="bg1">
                    <a:lumMod val="95000"/>
                  </a:schemeClr>
                </a:solidFill>
                <a:latin typeface="Gulim" panose="020B0600000101010101" pitchFamily="34" charset="-127"/>
                <a:ea typeface="Gulim" panose="020B0600000101010101" pitchFamily="34" charset="-127"/>
                <a:cs typeface="Aharoni" panose="02010803020104030203" pitchFamily="2" charset="-79"/>
              </a:rPr>
              <a:t>Our works</a:t>
            </a:r>
            <a:r>
              <a:rPr lang="en-US" altLang="zh-CN" sz="3600" b="1" cap="small" dirty="0">
                <a:solidFill>
                  <a:schemeClr val="bg1">
                    <a:lumMod val="95000"/>
                  </a:schemeClr>
                </a:solidFill>
                <a:latin typeface="Aharoni" panose="02010803020104030203" pitchFamily="2" charset="-79"/>
                <a:ea typeface="Gulim" panose="020B0600000101010101" pitchFamily="34" charset="-127"/>
                <a:cs typeface="Aharoni" panose="02010803020104030203" pitchFamily="2" charset="-79"/>
              </a:rPr>
              <a:t> </a:t>
            </a:r>
          </a:p>
        </p:txBody>
      </p:sp>
      <p:cxnSp>
        <p:nvCxnSpPr>
          <p:cNvPr id="2" name="直接连接符 1">
            <a:extLst>
              <a:ext uri="{FF2B5EF4-FFF2-40B4-BE49-F238E27FC236}">
                <a16:creationId xmlns:a16="http://schemas.microsoft.com/office/drawing/2014/main" id="{1B0C21F9-F44E-B9DF-6347-38AA8AFFA055}"/>
              </a:ext>
            </a:extLst>
          </p:cNvPr>
          <p:cNvCxnSpPr/>
          <p:nvPr/>
        </p:nvCxnSpPr>
        <p:spPr>
          <a:xfrm flipV="1">
            <a:off x="7371434" y="2485430"/>
            <a:ext cx="616756" cy="1887139"/>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2340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4E732-2D78-8664-89A6-03345F09B2D9}"/>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330E90DB-8242-244F-E96B-8448AC8A3651}"/>
              </a:ext>
            </a:extLst>
          </p:cNvPr>
          <p:cNvSpPr/>
          <p:nvPr/>
        </p:nvSpPr>
        <p:spPr>
          <a:xfrm>
            <a:off x="1156135" y="335115"/>
            <a:ext cx="6141479"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Factual Knowledge Evaluation</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cxnSp>
        <p:nvCxnSpPr>
          <p:cNvPr id="3" name="直接连接符 2">
            <a:extLst>
              <a:ext uri="{FF2B5EF4-FFF2-40B4-BE49-F238E27FC236}">
                <a16:creationId xmlns:a16="http://schemas.microsoft.com/office/drawing/2014/main" id="{CB5B9BFE-8575-86E1-5592-39AFE3C71199}"/>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等腰三角形 3">
            <a:extLst>
              <a:ext uri="{FF2B5EF4-FFF2-40B4-BE49-F238E27FC236}">
                <a16:creationId xmlns:a16="http://schemas.microsoft.com/office/drawing/2014/main" id="{DF63B3F8-2AA0-CB5D-56C2-CA74AC282109}"/>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3489466A-5CCE-602C-33E0-117DB517412D}"/>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3</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sp>
        <p:nvSpPr>
          <p:cNvPr id="7" name="文本框 6">
            <a:extLst>
              <a:ext uri="{FF2B5EF4-FFF2-40B4-BE49-F238E27FC236}">
                <a16:creationId xmlns:a16="http://schemas.microsoft.com/office/drawing/2014/main" id="{A0CBE0B4-ADD1-7FBF-39D6-6E7FF255FDB8}"/>
              </a:ext>
            </a:extLst>
          </p:cNvPr>
          <p:cNvSpPr txBox="1"/>
          <p:nvPr/>
        </p:nvSpPr>
        <p:spPr>
          <a:xfrm>
            <a:off x="149639" y="1455127"/>
            <a:ext cx="11873838" cy="400110"/>
          </a:xfrm>
          <a:prstGeom prst="rect">
            <a:avLst/>
          </a:prstGeom>
          <a:noFill/>
        </p:spPr>
        <p:txBody>
          <a:bodyPr wrap="square" rtlCol="0">
            <a:spAutoFit/>
          </a:bodyPr>
          <a:lstStyle/>
          <a:p>
            <a:r>
              <a:rPr lang="en-US" altLang="zh-CN" sz="2000" dirty="0" err="1">
                <a:solidFill>
                  <a:schemeClr val="bg1"/>
                </a:solidFill>
              </a:rPr>
              <a:t>Patchscope</a:t>
            </a:r>
            <a:r>
              <a:rPr lang="en-US" altLang="zh-CN" sz="2000" dirty="0">
                <a:solidFill>
                  <a:schemeClr val="bg1"/>
                </a:solidFill>
              </a:rPr>
              <a:t> successfully let representation “talk”.</a:t>
            </a:r>
            <a:r>
              <a:rPr lang="en-US" altLang="zh-CN" sz="2000" b="0" i="0" dirty="0">
                <a:solidFill>
                  <a:schemeClr val="bg1"/>
                </a:solidFill>
                <a:effectLst/>
                <a:latin typeface="Roboto" panose="02000000000000000000" pitchFamily="2" charset="0"/>
              </a:rPr>
              <a:t> It can be used for tasks like extracting factual information.</a:t>
            </a:r>
            <a:endParaRPr lang="zh-CN" altLang="en-US" sz="2000" dirty="0">
              <a:solidFill>
                <a:schemeClr val="bg1"/>
              </a:solidFill>
            </a:endParaRPr>
          </a:p>
        </p:txBody>
      </p:sp>
      <p:pic>
        <p:nvPicPr>
          <p:cNvPr id="10" name="图片 9">
            <a:extLst>
              <a:ext uri="{FF2B5EF4-FFF2-40B4-BE49-F238E27FC236}">
                <a16:creationId xmlns:a16="http://schemas.microsoft.com/office/drawing/2014/main" id="{938C2C93-7D05-81FD-049B-A9A19B7033EB}"/>
              </a:ext>
            </a:extLst>
          </p:cNvPr>
          <p:cNvPicPr>
            <a:picLocks noChangeAspect="1"/>
          </p:cNvPicPr>
          <p:nvPr/>
        </p:nvPicPr>
        <p:blipFill>
          <a:blip r:embed="rId3"/>
          <a:stretch>
            <a:fillRect/>
          </a:stretch>
        </p:blipFill>
        <p:spPr>
          <a:xfrm>
            <a:off x="7195785" y="2114550"/>
            <a:ext cx="4996215" cy="4743450"/>
          </a:xfrm>
          <a:prstGeom prst="rect">
            <a:avLst/>
          </a:prstGeom>
        </p:spPr>
      </p:pic>
      <p:sp>
        <p:nvSpPr>
          <p:cNvPr id="11" name="文本框 10">
            <a:extLst>
              <a:ext uri="{FF2B5EF4-FFF2-40B4-BE49-F238E27FC236}">
                <a16:creationId xmlns:a16="http://schemas.microsoft.com/office/drawing/2014/main" id="{80B0F22E-7308-C16E-8051-90F5B4DD8961}"/>
              </a:ext>
            </a:extLst>
          </p:cNvPr>
          <p:cNvSpPr txBox="1"/>
          <p:nvPr/>
        </p:nvSpPr>
        <p:spPr>
          <a:xfrm>
            <a:off x="417883" y="2694440"/>
            <a:ext cx="5420209" cy="3785652"/>
          </a:xfrm>
          <a:prstGeom prst="rect">
            <a:avLst/>
          </a:prstGeom>
          <a:noFill/>
        </p:spPr>
        <p:txBody>
          <a:bodyPr wrap="square" rtlCol="0">
            <a:spAutoFit/>
          </a:bodyPr>
          <a:lstStyle/>
          <a:p>
            <a:r>
              <a:rPr lang="en-US" altLang="zh-CN" sz="2400" dirty="0">
                <a:solidFill>
                  <a:schemeClr val="accent1"/>
                </a:solidFill>
              </a:rPr>
              <a:t>We can use it to evaluate whether LLMs have learned factual knowledge !</a:t>
            </a:r>
          </a:p>
          <a:p>
            <a:endParaRPr lang="en-US" altLang="zh-CN" sz="2400" dirty="0">
              <a:solidFill>
                <a:schemeClr val="accent1"/>
              </a:solidFill>
            </a:endParaRPr>
          </a:p>
          <a:p>
            <a:r>
              <a:rPr lang="en-US" altLang="zh-CN" sz="2400" dirty="0">
                <a:solidFill>
                  <a:schemeClr val="accent1"/>
                </a:solidFill>
              </a:rPr>
              <a:t>If the correct answer is one of the patched result, we can consider the LLMs have learned the factual knowledge!</a:t>
            </a:r>
          </a:p>
          <a:p>
            <a:endParaRPr lang="en-US" altLang="zh-CN" sz="2400" dirty="0">
              <a:solidFill>
                <a:schemeClr val="accent1"/>
              </a:solidFill>
            </a:endParaRPr>
          </a:p>
          <a:p>
            <a:r>
              <a:rPr lang="en-US" altLang="zh-CN" sz="2400" b="1" dirty="0">
                <a:solidFill>
                  <a:schemeClr val="accent1"/>
                </a:solidFill>
              </a:rPr>
              <a:t>Cons : compared to traditional prompt-based method, we better consider the hidden states.</a:t>
            </a:r>
            <a:endParaRPr lang="zh-CN" altLang="en-US" sz="2400" b="1" dirty="0">
              <a:solidFill>
                <a:schemeClr val="accent1"/>
              </a:solidFill>
            </a:endParaRPr>
          </a:p>
        </p:txBody>
      </p:sp>
    </p:spTree>
    <p:extLst>
      <p:ext uri="{BB962C8B-B14F-4D97-AF65-F5344CB8AC3E}">
        <p14:creationId xmlns:p14="http://schemas.microsoft.com/office/powerpoint/2010/main" val="3437604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7B102-A966-FBA0-1376-B0DD382252F9}"/>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82D3228E-502E-539F-E9B5-4DB23E9F235E}"/>
              </a:ext>
            </a:extLst>
          </p:cNvPr>
          <p:cNvSpPr/>
          <p:nvPr/>
        </p:nvSpPr>
        <p:spPr>
          <a:xfrm>
            <a:off x="1156136" y="335115"/>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Multi-Layer Patching</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cxnSp>
        <p:nvCxnSpPr>
          <p:cNvPr id="3" name="直接连接符 2">
            <a:extLst>
              <a:ext uri="{FF2B5EF4-FFF2-40B4-BE49-F238E27FC236}">
                <a16:creationId xmlns:a16="http://schemas.microsoft.com/office/drawing/2014/main" id="{70F57C97-A0F6-D3D0-472D-9E3C103DCBEF}"/>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等腰三角形 3">
            <a:extLst>
              <a:ext uri="{FF2B5EF4-FFF2-40B4-BE49-F238E27FC236}">
                <a16:creationId xmlns:a16="http://schemas.microsoft.com/office/drawing/2014/main" id="{28DC72F3-8BF0-09A1-5026-E60630ABF472}"/>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EE66E315-4185-01E1-4BAE-9F1FC7AC4A32}"/>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3</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sp>
        <p:nvSpPr>
          <p:cNvPr id="2" name="文本框 1">
            <a:extLst>
              <a:ext uri="{FF2B5EF4-FFF2-40B4-BE49-F238E27FC236}">
                <a16:creationId xmlns:a16="http://schemas.microsoft.com/office/drawing/2014/main" id="{A140F9EF-98E0-FFCB-E603-7805E2017ABF}"/>
              </a:ext>
            </a:extLst>
          </p:cNvPr>
          <p:cNvSpPr txBox="1"/>
          <p:nvPr/>
        </p:nvSpPr>
        <p:spPr>
          <a:xfrm>
            <a:off x="303334" y="1710103"/>
            <a:ext cx="11218985" cy="461665"/>
          </a:xfrm>
          <a:prstGeom prst="rect">
            <a:avLst/>
          </a:prstGeom>
          <a:noFill/>
        </p:spPr>
        <p:txBody>
          <a:bodyPr wrap="square" rtlCol="0">
            <a:spAutoFit/>
          </a:bodyPr>
          <a:lstStyle/>
          <a:p>
            <a:r>
              <a:rPr lang="en-US" altLang="zh-CN" sz="2400" dirty="0">
                <a:solidFill>
                  <a:schemeClr val="bg1"/>
                </a:solidFill>
              </a:rPr>
              <a:t>One layer’s hidden states always have limited message. Models may not utilize it well.</a:t>
            </a:r>
            <a:endParaRPr lang="zh-CN" altLang="en-US" sz="2400" dirty="0">
              <a:solidFill>
                <a:schemeClr val="bg1"/>
              </a:solidFill>
            </a:endParaRPr>
          </a:p>
        </p:txBody>
      </p:sp>
      <p:sp>
        <p:nvSpPr>
          <p:cNvPr id="6" name="文本框 5">
            <a:extLst>
              <a:ext uri="{FF2B5EF4-FFF2-40B4-BE49-F238E27FC236}">
                <a16:creationId xmlns:a16="http://schemas.microsoft.com/office/drawing/2014/main" id="{69380F78-F333-8419-626C-D753F53167B1}"/>
              </a:ext>
            </a:extLst>
          </p:cNvPr>
          <p:cNvSpPr txBox="1"/>
          <p:nvPr/>
        </p:nvSpPr>
        <p:spPr>
          <a:xfrm>
            <a:off x="369526" y="2710588"/>
            <a:ext cx="9583366" cy="1200329"/>
          </a:xfrm>
          <a:prstGeom prst="rect">
            <a:avLst/>
          </a:prstGeom>
          <a:noFill/>
        </p:spPr>
        <p:txBody>
          <a:bodyPr wrap="square" rtlCol="0">
            <a:spAutoFit/>
          </a:bodyPr>
          <a:lstStyle/>
          <a:p>
            <a:r>
              <a:rPr lang="en-US" altLang="zh-CN" sz="2400" dirty="0">
                <a:solidFill>
                  <a:schemeClr val="accent2"/>
                </a:solidFill>
              </a:rPr>
              <a:t>Solution: Patch multiple layers!</a:t>
            </a:r>
          </a:p>
          <a:p>
            <a:endParaRPr lang="en-US" altLang="zh-CN" sz="2400" dirty="0">
              <a:solidFill>
                <a:schemeClr val="accent2"/>
              </a:solidFill>
            </a:endParaRPr>
          </a:p>
          <a:p>
            <a:r>
              <a:rPr lang="en-US" altLang="zh-CN" sz="2400" dirty="0">
                <a:solidFill>
                  <a:schemeClr val="accent2"/>
                </a:solidFill>
              </a:rPr>
              <a:t>More layers’ hidden states can bring more message to model!</a:t>
            </a:r>
          </a:p>
        </p:txBody>
      </p:sp>
    </p:spTree>
    <p:extLst>
      <p:ext uri="{BB962C8B-B14F-4D97-AF65-F5344CB8AC3E}">
        <p14:creationId xmlns:p14="http://schemas.microsoft.com/office/powerpoint/2010/main" val="3898341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156136" y="335115"/>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Multi-Layer Patching</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cxnSp>
        <p:nvCxnSpPr>
          <p:cNvPr id="3" name="直接连接符 2">
            <a:extLst>
              <a:ext uri="{FF2B5EF4-FFF2-40B4-BE49-F238E27FC236}">
                <a16:creationId xmlns:a16="http://schemas.microsoft.com/office/drawing/2014/main" id="{D0B5C9F9-9DD6-09A9-2220-B9B700772D32}"/>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等腰三角形 3">
            <a:extLst>
              <a:ext uri="{FF2B5EF4-FFF2-40B4-BE49-F238E27FC236}">
                <a16:creationId xmlns:a16="http://schemas.microsoft.com/office/drawing/2014/main" id="{F53B9469-F9CE-9C23-0F94-70D1996F4890}"/>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CB44DB92-14C2-68E0-E5FE-65BD2F908765}"/>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3</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pic>
        <p:nvPicPr>
          <p:cNvPr id="7" name="图片 6">
            <a:extLst>
              <a:ext uri="{FF2B5EF4-FFF2-40B4-BE49-F238E27FC236}">
                <a16:creationId xmlns:a16="http://schemas.microsoft.com/office/drawing/2014/main" id="{07953E42-AD97-E973-21C7-887903AF5F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890322"/>
            <a:ext cx="12192000" cy="3632563"/>
          </a:xfrm>
          <a:prstGeom prst="rect">
            <a:avLst/>
          </a:prstGeom>
        </p:spPr>
      </p:pic>
      <p:sp>
        <p:nvSpPr>
          <p:cNvPr id="33" name="矩形 32"/>
          <p:cNvSpPr/>
          <p:nvPr/>
        </p:nvSpPr>
        <p:spPr>
          <a:xfrm>
            <a:off x="955701" y="1753400"/>
            <a:ext cx="7466199" cy="523220"/>
          </a:xfrm>
          <a:prstGeom prst="rect">
            <a:avLst/>
          </a:prstGeom>
        </p:spPr>
        <p:txBody>
          <a:bodyPr wrap="square">
            <a:spAutoFit/>
          </a:bodyPr>
          <a:lstStyle/>
          <a:p>
            <a:pPr lvl="0"/>
            <a:r>
              <a:rPr lang="en-US" altLang="zh-CN" sz="2800" dirty="0">
                <a:solidFill>
                  <a:schemeClr val="bg1"/>
                </a:solidFill>
                <a:ea typeface="Gulim" panose="020B0600000101010101" pitchFamily="34" charset="-127"/>
              </a:rPr>
              <a:t>Multi-layer patching using a sliding window.</a:t>
            </a:r>
            <a:endParaRPr lang="zh-CN" altLang="en-US" sz="2800" dirty="0">
              <a:solidFill>
                <a:schemeClr val="bg1"/>
              </a:solidFill>
              <a:ea typeface="Gulim" panose="020B0600000101010101" pitchFamily="34" charset="-127"/>
            </a:endParaRPr>
          </a:p>
        </p:txBody>
      </p:sp>
      <p:sp>
        <p:nvSpPr>
          <p:cNvPr id="15" name="矩形 14"/>
          <p:cNvSpPr/>
          <p:nvPr/>
        </p:nvSpPr>
        <p:spPr>
          <a:xfrm>
            <a:off x="0" y="1692018"/>
            <a:ext cx="793562" cy="64598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32863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86080-3E2C-AE55-4A43-610F3B85C837}"/>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9CB7D693-7781-2A01-B140-0713911D76C6}"/>
              </a:ext>
            </a:extLst>
          </p:cNvPr>
          <p:cNvSpPr/>
          <p:nvPr/>
        </p:nvSpPr>
        <p:spPr>
          <a:xfrm>
            <a:off x="1156136" y="335115"/>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Multi-Layer Patching</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cxnSp>
        <p:nvCxnSpPr>
          <p:cNvPr id="3" name="直接连接符 2">
            <a:extLst>
              <a:ext uri="{FF2B5EF4-FFF2-40B4-BE49-F238E27FC236}">
                <a16:creationId xmlns:a16="http://schemas.microsoft.com/office/drawing/2014/main" id="{6248A8C3-C703-0E49-8BA2-49606DC0440A}"/>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等腰三角形 3">
            <a:extLst>
              <a:ext uri="{FF2B5EF4-FFF2-40B4-BE49-F238E27FC236}">
                <a16:creationId xmlns:a16="http://schemas.microsoft.com/office/drawing/2014/main" id="{94583A08-CFD8-10A6-0525-6D8FE3D130C7}"/>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F9BABC50-B726-8E80-28EF-7A159E5D2A79}"/>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3</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sp>
        <p:nvSpPr>
          <p:cNvPr id="33" name="矩形 32">
            <a:extLst>
              <a:ext uri="{FF2B5EF4-FFF2-40B4-BE49-F238E27FC236}">
                <a16:creationId xmlns:a16="http://schemas.microsoft.com/office/drawing/2014/main" id="{DE0DB896-AD0B-D9FD-6B93-6DCA90D2DE01}"/>
              </a:ext>
            </a:extLst>
          </p:cNvPr>
          <p:cNvSpPr/>
          <p:nvPr/>
        </p:nvSpPr>
        <p:spPr>
          <a:xfrm>
            <a:off x="1156136" y="1699783"/>
            <a:ext cx="3778782" cy="523220"/>
          </a:xfrm>
          <a:prstGeom prst="rect">
            <a:avLst/>
          </a:prstGeom>
        </p:spPr>
        <p:txBody>
          <a:bodyPr wrap="square">
            <a:spAutoFit/>
          </a:bodyPr>
          <a:lstStyle/>
          <a:p>
            <a:pPr lvl="0"/>
            <a:r>
              <a:rPr lang="en-US" altLang="zh-CN" sz="2800" dirty="0">
                <a:solidFill>
                  <a:schemeClr val="bg1"/>
                </a:solidFill>
                <a:ea typeface="Gulim" panose="020B0600000101010101" pitchFamily="34" charset="-127"/>
              </a:rPr>
              <a:t>Three key components:</a:t>
            </a:r>
          </a:p>
        </p:txBody>
      </p:sp>
      <p:sp>
        <p:nvSpPr>
          <p:cNvPr id="15" name="矩形 14">
            <a:extLst>
              <a:ext uri="{FF2B5EF4-FFF2-40B4-BE49-F238E27FC236}">
                <a16:creationId xmlns:a16="http://schemas.microsoft.com/office/drawing/2014/main" id="{7C82FA10-F41B-F009-53DD-AE767EB89908}"/>
              </a:ext>
            </a:extLst>
          </p:cNvPr>
          <p:cNvSpPr/>
          <p:nvPr/>
        </p:nvSpPr>
        <p:spPr>
          <a:xfrm>
            <a:off x="0" y="1699783"/>
            <a:ext cx="793562" cy="64598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7C5E6A4B-BD9D-BC86-2E36-B440AF52F6C3}"/>
                  </a:ext>
                </a:extLst>
              </p:cNvPr>
              <p:cNvSpPr/>
              <p:nvPr/>
            </p:nvSpPr>
            <p:spPr>
              <a:xfrm>
                <a:off x="1156135" y="2541231"/>
                <a:ext cx="10104899" cy="954107"/>
              </a:xfrm>
              <a:prstGeom prst="rect">
                <a:avLst/>
              </a:prstGeom>
            </p:spPr>
            <p:txBody>
              <a:bodyPr wrap="square">
                <a:spAutoFit/>
              </a:bodyPr>
              <a:lstStyle/>
              <a:p>
                <a:pPr marL="457200" lvl="0" indent="-457200">
                  <a:buFont typeface="Arial" panose="020B0604020202020204" pitchFamily="34" charset="0"/>
                  <a:buChar char="•"/>
                </a:pPr>
                <a:r>
                  <a:rPr lang="en-US" altLang="zh-CN" sz="2800" b="1" dirty="0">
                    <a:solidFill>
                      <a:schemeClr val="bg1"/>
                    </a:solidFill>
                    <a:ea typeface="Gulim" panose="020B0600000101010101" pitchFamily="34" charset="-127"/>
                  </a:rPr>
                  <a:t>Source Input </a:t>
                </a:r>
                <a14:m>
                  <m:oMath xmlns:m="http://schemas.openxmlformats.org/officeDocument/2006/math">
                    <m:r>
                      <a:rPr lang="en-US" altLang="zh-CN" sz="2800" b="0" i="1" dirty="0" smtClean="0">
                        <a:solidFill>
                          <a:schemeClr val="bg1"/>
                        </a:solidFill>
                        <a:latin typeface="Cambria Math" panose="02040503050406030204" pitchFamily="18" charset="0"/>
                        <a:ea typeface="Gulim" panose="020B0600000101010101" pitchFamily="34" charset="-127"/>
                      </a:rPr>
                      <m:t>𝑆</m:t>
                    </m:r>
                  </m:oMath>
                </a14:m>
                <a:r>
                  <a:rPr lang="en-US" altLang="zh-CN" sz="2800" b="1" dirty="0">
                    <a:solidFill>
                      <a:schemeClr val="bg1"/>
                    </a:solidFill>
                    <a:ea typeface="Gulim" panose="020B0600000101010101" pitchFamily="34" charset="-127"/>
                  </a:rPr>
                  <a:t>: </a:t>
                </a:r>
                <a:r>
                  <a:rPr lang="en-US" altLang="zh-CN" sz="2800" dirty="0">
                    <a:solidFill>
                      <a:schemeClr val="bg1"/>
                    </a:solidFill>
                    <a:ea typeface="Gulim" panose="020B0600000101010101" pitchFamily="34" charset="-127"/>
                  </a:rPr>
                  <a:t>A text sequence containing the identity where the model get the hidden representation of the identity.</a:t>
                </a:r>
              </a:p>
            </p:txBody>
          </p:sp>
        </mc:Choice>
        <mc:Fallback xmlns="">
          <p:sp>
            <p:nvSpPr>
              <p:cNvPr id="2" name="矩形 1">
                <a:extLst>
                  <a:ext uri="{FF2B5EF4-FFF2-40B4-BE49-F238E27FC236}">
                    <a16:creationId xmlns:a16="http://schemas.microsoft.com/office/drawing/2014/main" id="{7C5E6A4B-BD9D-BC86-2E36-B440AF52F6C3}"/>
                  </a:ext>
                </a:extLst>
              </p:cNvPr>
              <p:cNvSpPr>
                <a:spLocks noRot="1" noChangeAspect="1" noMove="1" noResize="1" noEditPoints="1" noAdjustHandles="1" noChangeArrowheads="1" noChangeShapeType="1" noTextEdit="1"/>
              </p:cNvSpPr>
              <p:nvPr/>
            </p:nvSpPr>
            <p:spPr>
              <a:xfrm>
                <a:off x="1156135" y="2541231"/>
                <a:ext cx="10104899" cy="954107"/>
              </a:xfrm>
              <a:prstGeom prst="rect">
                <a:avLst/>
              </a:prstGeom>
              <a:blipFill>
                <a:blip r:embed="rId3"/>
                <a:stretch>
                  <a:fillRect l="-1086" t="-6410" b="-17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2A6C34F6-6025-5899-A402-2E12FBF1C0E9}"/>
                  </a:ext>
                </a:extLst>
              </p:cNvPr>
              <p:cNvSpPr/>
              <p:nvPr/>
            </p:nvSpPr>
            <p:spPr>
              <a:xfrm>
                <a:off x="1156135" y="3727301"/>
                <a:ext cx="10333499" cy="954107"/>
              </a:xfrm>
              <a:prstGeom prst="rect">
                <a:avLst/>
              </a:prstGeom>
            </p:spPr>
            <p:txBody>
              <a:bodyPr wrap="square">
                <a:spAutoFit/>
              </a:bodyPr>
              <a:lstStyle/>
              <a:p>
                <a:pPr marL="457200" lvl="0" indent="-457200">
                  <a:buFont typeface="Arial" panose="020B0604020202020204" pitchFamily="34" charset="0"/>
                  <a:buChar char="•"/>
                </a:pPr>
                <a:r>
                  <a:rPr lang="en-US" altLang="zh-CN" sz="2800" b="1" dirty="0">
                    <a:solidFill>
                      <a:schemeClr val="bg1"/>
                    </a:solidFill>
                    <a:ea typeface="Gulim" panose="020B0600000101010101" pitchFamily="34" charset="-127"/>
                  </a:rPr>
                  <a:t>Target Sequence </a:t>
                </a:r>
                <a14:m>
                  <m:oMath xmlns:m="http://schemas.openxmlformats.org/officeDocument/2006/math">
                    <m:r>
                      <a:rPr lang="en-US" altLang="zh-CN" sz="2800" b="0" i="1" dirty="0" smtClean="0">
                        <a:solidFill>
                          <a:schemeClr val="bg1"/>
                        </a:solidFill>
                        <a:latin typeface="Cambria Math" panose="02040503050406030204" pitchFamily="18" charset="0"/>
                        <a:ea typeface="Gulim" panose="020B0600000101010101" pitchFamily="34" charset="-127"/>
                      </a:rPr>
                      <m:t>𝑇</m:t>
                    </m:r>
                  </m:oMath>
                </a14:m>
                <a:r>
                  <a:rPr lang="en-US" altLang="zh-CN" sz="2800" b="1" dirty="0">
                    <a:solidFill>
                      <a:schemeClr val="bg1"/>
                    </a:solidFill>
                    <a:ea typeface="Gulim" panose="020B0600000101010101" pitchFamily="34" charset="-127"/>
                  </a:rPr>
                  <a:t>: </a:t>
                </a:r>
                <a:r>
                  <a:rPr lang="en-US" altLang="zh-CN" sz="2800" dirty="0">
                    <a:solidFill>
                      <a:schemeClr val="bg1"/>
                    </a:solidFill>
                    <a:ea typeface="Gulim" panose="020B0600000101010101" pitchFamily="34" charset="-127"/>
                  </a:rPr>
                  <a:t>A question where we want to evaluate whether the LLM has known  the answer  (</a:t>
                </a:r>
                <a:r>
                  <a:rPr lang="en-US" altLang="zh-CN" sz="2800" dirty="0" err="1">
                    <a:solidFill>
                      <a:schemeClr val="bg1"/>
                    </a:solidFill>
                    <a:ea typeface="Gulim" panose="020B0600000101010101" pitchFamily="34" charset="-127"/>
                  </a:rPr>
                  <a:t>e.g.,"The</a:t>
                </a:r>
                <a:r>
                  <a:rPr lang="en-US" altLang="zh-CN" sz="2800" dirty="0">
                    <a:solidFill>
                      <a:schemeClr val="bg1"/>
                    </a:solidFill>
                    <a:ea typeface="Gulim" panose="020B0600000101010101" pitchFamily="34" charset="-127"/>
                  </a:rPr>
                  <a:t> capital of x").</a:t>
                </a:r>
              </a:p>
            </p:txBody>
          </p:sp>
        </mc:Choice>
        <mc:Fallback xmlns="">
          <p:sp>
            <p:nvSpPr>
              <p:cNvPr id="6" name="矩形 5">
                <a:extLst>
                  <a:ext uri="{FF2B5EF4-FFF2-40B4-BE49-F238E27FC236}">
                    <a16:creationId xmlns:a16="http://schemas.microsoft.com/office/drawing/2014/main" id="{2A6C34F6-6025-5899-A402-2E12FBF1C0E9}"/>
                  </a:ext>
                </a:extLst>
              </p:cNvPr>
              <p:cNvSpPr>
                <a:spLocks noRot="1" noChangeAspect="1" noMove="1" noResize="1" noEditPoints="1" noAdjustHandles="1" noChangeArrowheads="1" noChangeShapeType="1" noTextEdit="1"/>
              </p:cNvSpPr>
              <p:nvPr/>
            </p:nvSpPr>
            <p:spPr>
              <a:xfrm>
                <a:off x="1156135" y="3727301"/>
                <a:ext cx="10333499" cy="954107"/>
              </a:xfrm>
              <a:prstGeom prst="rect">
                <a:avLst/>
              </a:prstGeom>
              <a:blipFill>
                <a:blip r:embed="rId4"/>
                <a:stretch>
                  <a:fillRect l="-1062" t="-5732" b="-17197"/>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2783A28C-F878-AEF7-CEE6-9F0F7E9DAB25}"/>
              </a:ext>
            </a:extLst>
          </p:cNvPr>
          <p:cNvSpPr/>
          <p:nvPr/>
        </p:nvSpPr>
        <p:spPr>
          <a:xfrm>
            <a:off x="1156134" y="4913371"/>
            <a:ext cx="10333499" cy="1384995"/>
          </a:xfrm>
          <a:prstGeom prst="rect">
            <a:avLst/>
          </a:prstGeom>
        </p:spPr>
        <p:txBody>
          <a:bodyPr wrap="square">
            <a:spAutoFit/>
          </a:bodyPr>
          <a:lstStyle/>
          <a:p>
            <a:pPr marL="457200" lvl="0" indent="-457200">
              <a:buFont typeface="Arial" panose="020B0604020202020204" pitchFamily="34" charset="0"/>
              <a:buChar char="•"/>
            </a:pPr>
            <a:r>
              <a:rPr lang="en-US" altLang="zh-CN" sz="2800" b="1" dirty="0">
                <a:solidFill>
                  <a:schemeClr val="bg1"/>
                </a:solidFill>
              </a:rPr>
              <a:t>Layer-wise Intervention </a:t>
            </a:r>
            <a:r>
              <a:rPr lang="en-US" altLang="zh-CN" sz="2800" dirty="0">
                <a:solidFill>
                  <a:schemeClr val="bg1"/>
                </a:solidFill>
              </a:rPr>
              <a:t>: A mechanism that replaces multiple consecutive hidden states in  the target sequence with transformed representations derived from the source input.</a:t>
            </a:r>
            <a:endParaRPr lang="en-US" altLang="zh-CN" sz="2800" dirty="0">
              <a:solidFill>
                <a:schemeClr val="bg1"/>
              </a:solidFill>
              <a:ea typeface="Gulim" panose="020B0600000101010101" pitchFamily="34" charset="-127"/>
            </a:endParaRPr>
          </a:p>
        </p:txBody>
      </p:sp>
    </p:spTree>
    <p:extLst>
      <p:ext uri="{BB962C8B-B14F-4D97-AF65-F5344CB8AC3E}">
        <p14:creationId xmlns:p14="http://schemas.microsoft.com/office/powerpoint/2010/main" val="3937360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4" name="矩形 63"/>
              <p:cNvSpPr/>
              <p:nvPr/>
            </p:nvSpPr>
            <p:spPr>
              <a:xfrm>
                <a:off x="882641" y="2238112"/>
                <a:ext cx="10413012" cy="830997"/>
              </a:xfrm>
              <a:prstGeom prst="rect">
                <a:avLst/>
              </a:prstGeom>
            </p:spPr>
            <p:txBody>
              <a:bodyPr wrap="square">
                <a:spAutoFit/>
              </a:bodyPr>
              <a:lstStyle/>
              <a:p>
                <a:pPr lvl="0"/>
                <a:r>
                  <a:rPr lang="en-US" altLang="zh-CN" sz="2400" dirty="0">
                    <a:solidFill>
                      <a:schemeClr val="bg1"/>
                    </a:solidFill>
                    <a:ea typeface="Gulim" panose="020B0600000101010101" pitchFamily="34" charset="-127"/>
                  </a:rPr>
                  <a:t>We followed the factual triples used in patch scope, which consisted of a series of triples (</a:t>
                </a:r>
                <a14:m>
                  <m:oMath xmlns:m="http://schemas.openxmlformats.org/officeDocument/2006/math">
                    <m:r>
                      <a:rPr lang="zh-CN" altLang="en-US" sz="2400" i="1" smtClean="0">
                        <a:solidFill>
                          <a:schemeClr val="bg1"/>
                        </a:solidFill>
                        <a:latin typeface="Cambria Math" panose="02040503050406030204" pitchFamily="18" charset="0"/>
                        <a:ea typeface="Gulim" panose="020B0600000101010101" pitchFamily="34" charset="-127"/>
                      </a:rPr>
                      <m:t>𝜎</m:t>
                    </m:r>
                    <m:r>
                      <a:rPr lang="en-US" altLang="zh-CN" sz="2400" b="0" i="0" smtClean="0">
                        <a:solidFill>
                          <a:schemeClr val="bg1"/>
                        </a:solidFill>
                        <a:latin typeface="Cambria Math" panose="02040503050406030204" pitchFamily="18" charset="0"/>
                        <a:ea typeface="Gulim" panose="020B0600000101010101" pitchFamily="34" charset="-127"/>
                      </a:rPr>
                      <m:t>,</m:t>
                    </m:r>
                    <m:r>
                      <a:rPr lang="en-US" altLang="zh-CN" sz="2400" b="0" i="0" dirty="0" smtClean="0">
                        <a:solidFill>
                          <a:schemeClr val="bg1"/>
                        </a:solidFill>
                        <a:latin typeface="Cambria Math" panose="02040503050406030204" pitchFamily="18" charset="0"/>
                        <a:ea typeface="Gulim" panose="020B0600000101010101" pitchFamily="34" charset="-127"/>
                      </a:rPr>
                      <m:t> </m:t>
                    </m:r>
                    <m:r>
                      <a:rPr lang="zh-CN" altLang="en-US" sz="2400" i="1" dirty="0" smtClean="0">
                        <a:solidFill>
                          <a:schemeClr val="bg1"/>
                        </a:solidFill>
                        <a:latin typeface="Cambria Math" panose="02040503050406030204" pitchFamily="18" charset="0"/>
                        <a:ea typeface="Gulim" panose="020B0600000101010101" pitchFamily="34" charset="-127"/>
                      </a:rPr>
                      <m:t>𝜌</m:t>
                    </m:r>
                    <m:r>
                      <a:rPr lang="en-US" altLang="zh-CN" sz="2400" b="0" i="1" dirty="0" smtClean="0">
                        <a:solidFill>
                          <a:schemeClr val="bg1"/>
                        </a:solidFill>
                        <a:latin typeface="Cambria Math" panose="02040503050406030204" pitchFamily="18" charset="0"/>
                        <a:ea typeface="Gulim" panose="020B0600000101010101" pitchFamily="34" charset="-127"/>
                      </a:rPr>
                      <m:t>,</m:t>
                    </m:r>
                    <m:r>
                      <a:rPr lang="zh-CN" altLang="en-US" sz="2400" i="1" dirty="0" smtClean="0">
                        <a:solidFill>
                          <a:schemeClr val="bg1"/>
                        </a:solidFill>
                        <a:latin typeface="Cambria Math" panose="02040503050406030204" pitchFamily="18" charset="0"/>
                        <a:ea typeface="Gulim" panose="020B0600000101010101" pitchFamily="34" charset="-127"/>
                      </a:rPr>
                      <m:t>𝜔</m:t>
                    </m:r>
                  </m:oMath>
                </a14:m>
                <a:r>
                  <a:rPr lang="en-US" altLang="zh-CN" sz="2400" dirty="0">
                    <a:solidFill>
                      <a:schemeClr val="bg1"/>
                    </a:solidFill>
                    <a:ea typeface="Gulim" panose="020B0600000101010101" pitchFamily="34" charset="-127"/>
                  </a:rPr>
                  <a:t>) of a subject,</a:t>
                </a:r>
                <a:r>
                  <a:rPr lang="zh-CN" altLang="en-US" sz="2400" dirty="0">
                    <a:solidFill>
                      <a:schemeClr val="bg1"/>
                    </a:solidFill>
                    <a:ea typeface="Gulim" panose="020B0600000101010101" pitchFamily="34" charset="-127"/>
                  </a:rPr>
                  <a:t> </a:t>
                </a:r>
                <a:r>
                  <a:rPr lang="en-US" altLang="zh-CN" sz="2400" dirty="0">
                    <a:solidFill>
                      <a:schemeClr val="bg1"/>
                    </a:solidFill>
                    <a:ea typeface="Gulim" panose="020B0600000101010101" pitchFamily="34" charset="-127"/>
                  </a:rPr>
                  <a:t>a relation, and an object.  (Obtained from Wiki.)</a:t>
                </a:r>
              </a:p>
            </p:txBody>
          </p:sp>
        </mc:Choice>
        <mc:Fallback xmlns="">
          <p:sp>
            <p:nvSpPr>
              <p:cNvPr id="64" name="矩形 63"/>
              <p:cNvSpPr>
                <a:spLocks noRot="1" noChangeAspect="1" noMove="1" noResize="1" noEditPoints="1" noAdjustHandles="1" noChangeArrowheads="1" noChangeShapeType="1" noTextEdit="1"/>
              </p:cNvSpPr>
              <p:nvPr/>
            </p:nvSpPr>
            <p:spPr>
              <a:xfrm>
                <a:off x="882641" y="2238112"/>
                <a:ext cx="10413012" cy="830997"/>
              </a:xfrm>
              <a:prstGeom prst="rect">
                <a:avLst/>
              </a:prstGeom>
              <a:blipFill>
                <a:blip r:embed="rId3"/>
                <a:stretch>
                  <a:fillRect l="-937" t="-5882" b="-16176"/>
                </a:stretch>
              </a:blipFill>
            </p:spPr>
            <p:txBody>
              <a:bodyPr/>
              <a:lstStyle/>
              <a:p>
                <a:r>
                  <a:rPr lang="zh-CN" altLang="en-US">
                    <a:noFill/>
                  </a:rPr>
                  <a:t> </a:t>
                </a:r>
              </a:p>
            </p:txBody>
          </p:sp>
        </mc:Fallback>
      </mc:AlternateContent>
      <p:grpSp>
        <p:nvGrpSpPr>
          <p:cNvPr id="12" name="组合 11"/>
          <p:cNvGrpSpPr/>
          <p:nvPr/>
        </p:nvGrpSpPr>
        <p:grpSpPr>
          <a:xfrm>
            <a:off x="460397" y="1606930"/>
            <a:ext cx="1517490" cy="461665"/>
            <a:chOff x="2979214" y="2523393"/>
            <a:chExt cx="2452046" cy="461665"/>
          </a:xfrm>
        </p:grpSpPr>
        <p:sp>
          <p:nvSpPr>
            <p:cNvPr id="63" name="矩形 62"/>
            <p:cNvSpPr/>
            <p:nvPr/>
          </p:nvSpPr>
          <p:spPr>
            <a:xfrm>
              <a:off x="2979214" y="2523393"/>
              <a:ext cx="2140842" cy="46166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Gulim" panose="020B0600000101010101" pitchFamily="34" charset="-127"/>
                <a:ea typeface="Gulim" panose="020B0600000101010101" pitchFamily="34" charset="-127"/>
              </a:endParaRPr>
            </a:p>
          </p:txBody>
        </p:sp>
        <p:sp>
          <p:nvSpPr>
            <p:cNvPr id="65" name="矩形 64"/>
            <p:cNvSpPr/>
            <p:nvPr/>
          </p:nvSpPr>
          <p:spPr>
            <a:xfrm>
              <a:off x="2979214" y="2523393"/>
              <a:ext cx="2452046" cy="461665"/>
            </a:xfrm>
            <a:prstGeom prst="rect">
              <a:avLst/>
            </a:prstGeom>
          </p:spPr>
          <p:txBody>
            <a:bodyPr wrap="none">
              <a:spAutoFit/>
            </a:bodyPr>
            <a:lstStyle/>
            <a:p>
              <a:r>
                <a:rPr lang="en-US" altLang="zh-CN" sz="2400" dirty="0">
                  <a:solidFill>
                    <a:schemeClr val="bg1"/>
                  </a:solidFill>
                  <a:latin typeface="Gulim" panose="020B0600000101010101" pitchFamily="34" charset="-127"/>
                  <a:ea typeface="Gulim" panose="020B0600000101010101" pitchFamily="34" charset="-127"/>
                </a:rPr>
                <a:t>Dataset</a:t>
              </a:r>
            </a:p>
          </p:txBody>
        </p:sp>
      </p:grpSp>
      <p:grpSp>
        <p:nvGrpSpPr>
          <p:cNvPr id="70" name="组合 69"/>
          <p:cNvGrpSpPr/>
          <p:nvPr/>
        </p:nvGrpSpPr>
        <p:grpSpPr>
          <a:xfrm>
            <a:off x="460397" y="3370424"/>
            <a:ext cx="1657826" cy="461665"/>
            <a:chOff x="2979214" y="2523393"/>
            <a:chExt cx="2324480" cy="461665"/>
          </a:xfrm>
          <a:solidFill>
            <a:schemeClr val="accent2"/>
          </a:solidFill>
        </p:grpSpPr>
        <p:sp>
          <p:nvSpPr>
            <p:cNvPr id="71" name="矩形 70"/>
            <p:cNvSpPr/>
            <p:nvPr/>
          </p:nvSpPr>
          <p:spPr>
            <a:xfrm>
              <a:off x="2979214" y="2523393"/>
              <a:ext cx="2140842" cy="4616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Gulim" panose="020B0600000101010101" pitchFamily="34" charset="-127"/>
                <a:ea typeface="Gulim" panose="020B0600000101010101" pitchFamily="34" charset="-127"/>
              </a:endParaRPr>
            </a:p>
          </p:txBody>
        </p:sp>
        <p:sp>
          <p:nvSpPr>
            <p:cNvPr id="72" name="矩形 71"/>
            <p:cNvSpPr/>
            <p:nvPr/>
          </p:nvSpPr>
          <p:spPr>
            <a:xfrm>
              <a:off x="2979214" y="2523393"/>
              <a:ext cx="2324480" cy="461665"/>
            </a:xfrm>
            <a:prstGeom prst="rect">
              <a:avLst/>
            </a:prstGeom>
            <a:grpFill/>
          </p:spPr>
          <p:txBody>
            <a:bodyPr wrap="none">
              <a:spAutoFit/>
            </a:bodyPr>
            <a:lstStyle/>
            <a:p>
              <a:r>
                <a:rPr lang="en-US" altLang="zh-CN" sz="2400" dirty="0">
                  <a:solidFill>
                    <a:schemeClr val="bg1"/>
                  </a:solidFill>
                  <a:latin typeface="Gulim" panose="020B0600000101010101" pitchFamily="34" charset="-127"/>
                  <a:ea typeface="Gulim" panose="020B0600000101010101" pitchFamily="34" charset="-127"/>
                </a:rPr>
                <a:t>Evaluation</a:t>
              </a:r>
            </a:p>
          </p:txBody>
        </p:sp>
      </p:grpSp>
      <mc:AlternateContent xmlns:mc="http://schemas.openxmlformats.org/markup-compatibility/2006" xmlns:a14="http://schemas.microsoft.com/office/drawing/2010/main">
        <mc:Choice Requires="a14">
          <p:sp>
            <p:nvSpPr>
              <p:cNvPr id="73" name="矩形 72"/>
              <p:cNvSpPr/>
              <p:nvPr/>
            </p:nvSpPr>
            <p:spPr>
              <a:xfrm>
                <a:off x="882641" y="3923656"/>
                <a:ext cx="10413012" cy="2024144"/>
              </a:xfrm>
              <a:prstGeom prst="rect">
                <a:avLst/>
              </a:prstGeom>
            </p:spPr>
            <p:txBody>
              <a:bodyPr wrap="square">
                <a:spAutoFit/>
              </a:bodyPr>
              <a:lstStyle/>
              <a:p>
                <a:pPr lvl="0"/>
                <a:r>
                  <a:rPr lang="en-US" altLang="zh-CN" sz="2400" dirty="0">
                    <a:solidFill>
                      <a:schemeClr val="bg1"/>
                    </a:solidFill>
                    <a:ea typeface="Gulim" panose="020B0600000101010101" pitchFamily="34" charset="-127"/>
                  </a:rPr>
                  <a:t>For </a:t>
                </a:r>
                <a:r>
                  <a:rPr lang="en-US" altLang="zh-CN" sz="2400" dirty="0" err="1">
                    <a:solidFill>
                      <a:schemeClr val="bg1"/>
                    </a:solidFill>
                    <a:ea typeface="Gulim" panose="020B0600000101010101" pitchFamily="34" charset="-127"/>
                  </a:rPr>
                  <a:t>Patchscope</a:t>
                </a:r>
                <a:r>
                  <a:rPr lang="en-US" altLang="zh-CN" sz="2400" dirty="0">
                    <a:solidFill>
                      <a:schemeClr val="bg1"/>
                    </a:solidFill>
                    <a:ea typeface="Gulim" panose="020B0600000101010101" pitchFamily="34" charset="-127"/>
                  </a:rPr>
                  <a:t> and ML-Patch, we uniformly set </a:t>
                </a:r>
                <a14:m>
                  <m:oMath xmlns:m="http://schemas.openxmlformats.org/officeDocument/2006/math">
                    <m:r>
                      <m:rPr>
                        <m:sty m:val="p"/>
                      </m:rPr>
                      <a:rPr lang="en-US" altLang="zh-CN" sz="2400" i="1" dirty="0">
                        <a:solidFill>
                          <a:schemeClr val="bg1"/>
                        </a:solidFill>
                        <a:latin typeface="Cambria Math" panose="02040503050406030204" pitchFamily="18" charset="0"/>
                        <a:ea typeface="Gulim" panose="020B0600000101010101" pitchFamily="34" charset="-127"/>
                      </a:rPr>
                      <m:t>f</m:t>
                    </m:r>
                  </m:oMath>
                </a14:m>
                <a:r>
                  <a:rPr lang="en-US" altLang="zh-CN" sz="2400" dirty="0">
                    <a:solidFill>
                      <a:schemeClr val="bg1"/>
                    </a:solidFill>
                    <a:ea typeface="Gulim" panose="020B0600000101010101" pitchFamily="34" charset="-127"/>
                  </a:rPr>
                  <a:t> as an identity mapping. For a given set of parameters (</a:t>
                </a:r>
                <a14:m>
                  <m:oMath xmlns:m="http://schemas.openxmlformats.org/officeDocument/2006/math">
                    <m:r>
                      <a:rPr lang="en-US" altLang="zh-CN" sz="2400" i="1" dirty="0" smtClean="0">
                        <a:solidFill>
                          <a:schemeClr val="bg1"/>
                        </a:solidFill>
                        <a:latin typeface="Cambria Math" panose="02040503050406030204" pitchFamily="18" charset="0"/>
                        <a:ea typeface="Gulim" panose="020B0600000101010101" pitchFamily="34" charset="-127"/>
                      </a:rPr>
                      <m:t>𝜎</m:t>
                    </m:r>
                    <m:r>
                      <a:rPr lang="en-US" altLang="zh-CN" sz="2400" i="1" dirty="0" smtClean="0">
                        <a:solidFill>
                          <a:schemeClr val="bg1"/>
                        </a:solidFill>
                        <a:latin typeface="Cambria Math" panose="02040503050406030204" pitchFamily="18" charset="0"/>
                        <a:ea typeface="Gulim" panose="020B0600000101010101" pitchFamily="34" charset="-127"/>
                      </a:rPr>
                      <m:t>,</m:t>
                    </m:r>
                    <m:r>
                      <a:rPr lang="en-US" altLang="zh-CN" sz="2400" i="1" dirty="0" smtClean="0">
                        <a:solidFill>
                          <a:schemeClr val="bg1"/>
                        </a:solidFill>
                        <a:latin typeface="Cambria Math" panose="02040503050406030204" pitchFamily="18" charset="0"/>
                        <a:ea typeface="Gulim" panose="020B0600000101010101" pitchFamily="34" charset="-127"/>
                      </a:rPr>
                      <m:t>𝜌</m:t>
                    </m:r>
                    <m:r>
                      <a:rPr lang="en-US" altLang="zh-CN" sz="2400" i="1" dirty="0" smtClean="0">
                        <a:solidFill>
                          <a:schemeClr val="bg1"/>
                        </a:solidFill>
                        <a:latin typeface="Cambria Math" panose="02040503050406030204" pitchFamily="18" charset="0"/>
                        <a:ea typeface="Gulim" panose="020B0600000101010101" pitchFamily="34" charset="-127"/>
                      </a:rPr>
                      <m:t>,</m:t>
                    </m:r>
                    <m:r>
                      <a:rPr lang="en-US" altLang="zh-CN" sz="2400" i="1" dirty="0" smtClean="0">
                        <a:solidFill>
                          <a:schemeClr val="bg1"/>
                        </a:solidFill>
                        <a:latin typeface="Cambria Math" panose="02040503050406030204" pitchFamily="18" charset="0"/>
                        <a:ea typeface="Gulim" panose="020B0600000101010101" pitchFamily="34" charset="-127"/>
                      </a:rPr>
                      <m:t>𝜔</m:t>
                    </m:r>
                    <m:r>
                      <a:rPr lang="en-US" altLang="zh-CN" sz="2400" i="1" dirty="0" smtClean="0">
                        <a:solidFill>
                          <a:schemeClr val="bg1"/>
                        </a:solidFill>
                        <a:latin typeface="Cambria Math" panose="02040503050406030204" pitchFamily="18" charset="0"/>
                        <a:ea typeface="Gulim" panose="020B0600000101010101" pitchFamily="34" charset="-127"/>
                      </a:rPr>
                      <m:t>,</m:t>
                    </m:r>
                    <m:r>
                      <a:rPr lang="en-US" altLang="zh-CN" sz="2400" i="1" dirty="0" smtClean="0">
                        <a:solidFill>
                          <a:schemeClr val="bg1"/>
                        </a:solidFill>
                        <a:latin typeface="Cambria Math" panose="02040503050406030204" pitchFamily="18" charset="0"/>
                        <a:ea typeface="Gulim" panose="020B0600000101010101" pitchFamily="34" charset="-127"/>
                      </a:rPr>
                      <m:t>𝑆</m:t>
                    </m:r>
                    <m:r>
                      <a:rPr lang="en-US" altLang="zh-CN" sz="2400" i="1" dirty="0" smtClean="0">
                        <a:solidFill>
                          <a:schemeClr val="bg1"/>
                        </a:solidFill>
                        <a:latin typeface="Cambria Math" panose="02040503050406030204" pitchFamily="18" charset="0"/>
                        <a:ea typeface="Gulim" panose="020B0600000101010101" pitchFamily="34" charset="-127"/>
                      </a:rPr>
                      <m:t>,</m:t>
                    </m:r>
                    <m:r>
                      <a:rPr lang="en-US" altLang="zh-CN" sz="2400" i="1" dirty="0" smtClean="0">
                        <a:solidFill>
                          <a:schemeClr val="bg1"/>
                        </a:solidFill>
                        <a:latin typeface="Cambria Math" panose="02040503050406030204" pitchFamily="18" charset="0"/>
                        <a:ea typeface="Gulim" panose="020B0600000101010101" pitchFamily="34" charset="-127"/>
                      </a:rPr>
                      <m:t>𝑇</m:t>
                    </m:r>
                  </m:oMath>
                </a14:m>
                <a:r>
                  <a:rPr lang="en-US" altLang="zh-CN" sz="2400" dirty="0">
                    <a:solidFill>
                      <a:schemeClr val="bg1"/>
                    </a:solidFill>
                    <a:ea typeface="Gulim" panose="020B0600000101010101" pitchFamily="34" charset="-127"/>
                  </a:rPr>
                  <a:t>) and a specified number of patched layers </a:t>
                </a:r>
                <a14:m>
                  <m:oMath xmlns:m="http://schemas.openxmlformats.org/officeDocument/2006/math">
                    <m:r>
                      <a:rPr lang="en-US" altLang="zh-CN" sz="2400" i="1" dirty="0" smtClean="0">
                        <a:solidFill>
                          <a:schemeClr val="bg1"/>
                        </a:solidFill>
                        <a:latin typeface="Cambria Math" panose="02040503050406030204" pitchFamily="18" charset="0"/>
                        <a:ea typeface="Gulim" panose="020B0600000101010101" pitchFamily="34" charset="-127"/>
                      </a:rPr>
                      <m:t>𝑝</m:t>
                    </m:r>
                  </m:oMath>
                </a14:m>
                <a:r>
                  <a:rPr lang="en-US" altLang="zh-CN" sz="2400" dirty="0">
                    <a:solidFill>
                      <a:schemeClr val="bg1"/>
                    </a:solidFill>
                    <a:ea typeface="Gulim" panose="020B0600000101010101" pitchFamily="34" charset="-127"/>
                  </a:rPr>
                  <a:t>, the generation may vary across different pairs of layers </a:t>
                </a:r>
                <a14:m>
                  <m:oMath xmlns:m="http://schemas.openxmlformats.org/officeDocument/2006/math">
                    <m:r>
                      <a:rPr lang="en-US" altLang="zh-CN" sz="2400" i="1" dirty="0" smtClean="0">
                        <a:solidFill>
                          <a:schemeClr val="bg1"/>
                        </a:solidFill>
                        <a:latin typeface="Cambria Math" panose="02040503050406030204" pitchFamily="18" charset="0"/>
                        <a:ea typeface="Gulim" panose="020B0600000101010101" pitchFamily="34" charset="-127"/>
                      </a:rPr>
                      <m:t>𝑙</m:t>
                    </m:r>
                    <m:r>
                      <a:rPr lang="en-US" altLang="zh-CN" sz="2400" i="1" dirty="0" smtClean="0">
                        <a:solidFill>
                          <a:schemeClr val="bg1"/>
                        </a:solidFill>
                        <a:latin typeface="Cambria Math" panose="02040503050406030204" pitchFamily="18" charset="0"/>
                        <a:ea typeface="Gulim" panose="020B0600000101010101" pitchFamily="34" charset="-127"/>
                      </a:rPr>
                      <m:t>,</m:t>
                    </m:r>
                    <m:sSup>
                      <m:sSupPr>
                        <m:ctrlPr>
                          <a:rPr lang="en-US" altLang="zh-CN" sz="2400" i="1" dirty="0" smtClean="0">
                            <a:solidFill>
                              <a:schemeClr val="bg1"/>
                            </a:solidFill>
                            <a:latin typeface="Cambria Math" panose="02040503050406030204" pitchFamily="18" charset="0"/>
                            <a:ea typeface="Gulim" panose="020B0600000101010101" pitchFamily="34" charset="-127"/>
                          </a:rPr>
                        </m:ctrlPr>
                      </m:sSupPr>
                      <m:e>
                        <m:r>
                          <a:rPr lang="en-US" altLang="zh-CN" sz="2400" b="0" i="1" dirty="0" smtClean="0">
                            <a:solidFill>
                              <a:schemeClr val="bg1"/>
                            </a:solidFill>
                            <a:latin typeface="Cambria Math" panose="02040503050406030204" pitchFamily="18" charset="0"/>
                            <a:ea typeface="Gulim" panose="020B0600000101010101" pitchFamily="34" charset="-127"/>
                          </a:rPr>
                          <m:t>𝑙</m:t>
                        </m:r>
                      </m:e>
                      <m:sup>
                        <m:r>
                          <a:rPr lang="en-US" altLang="zh-CN" sz="2400" b="0" i="1" dirty="0" smtClean="0">
                            <a:solidFill>
                              <a:schemeClr val="bg1"/>
                            </a:solidFill>
                            <a:latin typeface="Cambria Math" panose="02040503050406030204" pitchFamily="18" charset="0"/>
                            <a:ea typeface="Gulim" panose="020B0600000101010101" pitchFamily="34" charset="-127"/>
                          </a:rPr>
                          <m:t>∗</m:t>
                        </m:r>
                      </m:sup>
                    </m:sSup>
                  </m:oMath>
                </a14:m>
                <a:r>
                  <a:rPr lang="en-US" altLang="zh-CN" sz="2400" dirty="0">
                    <a:solidFill>
                      <a:schemeClr val="bg1"/>
                    </a:solidFill>
                    <a:ea typeface="Gulim" panose="020B0600000101010101" pitchFamily="34" charset="-127"/>
                  </a:rPr>
                  <a:t>.</a:t>
                </a:r>
              </a:p>
              <a:p>
                <a:pPr lvl="0"/>
                <a:r>
                  <a:rPr lang="en-US" altLang="zh-CN" sz="2400" dirty="0">
                    <a:solidFill>
                      <a:schemeClr val="bg1"/>
                    </a:solidFill>
                    <a:ea typeface="Gulim" panose="020B0600000101010101" pitchFamily="34" charset="-127"/>
                  </a:rPr>
                  <a:t>Is correct patched = </a:t>
                </a:r>
                <a14:m>
                  <m:oMath xmlns:m="http://schemas.openxmlformats.org/officeDocument/2006/math">
                    <m:d>
                      <m:dPr>
                        <m:begChr m:val="{"/>
                        <m:endChr m:val=""/>
                        <m:ctrlPr>
                          <a:rPr lang="en-US" altLang="zh-CN" sz="2400" i="1" smtClean="0">
                            <a:solidFill>
                              <a:schemeClr val="bg1"/>
                            </a:solidFill>
                            <a:latin typeface="Cambria Math" panose="02040503050406030204" pitchFamily="18" charset="0"/>
                            <a:ea typeface="Gulim" panose="020B0600000101010101" pitchFamily="34" charset="-127"/>
                          </a:rPr>
                        </m:ctrlPr>
                      </m:dPr>
                      <m:e>
                        <m:eqArr>
                          <m:eqArrPr>
                            <m:ctrlPr>
                              <a:rPr lang="en-US" altLang="zh-CN" sz="2400" i="1" smtClean="0">
                                <a:solidFill>
                                  <a:schemeClr val="bg1"/>
                                </a:solidFill>
                                <a:latin typeface="Cambria Math" panose="02040503050406030204" pitchFamily="18" charset="0"/>
                                <a:ea typeface="Gulim" panose="020B0600000101010101" pitchFamily="34" charset="-127"/>
                              </a:rPr>
                            </m:ctrlPr>
                          </m:eqArrPr>
                          <m:e>
                            <m:r>
                              <a:rPr lang="en-US" altLang="zh-CN" sz="2400" b="0" i="1" smtClean="0">
                                <a:solidFill>
                                  <a:schemeClr val="bg1"/>
                                </a:solidFill>
                                <a:latin typeface="Cambria Math" panose="02040503050406030204" pitchFamily="18" charset="0"/>
                                <a:ea typeface="Gulim" panose="020B0600000101010101" pitchFamily="34" charset="-127"/>
                              </a:rPr>
                              <m:t> </m:t>
                            </m:r>
                            <m:r>
                              <m:rPr>
                                <m:nor/>
                              </m:rPr>
                              <a:rPr lang="en-US" altLang="zh-CN" sz="2400" b="0" i="0" smtClean="0">
                                <a:solidFill>
                                  <a:schemeClr val="bg1"/>
                                </a:solidFill>
                                <a:latin typeface="Cambria Math" panose="02040503050406030204" pitchFamily="18" charset="0"/>
                                <a:ea typeface="Gulim" panose="020B0600000101010101" pitchFamily="34" charset="-127"/>
                              </a:rPr>
                              <m:t>True</m:t>
                            </m:r>
                            <m:r>
                              <m:rPr>
                                <m:nor/>
                              </m:rPr>
                              <a:rPr lang="en-US" altLang="zh-CN" sz="2400" b="0" i="0" smtClean="0">
                                <a:solidFill>
                                  <a:schemeClr val="bg1"/>
                                </a:solidFill>
                                <a:latin typeface="Cambria Math" panose="02040503050406030204" pitchFamily="18" charset="0"/>
                                <a:ea typeface="Gulim" panose="020B0600000101010101" pitchFamily="34" charset="-127"/>
                              </a:rPr>
                              <m:t>   </m:t>
                            </m:r>
                            <m:r>
                              <m:rPr>
                                <m:nor/>
                              </m:rPr>
                              <a:rPr lang="en-US" altLang="zh-CN" sz="2400" b="0" i="0" smtClean="0">
                                <a:solidFill>
                                  <a:schemeClr val="bg1"/>
                                </a:solidFill>
                                <a:latin typeface="Cambria Math" panose="02040503050406030204" pitchFamily="18" charset="0"/>
                                <a:ea typeface="Gulim" panose="020B0600000101010101" pitchFamily="34" charset="-127"/>
                              </a:rPr>
                              <m:t>if</m:t>
                            </m:r>
                            <m:r>
                              <a:rPr lang="en-US" altLang="zh-CN" sz="2400" b="0" i="1" smtClean="0">
                                <a:solidFill>
                                  <a:schemeClr val="bg1"/>
                                </a:solidFill>
                                <a:latin typeface="Cambria Math" panose="02040503050406030204" pitchFamily="18" charset="0"/>
                                <a:ea typeface="Gulim" panose="020B0600000101010101" pitchFamily="34" charset="-127"/>
                              </a:rPr>
                              <m:t> </m:t>
                            </m:r>
                            <m:r>
                              <a:rPr lang="en-US" altLang="zh-CN" sz="2400" b="0" i="1" smtClean="0">
                                <a:solidFill>
                                  <a:schemeClr val="bg1"/>
                                </a:solidFill>
                                <a:latin typeface="Cambria Math" panose="02040503050406030204" pitchFamily="18" charset="0"/>
                                <a:ea typeface="Cambria Math" panose="02040503050406030204" pitchFamily="18" charset="0"/>
                              </a:rPr>
                              <m:t>∃</m:t>
                            </m:r>
                            <m:r>
                              <a:rPr lang="en-US" altLang="zh-CN" sz="2400" b="0" i="1" smtClean="0">
                                <a:solidFill>
                                  <a:schemeClr val="bg1"/>
                                </a:solidFill>
                                <a:latin typeface="Cambria Math" panose="02040503050406030204" pitchFamily="18" charset="0"/>
                                <a:ea typeface="Cambria Math" panose="02040503050406030204" pitchFamily="18" charset="0"/>
                              </a:rPr>
                              <m:t>𝑙</m:t>
                            </m:r>
                            <m:r>
                              <a:rPr lang="en-US" altLang="zh-CN" sz="2400" b="0" i="1" smtClean="0">
                                <a:solidFill>
                                  <a:schemeClr val="bg1"/>
                                </a:solidFill>
                                <a:latin typeface="Cambria Math" panose="02040503050406030204" pitchFamily="18" charset="0"/>
                                <a:ea typeface="Cambria Math" panose="02040503050406030204" pitchFamily="18" charset="0"/>
                              </a:rPr>
                              <m:t>, </m:t>
                            </m:r>
                            <m:sSup>
                              <m:sSupPr>
                                <m:ctrlPr>
                                  <a:rPr lang="en-US" altLang="zh-CN" sz="2400" b="0" i="1" smtClean="0">
                                    <a:solidFill>
                                      <a:schemeClr val="bg1"/>
                                    </a:solidFill>
                                    <a:latin typeface="Cambria Math" panose="02040503050406030204" pitchFamily="18" charset="0"/>
                                    <a:ea typeface="Cambria Math" panose="02040503050406030204" pitchFamily="18" charset="0"/>
                                  </a:rPr>
                                </m:ctrlPr>
                              </m:sSupPr>
                              <m:e>
                                <m:r>
                                  <a:rPr lang="en-US" altLang="zh-CN" sz="2400" b="0" i="1" smtClean="0">
                                    <a:solidFill>
                                      <a:schemeClr val="bg1"/>
                                    </a:solidFill>
                                    <a:latin typeface="Cambria Math" panose="02040503050406030204" pitchFamily="18" charset="0"/>
                                    <a:ea typeface="Cambria Math" panose="02040503050406030204" pitchFamily="18" charset="0"/>
                                  </a:rPr>
                                  <m:t>𝑙</m:t>
                                </m:r>
                              </m:e>
                              <m:sup>
                                <m:r>
                                  <a:rPr lang="en-US" altLang="zh-CN" sz="2400" b="0" i="1" smtClean="0">
                                    <a:solidFill>
                                      <a:schemeClr val="bg1"/>
                                    </a:solidFill>
                                    <a:latin typeface="Cambria Math" panose="02040503050406030204" pitchFamily="18" charset="0"/>
                                    <a:ea typeface="Cambria Math" panose="02040503050406030204" pitchFamily="18" charset="0"/>
                                  </a:rPr>
                                  <m:t>∗</m:t>
                                </m:r>
                              </m:sup>
                            </m:sSup>
                            <m:r>
                              <a:rPr lang="en-US" altLang="zh-CN" sz="2400" b="0" i="1" smtClean="0">
                                <a:solidFill>
                                  <a:schemeClr val="bg1"/>
                                </a:solidFill>
                                <a:latin typeface="Cambria Math" panose="02040503050406030204" pitchFamily="18" charset="0"/>
                                <a:ea typeface="Cambria Math" panose="02040503050406030204" pitchFamily="18" charset="0"/>
                              </a:rPr>
                              <m:t>∈</m:t>
                            </m:r>
                            <m:d>
                              <m:dPr>
                                <m:begChr m:val="{"/>
                                <m:endChr m:val="}"/>
                                <m:ctrlPr>
                                  <a:rPr lang="en-US" altLang="zh-CN" sz="2400" b="0" i="1" smtClean="0">
                                    <a:solidFill>
                                      <a:schemeClr val="bg1"/>
                                    </a:solidFill>
                                    <a:latin typeface="Cambria Math" panose="02040503050406030204" pitchFamily="18" charset="0"/>
                                    <a:ea typeface="Cambria Math" panose="02040503050406030204" pitchFamily="18" charset="0"/>
                                  </a:rPr>
                                </m:ctrlPr>
                              </m:dPr>
                              <m:e>
                                <m:r>
                                  <a:rPr lang="en-US" altLang="zh-CN" sz="2400" b="0" i="1" smtClean="0">
                                    <a:solidFill>
                                      <a:schemeClr val="bg1"/>
                                    </a:solidFill>
                                    <a:latin typeface="Cambria Math" panose="02040503050406030204" pitchFamily="18" charset="0"/>
                                    <a:ea typeface="Cambria Math" panose="02040503050406030204" pitchFamily="18" charset="0"/>
                                  </a:rPr>
                                  <m:t>1,…,</m:t>
                                </m:r>
                                <m:r>
                                  <a:rPr lang="en-US" altLang="zh-CN" sz="2400" b="0" i="1" smtClean="0">
                                    <a:solidFill>
                                      <a:schemeClr val="bg1"/>
                                    </a:solidFill>
                                    <a:latin typeface="Cambria Math" panose="02040503050406030204" pitchFamily="18" charset="0"/>
                                    <a:ea typeface="Cambria Math" panose="02040503050406030204" pitchFamily="18" charset="0"/>
                                  </a:rPr>
                                  <m:t>𝐿</m:t>
                                </m:r>
                                <m:r>
                                  <a:rPr lang="en-US" altLang="zh-CN" sz="2400" b="0" i="1" smtClean="0">
                                    <a:solidFill>
                                      <a:schemeClr val="bg1"/>
                                    </a:solidFill>
                                    <a:latin typeface="Cambria Math" panose="02040503050406030204" pitchFamily="18" charset="0"/>
                                    <a:ea typeface="Cambria Math" panose="02040503050406030204" pitchFamily="18" charset="0"/>
                                  </a:rPr>
                                  <m:t>−</m:t>
                                </m:r>
                                <m:r>
                                  <a:rPr lang="en-US" altLang="zh-CN" sz="2400" b="0" i="1" smtClean="0">
                                    <a:solidFill>
                                      <a:schemeClr val="bg1"/>
                                    </a:solidFill>
                                    <a:latin typeface="Cambria Math" panose="02040503050406030204" pitchFamily="18" charset="0"/>
                                    <a:ea typeface="Cambria Math" panose="02040503050406030204" pitchFamily="18" charset="0"/>
                                  </a:rPr>
                                  <m:t>𝑝</m:t>
                                </m:r>
                              </m:e>
                            </m:d>
                            <m:r>
                              <a:rPr lang="en-US" altLang="zh-CN" sz="2400" b="0" i="1" smtClean="0">
                                <a:solidFill>
                                  <a:schemeClr val="bg1"/>
                                </a:solidFill>
                                <a:latin typeface="Cambria Math" panose="02040503050406030204" pitchFamily="18" charset="0"/>
                                <a:ea typeface="Cambria Math" panose="02040503050406030204" pitchFamily="18" charset="0"/>
                              </a:rPr>
                              <m:t>      </m:t>
                            </m:r>
                            <m:r>
                              <m:rPr>
                                <m:nor/>
                              </m:rPr>
                              <a:rPr lang="en-US" altLang="zh-CN" sz="2400" b="0" i="0" smtClean="0">
                                <a:solidFill>
                                  <a:schemeClr val="bg1"/>
                                </a:solidFill>
                                <a:latin typeface="Cambria Math" panose="02040503050406030204" pitchFamily="18" charset="0"/>
                                <a:ea typeface="Cambria Math" panose="02040503050406030204" pitchFamily="18" charset="0"/>
                              </a:rPr>
                              <m:t>s</m:t>
                            </m:r>
                            <m:r>
                              <m:rPr>
                                <m:nor/>
                              </m:rPr>
                              <a:rPr lang="en-US" altLang="zh-CN" sz="2400" b="0" i="0" smtClean="0">
                                <a:solidFill>
                                  <a:schemeClr val="bg1"/>
                                </a:solidFill>
                                <a:latin typeface="Cambria Math" panose="02040503050406030204" pitchFamily="18" charset="0"/>
                                <a:ea typeface="Cambria Math" panose="02040503050406030204" pitchFamily="18" charset="0"/>
                              </a:rPr>
                              <m:t>.</m:t>
                            </m:r>
                            <m:r>
                              <m:rPr>
                                <m:nor/>
                              </m:rPr>
                              <a:rPr lang="en-US" altLang="zh-CN" sz="2400" b="0" i="0" smtClean="0">
                                <a:solidFill>
                                  <a:schemeClr val="bg1"/>
                                </a:solidFill>
                                <a:latin typeface="Cambria Math" panose="02040503050406030204" pitchFamily="18" charset="0"/>
                                <a:ea typeface="Cambria Math" panose="02040503050406030204" pitchFamily="18" charset="0"/>
                              </a:rPr>
                              <m:t>t</m:t>
                            </m:r>
                            <m:r>
                              <m:rPr>
                                <m:nor/>
                              </m:rPr>
                              <a:rPr lang="en-US" altLang="zh-CN" sz="2400" b="0" i="0" smtClean="0">
                                <a:solidFill>
                                  <a:schemeClr val="bg1"/>
                                </a:solidFill>
                                <a:latin typeface="Cambria Math" panose="02040503050406030204" pitchFamily="18" charset="0"/>
                                <a:ea typeface="Cambria Math" panose="02040503050406030204" pitchFamily="18" charset="0"/>
                              </a:rPr>
                              <m:t>. </m:t>
                            </m:r>
                            <m:r>
                              <m:rPr>
                                <m:sty m:val="p"/>
                              </m:rPr>
                              <a:rPr lang="el-GR" altLang="zh-CN" sz="2400" b="0" i="1" smtClean="0">
                                <a:solidFill>
                                  <a:schemeClr val="bg1"/>
                                </a:solidFill>
                                <a:latin typeface="Cambria Math" panose="02040503050406030204" pitchFamily="18" charset="0"/>
                                <a:ea typeface="Cambria Math" panose="02040503050406030204" pitchFamily="18" charset="0"/>
                              </a:rPr>
                              <m:t>ω</m:t>
                            </m:r>
                            <m:r>
                              <m:rPr>
                                <m:nor/>
                              </m:rPr>
                              <a:rPr lang="en-US" altLang="zh-CN" sz="2400" b="0" i="0" smtClean="0">
                                <a:solidFill>
                                  <a:schemeClr val="bg1"/>
                                </a:solidFill>
                                <a:latin typeface="Cambria Math" panose="02040503050406030204" pitchFamily="18" charset="0"/>
                                <a:ea typeface="Cambria Math" panose="02040503050406030204" pitchFamily="18" charset="0"/>
                              </a:rPr>
                              <m:t> </m:t>
                            </m:r>
                            <m:r>
                              <m:rPr>
                                <m:nor/>
                              </m:rPr>
                              <a:rPr lang="en-US" altLang="zh-CN" sz="2400" b="0" i="0" smtClean="0">
                                <a:solidFill>
                                  <a:schemeClr val="bg1"/>
                                </a:solidFill>
                                <a:latin typeface="Cambria Math" panose="02040503050406030204" pitchFamily="18" charset="0"/>
                                <a:ea typeface="Cambria Math" panose="02040503050406030204" pitchFamily="18" charset="0"/>
                              </a:rPr>
                              <m:t>in</m:t>
                            </m:r>
                            <m:r>
                              <m:rPr>
                                <m:nor/>
                              </m:rPr>
                              <a:rPr lang="en-US" altLang="zh-CN" sz="2400" b="0" i="0" smtClean="0">
                                <a:solidFill>
                                  <a:schemeClr val="bg1"/>
                                </a:solidFill>
                                <a:latin typeface="Cambria Math" panose="02040503050406030204" pitchFamily="18" charset="0"/>
                                <a:ea typeface="Cambria Math" panose="02040503050406030204" pitchFamily="18" charset="0"/>
                              </a:rPr>
                              <m:t> </m:t>
                            </m:r>
                            <m:r>
                              <m:rPr>
                                <m:nor/>
                              </m:rPr>
                              <a:rPr lang="en-US" altLang="zh-CN" sz="2400" b="0" i="0" smtClean="0">
                                <a:solidFill>
                                  <a:schemeClr val="bg1"/>
                                </a:solidFill>
                                <a:latin typeface="Cambria Math" panose="02040503050406030204" pitchFamily="18" charset="0"/>
                                <a:ea typeface="Cambria Math" panose="02040503050406030204" pitchFamily="18" charset="0"/>
                              </a:rPr>
                              <m:t>generated</m:t>
                            </m:r>
                            <m:r>
                              <m:rPr>
                                <m:nor/>
                              </m:rPr>
                              <a:rPr lang="en-US" altLang="zh-CN" sz="2400" b="0" i="0" smtClean="0">
                                <a:solidFill>
                                  <a:schemeClr val="bg1"/>
                                </a:solidFill>
                                <a:latin typeface="Cambria Math" panose="02040503050406030204" pitchFamily="18" charset="0"/>
                                <a:ea typeface="Cambria Math" panose="02040503050406030204" pitchFamily="18" charset="0"/>
                              </a:rPr>
                              <m:t> </m:t>
                            </m:r>
                            <m:r>
                              <m:rPr>
                                <m:nor/>
                              </m:rPr>
                              <a:rPr lang="en-US" altLang="zh-CN" sz="2400" b="0" i="0" smtClean="0">
                                <a:solidFill>
                                  <a:schemeClr val="bg1"/>
                                </a:solidFill>
                                <a:latin typeface="Cambria Math" panose="02040503050406030204" pitchFamily="18" charset="0"/>
                                <a:ea typeface="Cambria Math" panose="02040503050406030204" pitchFamily="18" charset="0"/>
                              </a:rPr>
                              <m:t>text</m:t>
                            </m:r>
                          </m:e>
                          <m:e>
                            <m:r>
                              <m:rPr>
                                <m:nor/>
                              </m:rPr>
                              <a:rPr lang="en-US" altLang="zh-CN" sz="2400" b="0" i="0" smtClean="0">
                                <a:solidFill>
                                  <a:schemeClr val="bg1"/>
                                </a:solidFill>
                                <a:latin typeface="Cambria Math" panose="02040503050406030204" pitchFamily="18" charset="0"/>
                                <a:ea typeface="Gulim" panose="020B0600000101010101" pitchFamily="34" charset="-127"/>
                              </a:rPr>
                              <m:t>False</m:t>
                            </m:r>
                            <m:r>
                              <m:rPr>
                                <m:nor/>
                              </m:rPr>
                              <a:rPr lang="en-US" altLang="zh-CN" sz="2400" b="0" i="0" smtClean="0">
                                <a:solidFill>
                                  <a:schemeClr val="bg1"/>
                                </a:solidFill>
                                <a:latin typeface="Cambria Math" panose="02040503050406030204" pitchFamily="18" charset="0"/>
                                <a:ea typeface="Gulim" panose="020B0600000101010101" pitchFamily="34" charset="-127"/>
                              </a:rPr>
                              <m:t>   </m:t>
                            </m:r>
                            <m:r>
                              <m:rPr>
                                <m:nor/>
                              </m:rPr>
                              <a:rPr lang="en-US" altLang="zh-CN" sz="2400" b="0" i="0" smtClean="0">
                                <a:solidFill>
                                  <a:schemeClr val="bg1"/>
                                </a:solidFill>
                                <a:latin typeface="Cambria Math" panose="02040503050406030204" pitchFamily="18" charset="0"/>
                                <a:ea typeface="Gulim" panose="020B0600000101010101" pitchFamily="34" charset="-127"/>
                              </a:rPr>
                              <m:t>if</m:t>
                            </m:r>
                            <m:r>
                              <m:rPr>
                                <m:nor/>
                              </m:rPr>
                              <a:rPr lang="en-US" altLang="zh-CN" sz="2400" b="0" i="0" smtClean="0">
                                <a:solidFill>
                                  <a:schemeClr val="bg1"/>
                                </a:solidFill>
                                <a:latin typeface="Cambria Math" panose="02040503050406030204" pitchFamily="18" charset="0"/>
                                <a:ea typeface="Gulim" panose="020B0600000101010101" pitchFamily="34" charset="-127"/>
                              </a:rPr>
                              <m:t> </m:t>
                            </m:r>
                            <m:r>
                              <a:rPr lang="en-US" altLang="zh-CN" sz="2400" b="0" i="1" smtClean="0">
                                <a:solidFill>
                                  <a:schemeClr val="bg1"/>
                                </a:solidFill>
                                <a:latin typeface="Cambria Math" panose="02040503050406030204" pitchFamily="18" charset="0"/>
                                <a:ea typeface="Cambria Math" panose="02040503050406030204" pitchFamily="18" charset="0"/>
                              </a:rPr>
                              <m:t>∀</m:t>
                            </m:r>
                            <m:r>
                              <a:rPr lang="en-US" altLang="zh-CN" sz="2400" b="0" i="1" smtClean="0">
                                <a:solidFill>
                                  <a:schemeClr val="bg1"/>
                                </a:solidFill>
                                <a:latin typeface="Cambria Math" panose="02040503050406030204" pitchFamily="18" charset="0"/>
                                <a:ea typeface="Cambria Math" panose="02040503050406030204" pitchFamily="18" charset="0"/>
                              </a:rPr>
                              <m:t>𝑙</m:t>
                            </m:r>
                            <m:r>
                              <a:rPr lang="en-US" altLang="zh-CN" sz="2400" b="0" i="1" smtClean="0">
                                <a:solidFill>
                                  <a:schemeClr val="bg1"/>
                                </a:solidFill>
                                <a:latin typeface="Cambria Math" panose="02040503050406030204" pitchFamily="18" charset="0"/>
                                <a:ea typeface="Cambria Math" panose="02040503050406030204" pitchFamily="18" charset="0"/>
                              </a:rPr>
                              <m:t>, </m:t>
                            </m:r>
                            <m:sSup>
                              <m:sSupPr>
                                <m:ctrlPr>
                                  <a:rPr lang="en-US" altLang="zh-CN" sz="2400" b="0" i="1" smtClean="0">
                                    <a:solidFill>
                                      <a:schemeClr val="bg1"/>
                                    </a:solidFill>
                                    <a:latin typeface="Cambria Math" panose="02040503050406030204" pitchFamily="18" charset="0"/>
                                    <a:ea typeface="Cambria Math" panose="02040503050406030204" pitchFamily="18" charset="0"/>
                                  </a:rPr>
                                </m:ctrlPr>
                              </m:sSupPr>
                              <m:e>
                                <m:r>
                                  <a:rPr lang="en-US" altLang="zh-CN" sz="2400" b="0" i="1" smtClean="0">
                                    <a:solidFill>
                                      <a:schemeClr val="bg1"/>
                                    </a:solidFill>
                                    <a:latin typeface="Cambria Math" panose="02040503050406030204" pitchFamily="18" charset="0"/>
                                    <a:ea typeface="Cambria Math" panose="02040503050406030204" pitchFamily="18" charset="0"/>
                                  </a:rPr>
                                  <m:t>𝑙</m:t>
                                </m:r>
                              </m:e>
                              <m:sup>
                                <m:r>
                                  <a:rPr lang="en-US" altLang="zh-CN" sz="2400" b="0" i="1" smtClean="0">
                                    <a:solidFill>
                                      <a:schemeClr val="bg1"/>
                                    </a:solidFill>
                                    <a:latin typeface="Cambria Math" panose="02040503050406030204" pitchFamily="18" charset="0"/>
                                    <a:ea typeface="Cambria Math" panose="02040503050406030204" pitchFamily="18" charset="0"/>
                                  </a:rPr>
                                  <m:t>∗</m:t>
                                </m:r>
                              </m:sup>
                            </m:sSup>
                            <m:r>
                              <a:rPr lang="en-US" altLang="zh-CN" sz="2400" i="1">
                                <a:solidFill>
                                  <a:schemeClr val="bg1"/>
                                </a:solidFill>
                                <a:latin typeface="Cambria Math" panose="02040503050406030204" pitchFamily="18" charset="0"/>
                                <a:ea typeface="Cambria Math" panose="02040503050406030204" pitchFamily="18" charset="0"/>
                              </a:rPr>
                              <m:t>∈</m:t>
                            </m:r>
                            <m:d>
                              <m:dPr>
                                <m:begChr m:val="{"/>
                                <m:endChr m:val="}"/>
                                <m:ctrlPr>
                                  <a:rPr lang="en-US" altLang="zh-CN" sz="2400" i="1" smtClean="0">
                                    <a:solidFill>
                                      <a:schemeClr val="bg1"/>
                                    </a:solidFill>
                                    <a:latin typeface="Cambria Math" panose="02040503050406030204" pitchFamily="18" charset="0"/>
                                    <a:ea typeface="Cambria Math" panose="02040503050406030204" pitchFamily="18" charset="0"/>
                                  </a:rPr>
                                </m:ctrlPr>
                              </m:dPr>
                              <m:e>
                                <m:r>
                                  <a:rPr lang="en-US" altLang="zh-CN" sz="2400" b="0" i="1" smtClean="0">
                                    <a:solidFill>
                                      <a:schemeClr val="bg1"/>
                                    </a:solidFill>
                                    <a:latin typeface="Cambria Math" panose="02040503050406030204" pitchFamily="18" charset="0"/>
                                    <a:ea typeface="Cambria Math" panose="02040503050406030204" pitchFamily="18" charset="0"/>
                                  </a:rPr>
                                  <m:t>1,2,…,</m:t>
                                </m:r>
                                <m:r>
                                  <a:rPr lang="en-US" altLang="zh-CN" sz="2400" b="0" i="1" smtClean="0">
                                    <a:solidFill>
                                      <a:schemeClr val="bg1"/>
                                    </a:solidFill>
                                    <a:latin typeface="Cambria Math" panose="02040503050406030204" pitchFamily="18" charset="0"/>
                                    <a:ea typeface="Cambria Math" panose="02040503050406030204" pitchFamily="18" charset="0"/>
                                  </a:rPr>
                                  <m:t>𝐿</m:t>
                                </m:r>
                                <m:r>
                                  <a:rPr lang="en-US" altLang="zh-CN" sz="2400" b="0" i="1" smtClean="0">
                                    <a:solidFill>
                                      <a:schemeClr val="bg1"/>
                                    </a:solidFill>
                                    <a:latin typeface="Cambria Math" panose="02040503050406030204" pitchFamily="18" charset="0"/>
                                    <a:ea typeface="Cambria Math" panose="02040503050406030204" pitchFamily="18" charset="0"/>
                                  </a:rPr>
                                  <m:t>−</m:t>
                                </m:r>
                                <m:r>
                                  <a:rPr lang="en-US" altLang="zh-CN" sz="2400" b="0" i="1" smtClean="0">
                                    <a:solidFill>
                                      <a:schemeClr val="bg1"/>
                                    </a:solidFill>
                                    <a:latin typeface="Cambria Math" panose="02040503050406030204" pitchFamily="18" charset="0"/>
                                    <a:ea typeface="Cambria Math" panose="02040503050406030204" pitchFamily="18" charset="0"/>
                                  </a:rPr>
                                  <m:t>𝑝</m:t>
                                </m:r>
                              </m:e>
                            </m:d>
                            <m:r>
                              <a:rPr lang="en-US" altLang="zh-CN" sz="2400" b="0" i="1" smtClean="0">
                                <a:solidFill>
                                  <a:schemeClr val="bg1"/>
                                </a:solidFill>
                                <a:latin typeface="Cambria Math" panose="02040503050406030204" pitchFamily="18" charset="0"/>
                                <a:ea typeface="Cambria Math" panose="02040503050406030204" pitchFamily="18" charset="0"/>
                              </a:rPr>
                              <m:t>  </m:t>
                            </m:r>
                            <m:r>
                              <m:rPr>
                                <m:nor/>
                              </m:rPr>
                              <a:rPr lang="en-US" altLang="zh-CN" sz="2400" b="0" i="0" smtClean="0">
                                <a:solidFill>
                                  <a:schemeClr val="bg1"/>
                                </a:solidFill>
                                <a:latin typeface="Cambria Math" panose="02040503050406030204" pitchFamily="18" charset="0"/>
                                <a:ea typeface="Cambria Math" panose="02040503050406030204" pitchFamily="18" charset="0"/>
                              </a:rPr>
                              <m:t>s</m:t>
                            </m:r>
                            <m:r>
                              <m:rPr>
                                <m:nor/>
                              </m:rPr>
                              <a:rPr lang="en-US" altLang="zh-CN" sz="2400" b="0" i="0" smtClean="0">
                                <a:solidFill>
                                  <a:schemeClr val="bg1"/>
                                </a:solidFill>
                                <a:latin typeface="Cambria Math" panose="02040503050406030204" pitchFamily="18" charset="0"/>
                                <a:ea typeface="Cambria Math" panose="02040503050406030204" pitchFamily="18" charset="0"/>
                              </a:rPr>
                              <m:t>.</m:t>
                            </m:r>
                            <m:r>
                              <m:rPr>
                                <m:nor/>
                              </m:rPr>
                              <a:rPr lang="en-US" altLang="zh-CN" sz="2400" b="0" i="0" smtClean="0">
                                <a:solidFill>
                                  <a:schemeClr val="bg1"/>
                                </a:solidFill>
                                <a:latin typeface="Cambria Math" panose="02040503050406030204" pitchFamily="18" charset="0"/>
                                <a:ea typeface="Cambria Math" panose="02040503050406030204" pitchFamily="18" charset="0"/>
                              </a:rPr>
                              <m:t>t</m:t>
                            </m:r>
                            <m:r>
                              <m:rPr>
                                <m:nor/>
                              </m:rPr>
                              <a:rPr lang="en-US" altLang="zh-CN" sz="2400" b="0" i="0" smtClean="0">
                                <a:solidFill>
                                  <a:schemeClr val="bg1"/>
                                </a:solidFill>
                                <a:latin typeface="Cambria Math" panose="02040503050406030204" pitchFamily="18" charset="0"/>
                                <a:ea typeface="Cambria Math" panose="02040503050406030204" pitchFamily="18" charset="0"/>
                              </a:rPr>
                              <m:t>. </m:t>
                            </m:r>
                            <m:r>
                              <m:rPr>
                                <m:sty m:val="p"/>
                              </m:rPr>
                              <a:rPr lang="el-GR" altLang="zh-CN" sz="2400" b="0" i="1" smtClean="0">
                                <a:solidFill>
                                  <a:schemeClr val="bg1"/>
                                </a:solidFill>
                                <a:latin typeface="Cambria Math" panose="02040503050406030204" pitchFamily="18" charset="0"/>
                                <a:ea typeface="Cambria Math" panose="02040503050406030204" pitchFamily="18" charset="0"/>
                              </a:rPr>
                              <m:t>ω</m:t>
                            </m:r>
                            <m:r>
                              <a:rPr lang="en-US" altLang="zh-CN" sz="2400" b="0" i="1" smtClean="0">
                                <a:solidFill>
                                  <a:schemeClr val="bg1"/>
                                </a:solidFill>
                                <a:latin typeface="Cambria Math" panose="02040503050406030204" pitchFamily="18" charset="0"/>
                                <a:ea typeface="Cambria Math" panose="02040503050406030204" pitchFamily="18" charset="0"/>
                              </a:rPr>
                              <m:t> </m:t>
                            </m:r>
                            <m:r>
                              <m:rPr>
                                <m:nor/>
                              </m:rPr>
                              <a:rPr lang="en-US" altLang="zh-CN" sz="2400" b="0" i="0" smtClean="0">
                                <a:solidFill>
                                  <a:schemeClr val="bg1"/>
                                </a:solidFill>
                                <a:latin typeface="Cambria Math" panose="02040503050406030204" pitchFamily="18" charset="0"/>
                                <a:ea typeface="Cambria Math" panose="02040503050406030204" pitchFamily="18" charset="0"/>
                              </a:rPr>
                              <m:t>not</m:t>
                            </m:r>
                            <m:r>
                              <m:rPr>
                                <m:nor/>
                              </m:rPr>
                              <a:rPr lang="en-US" altLang="zh-CN" sz="2400" b="0" i="0" smtClean="0">
                                <a:solidFill>
                                  <a:schemeClr val="bg1"/>
                                </a:solidFill>
                                <a:latin typeface="Cambria Math" panose="02040503050406030204" pitchFamily="18" charset="0"/>
                                <a:ea typeface="Cambria Math" panose="02040503050406030204" pitchFamily="18" charset="0"/>
                              </a:rPr>
                              <m:t> </m:t>
                            </m:r>
                            <m:r>
                              <m:rPr>
                                <m:nor/>
                              </m:rPr>
                              <a:rPr lang="en-US" altLang="zh-CN" sz="2400" b="0" i="0" smtClean="0">
                                <a:solidFill>
                                  <a:schemeClr val="bg1"/>
                                </a:solidFill>
                                <a:latin typeface="Cambria Math" panose="02040503050406030204" pitchFamily="18" charset="0"/>
                                <a:ea typeface="Cambria Math" panose="02040503050406030204" pitchFamily="18" charset="0"/>
                              </a:rPr>
                              <m:t>in</m:t>
                            </m:r>
                            <m:r>
                              <m:rPr>
                                <m:nor/>
                              </m:rPr>
                              <a:rPr lang="en-US" altLang="zh-CN" sz="2400" b="0" i="0" smtClean="0">
                                <a:solidFill>
                                  <a:schemeClr val="bg1"/>
                                </a:solidFill>
                                <a:latin typeface="Cambria Math" panose="02040503050406030204" pitchFamily="18" charset="0"/>
                                <a:ea typeface="Cambria Math" panose="02040503050406030204" pitchFamily="18" charset="0"/>
                              </a:rPr>
                              <m:t> </m:t>
                            </m:r>
                            <m:r>
                              <m:rPr>
                                <m:nor/>
                              </m:rPr>
                              <a:rPr lang="en-US" altLang="zh-CN" sz="2400" b="0" i="0" smtClean="0">
                                <a:solidFill>
                                  <a:schemeClr val="bg1"/>
                                </a:solidFill>
                                <a:latin typeface="Cambria Math" panose="02040503050406030204" pitchFamily="18" charset="0"/>
                                <a:ea typeface="Cambria Math" panose="02040503050406030204" pitchFamily="18" charset="0"/>
                              </a:rPr>
                              <m:t>generated</m:t>
                            </m:r>
                            <m:r>
                              <m:rPr>
                                <m:nor/>
                              </m:rPr>
                              <a:rPr lang="en-US" altLang="zh-CN" sz="2400" b="0" i="0" smtClean="0">
                                <a:solidFill>
                                  <a:schemeClr val="bg1"/>
                                </a:solidFill>
                                <a:latin typeface="Cambria Math" panose="02040503050406030204" pitchFamily="18" charset="0"/>
                                <a:ea typeface="Cambria Math" panose="02040503050406030204" pitchFamily="18" charset="0"/>
                              </a:rPr>
                              <m:t> </m:t>
                            </m:r>
                            <m:r>
                              <m:rPr>
                                <m:nor/>
                              </m:rPr>
                              <a:rPr lang="en-US" altLang="zh-CN" sz="2400" b="0" i="0" smtClean="0">
                                <a:solidFill>
                                  <a:schemeClr val="bg1"/>
                                </a:solidFill>
                                <a:latin typeface="Cambria Math" panose="02040503050406030204" pitchFamily="18" charset="0"/>
                                <a:ea typeface="Cambria Math" panose="02040503050406030204" pitchFamily="18" charset="0"/>
                              </a:rPr>
                              <m:t>text</m:t>
                            </m:r>
                          </m:e>
                        </m:eqArr>
                      </m:e>
                    </m:d>
                  </m:oMath>
                </a14:m>
                <a:endParaRPr lang="en-US" altLang="zh-CN" sz="2400" dirty="0">
                  <a:solidFill>
                    <a:schemeClr val="bg1"/>
                  </a:solidFill>
                  <a:ea typeface="Gulim" panose="020B0600000101010101" pitchFamily="34" charset="-127"/>
                </a:endParaRPr>
              </a:p>
            </p:txBody>
          </p:sp>
        </mc:Choice>
        <mc:Fallback xmlns="">
          <p:sp>
            <p:nvSpPr>
              <p:cNvPr id="73" name="矩形 72"/>
              <p:cNvSpPr>
                <a:spLocks noRot="1" noChangeAspect="1" noMove="1" noResize="1" noEditPoints="1" noAdjustHandles="1" noChangeArrowheads="1" noChangeShapeType="1" noTextEdit="1"/>
              </p:cNvSpPr>
              <p:nvPr/>
            </p:nvSpPr>
            <p:spPr>
              <a:xfrm>
                <a:off x="882641" y="3923656"/>
                <a:ext cx="10413012" cy="2024144"/>
              </a:xfrm>
              <a:prstGeom prst="rect">
                <a:avLst/>
              </a:prstGeom>
              <a:blipFill>
                <a:blip r:embed="rId4"/>
                <a:stretch>
                  <a:fillRect l="-937" t="-2410"/>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51F08531-DB3D-F17C-AFCC-547179F9FB84}"/>
              </a:ext>
            </a:extLst>
          </p:cNvPr>
          <p:cNvSpPr/>
          <p:nvPr/>
        </p:nvSpPr>
        <p:spPr>
          <a:xfrm>
            <a:off x="1156136" y="335115"/>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Experiment</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cxnSp>
        <p:nvCxnSpPr>
          <p:cNvPr id="3" name="直接连接符 2">
            <a:extLst>
              <a:ext uri="{FF2B5EF4-FFF2-40B4-BE49-F238E27FC236}">
                <a16:creationId xmlns:a16="http://schemas.microsoft.com/office/drawing/2014/main" id="{4E6A8E8F-DEEE-A2AE-FCA6-CEB43687673B}"/>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等腰三角形 3">
            <a:extLst>
              <a:ext uri="{FF2B5EF4-FFF2-40B4-BE49-F238E27FC236}">
                <a16:creationId xmlns:a16="http://schemas.microsoft.com/office/drawing/2014/main" id="{CD972C1A-D870-8B54-BC7C-415639252322}"/>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DC2AE128-F0E8-1FA4-DE96-D15164F4564A}"/>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3</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spTree>
    <p:extLst>
      <p:ext uri="{BB962C8B-B14F-4D97-AF65-F5344CB8AC3E}">
        <p14:creationId xmlns:p14="http://schemas.microsoft.com/office/powerpoint/2010/main" val="2723797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51F52-A035-97FA-73CF-611F19AEB994}"/>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D8DBEE86-CB78-348C-997B-3F1A6EB8F697}"/>
              </a:ext>
            </a:extLst>
          </p:cNvPr>
          <p:cNvSpPr/>
          <p:nvPr/>
        </p:nvSpPr>
        <p:spPr>
          <a:xfrm>
            <a:off x="1156135" y="335115"/>
            <a:ext cx="2190179"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Experiment</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cxnSp>
        <p:nvCxnSpPr>
          <p:cNvPr id="3" name="直接连接符 2">
            <a:extLst>
              <a:ext uri="{FF2B5EF4-FFF2-40B4-BE49-F238E27FC236}">
                <a16:creationId xmlns:a16="http://schemas.microsoft.com/office/drawing/2014/main" id="{B4997FF5-7A09-E92A-408A-C5DAA0E353FB}"/>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等腰三角形 3">
            <a:extLst>
              <a:ext uri="{FF2B5EF4-FFF2-40B4-BE49-F238E27FC236}">
                <a16:creationId xmlns:a16="http://schemas.microsoft.com/office/drawing/2014/main" id="{A9EDA20C-8AAA-5810-AE51-9BC8B6963C8E}"/>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C2DD1CDB-CFC8-2BFD-BFED-3A84A123494E}"/>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3</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pic>
        <p:nvPicPr>
          <p:cNvPr id="6" name="图片 5">
            <a:extLst>
              <a:ext uri="{FF2B5EF4-FFF2-40B4-BE49-F238E27FC236}">
                <a16:creationId xmlns:a16="http://schemas.microsoft.com/office/drawing/2014/main" id="{677F546B-68C6-F312-3F64-D52C052765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1803" y="1086000"/>
            <a:ext cx="8952734" cy="2580206"/>
          </a:xfrm>
          <a:prstGeom prst="rect">
            <a:avLst/>
          </a:prstGeom>
        </p:spPr>
      </p:pic>
      <p:pic>
        <p:nvPicPr>
          <p:cNvPr id="8" name="图片 7">
            <a:extLst>
              <a:ext uri="{FF2B5EF4-FFF2-40B4-BE49-F238E27FC236}">
                <a16:creationId xmlns:a16="http://schemas.microsoft.com/office/drawing/2014/main" id="{FD750A81-B5DE-00D7-7221-4C54BFFB3B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51803" y="3783301"/>
            <a:ext cx="8952734" cy="2739584"/>
          </a:xfrm>
          <a:prstGeom prst="rect">
            <a:avLst/>
          </a:prstGeom>
        </p:spPr>
      </p:pic>
      <p:sp>
        <p:nvSpPr>
          <p:cNvPr id="10" name="文本框 9">
            <a:extLst>
              <a:ext uri="{FF2B5EF4-FFF2-40B4-BE49-F238E27FC236}">
                <a16:creationId xmlns:a16="http://schemas.microsoft.com/office/drawing/2014/main" id="{B7E2828B-D49C-8C66-3177-2F12BF529B3A}"/>
              </a:ext>
            </a:extLst>
          </p:cNvPr>
          <p:cNvSpPr txBox="1"/>
          <p:nvPr/>
        </p:nvSpPr>
        <p:spPr>
          <a:xfrm>
            <a:off x="6621293" y="1113383"/>
            <a:ext cx="622571" cy="2525439"/>
          </a:xfrm>
          <a:prstGeom prst="rect">
            <a:avLst/>
          </a:prstGeom>
          <a:noFill/>
          <a:ln w="38100">
            <a:solidFill>
              <a:srgbClr val="FF0000"/>
            </a:solidFill>
          </a:ln>
        </p:spPr>
        <p:txBody>
          <a:bodyPr wrap="square" rtlCol="0">
            <a:spAutoFit/>
          </a:bodyPr>
          <a:lstStyle/>
          <a:p>
            <a:endParaRPr lang="zh-CN" altLang="en-US" dirty="0"/>
          </a:p>
        </p:txBody>
      </p:sp>
      <p:sp>
        <p:nvSpPr>
          <p:cNvPr id="11" name="文本框 10">
            <a:extLst>
              <a:ext uri="{FF2B5EF4-FFF2-40B4-BE49-F238E27FC236}">
                <a16:creationId xmlns:a16="http://schemas.microsoft.com/office/drawing/2014/main" id="{2B430100-8B1F-050C-49F5-25D5F6025895}"/>
              </a:ext>
            </a:extLst>
          </p:cNvPr>
          <p:cNvSpPr txBox="1"/>
          <p:nvPr/>
        </p:nvSpPr>
        <p:spPr>
          <a:xfrm>
            <a:off x="7328170" y="1113382"/>
            <a:ext cx="560961" cy="2525439"/>
          </a:xfrm>
          <a:prstGeom prst="rect">
            <a:avLst/>
          </a:prstGeom>
          <a:noFill/>
          <a:ln w="38100">
            <a:solidFill>
              <a:srgbClr val="FF0000"/>
            </a:solidFill>
          </a:ln>
        </p:spPr>
        <p:txBody>
          <a:bodyPr wrap="square" rtlCol="0">
            <a:spAutoFit/>
          </a:bodyPr>
          <a:lstStyle/>
          <a:p>
            <a:endParaRPr lang="zh-CN" altLang="en-US" dirty="0"/>
          </a:p>
        </p:txBody>
      </p:sp>
      <p:sp>
        <p:nvSpPr>
          <p:cNvPr id="13" name="文本框 12">
            <a:extLst>
              <a:ext uri="{FF2B5EF4-FFF2-40B4-BE49-F238E27FC236}">
                <a16:creationId xmlns:a16="http://schemas.microsoft.com/office/drawing/2014/main" id="{B3F89AC4-5FF5-8642-562B-843B189AD979}"/>
              </a:ext>
            </a:extLst>
          </p:cNvPr>
          <p:cNvSpPr txBox="1"/>
          <p:nvPr/>
        </p:nvSpPr>
        <p:spPr>
          <a:xfrm>
            <a:off x="3952672" y="1113382"/>
            <a:ext cx="749030" cy="2525439"/>
          </a:xfrm>
          <a:prstGeom prst="rect">
            <a:avLst/>
          </a:prstGeom>
          <a:noFill/>
          <a:ln w="38100">
            <a:solidFill>
              <a:srgbClr val="FF0000"/>
            </a:solidFill>
          </a:ln>
        </p:spPr>
        <p:txBody>
          <a:bodyPr wrap="square" rtlCol="0">
            <a:spAutoFit/>
          </a:bodyPr>
          <a:lstStyle/>
          <a:p>
            <a:endParaRPr lang="zh-CN" altLang="en-US" dirty="0"/>
          </a:p>
        </p:txBody>
      </p:sp>
      <p:sp>
        <p:nvSpPr>
          <p:cNvPr id="15" name="矩形 14">
            <a:extLst>
              <a:ext uri="{FF2B5EF4-FFF2-40B4-BE49-F238E27FC236}">
                <a16:creationId xmlns:a16="http://schemas.microsoft.com/office/drawing/2014/main" id="{3B87E606-85E8-16CF-703D-D0A70E390FA1}"/>
              </a:ext>
            </a:extLst>
          </p:cNvPr>
          <p:cNvSpPr/>
          <p:nvPr/>
        </p:nvSpPr>
        <p:spPr>
          <a:xfrm>
            <a:off x="7386536" y="3783301"/>
            <a:ext cx="2360579" cy="273958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D719FE0B-CE68-EFEC-E1E3-866FE80F0F87}"/>
              </a:ext>
            </a:extLst>
          </p:cNvPr>
          <p:cNvSpPr/>
          <p:nvPr/>
        </p:nvSpPr>
        <p:spPr>
          <a:xfrm>
            <a:off x="291056" y="1837492"/>
            <a:ext cx="2560747" cy="800219"/>
          </a:xfrm>
          <a:prstGeom prst="rect">
            <a:avLst/>
          </a:prstGeom>
        </p:spPr>
        <p:txBody>
          <a:bodyPr wrap="square">
            <a:spAutoFit/>
          </a:bodyPr>
          <a:lstStyle/>
          <a:p>
            <a:pPr lvl="0"/>
            <a:r>
              <a:rPr lang="en-US" altLang="zh-CN" sz="2800" b="1" dirty="0">
                <a:solidFill>
                  <a:schemeClr val="bg1">
                    <a:lumMod val="95000"/>
                  </a:schemeClr>
                </a:solidFill>
                <a:latin typeface="Gulim" panose="020B0600000101010101" pitchFamily="34" charset="-127"/>
                <a:ea typeface="Gulim" panose="020B0600000101010101" pitchFamily="34" charset="-127"/>
              </a:rPr>
              <a:t>CCC</a:t>
            </a:r>
            <a:r>
              <a:rPr lang="zh-CN" altLang="en-US" sz="2800" b="1" dirty="0">
                <a:solidFill>
                  <a:schemeClr val="bg1">
                    <a:lumMod val="95000"/>
                  </a:schemeClr>
                </a:solidFill>
                <a:latin typeface="Gulim" panose="020B0600000101010101" pitchFamily="34" charset="-127"/>
                <a:ea typeface="Gulim" panose="020B0600000101010101" pitchFamily="34" charset="-127"/>
              </a:rPr>
              <a:t>：</a:t>
            </a:r>
            <a:endParaRPr lang="en-US" altLang="zh-CN" b="1" dirty="0">
              <a:solidFill>
                <a:schemeClr val="bg1">
                  <a:lumMod val="95000"/>
                </a:schemeClr>
              </a:solidFill>
              <a:latin typeface="Gulim" panose="020B0600000101010101" pitchFamily="34" charset="-127"/>
              <a:ea typeface="Gulim" panose="020B0600000101010101" pitchFamily="34" charset="-127"/>
            </a:endParaRPr>
          </a:p>
          <a:p>
            <a:pPr lvl="0"/>
            <a:r>
              <a:rPr lang="en-US" altLang="zh-CN" b="1" dirty="0">
                <a:solidFill>
                  <a:schemeClr val="bg1">
                    <a:lumMod val="95000"/>
                  </a:schemeClr>
                </a:solidFill>
                <a:latin typeface="Gulim" panose="020B0600000101010101" pitchFamily="34" charset="-127"/>
                <a:ea typeface="Gulim" panose="020B0600000101010101" pitchFamily="34" charset="-127"/>
              </a:rPr>
              <a:t>(</a:t>
            </a:r>
            <a:r>
              <a:rPr lang="en-US" altLang="zh-CN" b="1" dirty="0" err="1">
                <a:solidFill>
                  <a:schemeClr val="bg1">
                    <a:lumMod val="95000"/>
                  </a:schemeClr>
                </a:solidFill>
                <a:latin typeface="Gulim" panose="020B0600000101010101" pitchFamily="34" charset="-127"/>
                <a:ea typeface="Gulim" panose="020B0600000101010101" pitchFamily="34" charset="-127"/>
              </a:rPr>
              <a:t>country_capital_city</a:t>
            </a:r>
            <a:r>
              <a:rPr lang="en-US" altLang="zh-CN" b="1" dirty="0">
                <a:solidFill>
                  <a:schemeClr val="bg1">
                    <a:lumMod val="95000"/>
                  </a:schemeClr>
                </a:solidFill>
                <a:latin typeface="Gulim" panose="020B0600000101010101" pitchFamily="34" charset="-127"/>
                <a:ea typeface="Gulim" panose="020B0600000101010101" pitchFamily="34" charset="-127"/>
              </a:rPr>
              <a:t>)</a:t>
            </a:r>
            <a:endParaRPr lang="zh-CN" altLang="en-US" sz="1600" b="1" dirty="0">
              <a:solidFill>
                <a:schemeClr val="bg1">
                  <a:lumMod val="95000"/>
                </a:schemeClr>
              </a:solidFill>
              <a:latin typeface="Gulim" panose="020B0600000101010101" pitchFamily="34" charset="-127"/>
              <a:ea typeface="Gulim" panose="020B0600000101010101" pitchFamily="34" charset="-127"/>
            </a:endParaRPr>
          </a:p>
        </p:txBody>
      </p:sp>
    </p:spTree>
    <p:extLst>
      <p:ext uri="{BB962C8B-B14F-4D97-AF65-F5344CB8AC3E}">
        <p14:creationId xmlns:p14="http://schemas.microsoft.com/office/powerpoint/2010/main" val="1598630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425E2-8E40-1004-6F8D-B1B8ED66476E}"/>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55C754F2-8F19-4F8B-08DC-60B50180E271}"/>
              </a:ext>
            </a:extLst>
          </p:cNvPr>
          <p:cNvSpPr/>
          <p:nvPr/>
        </p:nvSpPr>
        <p:spPr>
          <a:xfrm>
            <a:off x="1156136" y="335115"/>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Multi-Layer Patching</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cxnSp>
        <p:nvCxnSpPr>
          <p:cNvPr id="3" name="直接连接符 2">
            <a:extLst>
              <a:ext uri="{FF2B5EF4-FFF2-40B4-BE49-F238E27FC236}">
                <a16:creationId xmlns:a16="http://schemas.microsoft.com/office/drawing/2014/main" id="{918B39FE-BF57-A8C3-D6D9-B93499DD5601}"/>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等腰三角形 3">
            <a:extLst>
              <a:ext uri="{FF2B5EF4-FFF2-40B4-BE49-F238E27FC236}">
                <a16:creationId xmlns:a16="http://schemas.microsoft.com/office/drawing/2014/main" id="{13A7BD12-8E51-B477-B769-FB7F9A37621B}"/>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DC4DD32B-B121-71B6-83EE-BF515B4D0A54}"/>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3</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graphicFrame>
        <p:nvGraphicFramePr>
          <p:cNvPr id="2" name="表格 1">
            <a:extLst>
              <a:ext uri="{FF2B5EF4-FFF2-40B4-BE49-F238E27FC236}">
                <a16:creationId xmlns:a16="http://schemas.microsoft.com/office/drawing/2014/main" id="{B2A4A5D3-97D7-CA4F-F7DB-6F5A6A4130BE}"/>
              </a:ext>
            </a:extLst>
          </p:cNvPr>
          <p:cNvGraphicFramePr>
            <a:graphicFrameLocks noGrp="1"/>
          </p:cNvGraphicFramePr>
          <p:nvPr>
            <p:extLst>
              <p:ext uri="{D42A27DB-BD31-4B8C-83A1-F6EECF244321}">
                <p14:modId xmlns:p14="http://schemas.microsoft.com/office/powerpoint/2010/main" val="3159125410"/>
              </p:ext>
            </p:extLst>
          </p:nvPr>
        </p:nvGraphicFramePr>
        <p:xfrm>
          <a:off x="4847573" y="335114"/>
          <a:ext cx="7114780" cy="6201672"/>
        </p:xfrm>
        <a:graphic>
          <a:graphicData uri="http://schemas.openxmlformats.org/drawingml/2006/table">
            <a:tbl>
              <a:tblPr firstRow="1" bandRow="1">
                <a:tableStyleId>{69012ECD-51FC-41F1-AA8D-1B2483CD663E}</a:tableStyleId>
              </a:tblPr>
              <a:tblGrid>
                <a:gridCol w="685591">
                  <a:extLst>
                    <a:ext uri="{9D8B030D-6E8A-4147-A177-3AD203B41FA5}">
                      <a16:colId xmlns:a16="http://schemas.microsoft.com/office/drawing/2014/main" val="3547687059"/>
                    </a:ext>
                  </a:extLst>
                </a:gridCol>
                <a:gridCol w="918911">
                  <a:extLst>
                    <a:ext uri="{9D8B030D-6E8A-4147-A177-3AD203B41FA5}">
                      <a16:colId xmlns:a16="http://schemas.microsoft.com/office/drawing/2014/main" val="4128663310"/>
                    </a:ext>
                  </a:extLst>
                </a:gridCol>
                <a:gridCol w="5510278">
                  <a:extLst>
                    <a:ext uri="{9D8B030D-6E8A-4147-A177-3AD203B41FA5}">
                      <a16:colId xmlns:a16="http://schemas.microsoft.com/office/drawing/2014/main" val="1036777426"/>
                    </a:ext>
                  </a:extLst>
                </a:gridCol>
              </a:tblGrid>
              <a:tr h="523569">
                <a:tc>
                  <a:txBody>
                    <a:bodyPr/>
                    <a:lstStyle/>
                    <a:p>
                      <a:pPr algn="l"/>
                      <a:r>
                        <a:rPr lang="en-US" altLang="zh-CN" sz="1400" dirty="0"/>
                        <a:t>Source Layer</a:t>
                      </a:r>
                      <a:endParaRPr lang="zh-CN" altLang="en-US" sz="1400" dirty="0"/>
                    </a:p>
                  </a:txBody>
                  <a:tcPr anchor="ctr">
                    <a:solidFill>
                      <a:schemeClr val="accent1"/>
                    </a:solidFill>
                  </a:tcPr>
                </a:tc>
                <a:tc>
                  <a:txBody>
                    <a:bodyPr/>
                    <a:lstStyle/>
                    <a:p>
                      <a:pPr algn="l"/>
                      <a:r>
                        <a:rPr lang="en-US" altLang="zh-CN" sz="1400" dirty="0"/>
                        <a:t>Evaluator Score</a:t>
                      </a:r>
                      <a:endParaRPr lang="zh-CN" altLang="en-US" sz="1400" dirty="0"/>
                    </a:p>
                  </a:txBody>
                  <a:tcPr anchor="ctr">
                    <a:solidFill>
                      <a:schemeClr val="accent1"/>
                    </a:solidFill>
                  </a:tcPr>
                </a:tc>
                <a:tc>
                  <a:txBody>
                    <a:bodyPr/>
                    <a:lstStyle/>
                    <a:p>
                      <a:pPr algn="l"/>
                      <a:r>
                        <a:rPr lang="en-US" altLang="zh-CN" dirty="0"/>
                        <a:t>Generation</a:t>
                      </a:r>
                      <a:endParaRPr lang="zh-CN" altLang="en-US" dirty="0"/>
                    </a:p>
                  </a:txBody>
                  <a:tcPr anchor="ctr">
                    <a:solidFill>
                      <a:schemeClr val="accent1"/>
                    </a:solidFill>
                  </a:tcPr>
                </a:tc>
                <a:extLst>
                  <a:ext uri="{0D108BD9-81ED-4DB2-BD59-A6C34878D82A}">
                    <a16:rowId xmlns:a16="http://schemas.microsoft.com/office/drawing/2014/main" val="611891539"/>
                  </a:ext>
                </a:extLst>
              </a:tr>
              <a:tr h="458751">
                <a:tc>
                  <a:txBody>
                    <a:bodyPr/>
                    <a:lstStyle/>
                    <a:p>
                      <a:pPr algn="ctr"/>
                      <a:r>
                        <a:rPr lang="en-US" altLang="zh-CN" sz="1400" dirty="0">
                          <a:solidFill>
                            <a:schemeClr val="accent1">
                              <a:lumMod val="50000"/>
                            </a:schemeClr>
                          </a:solidFill>
                          <a:latin typeface="+mn-lt"/>
                          <a:ea typeface="Gulim" panose="020B0600000101010101" pitchFamily="34" charset="-127"/>
                        </a:rPr>
                        <a:t>0-2</a:t>
                      </a:r>
                      <a:endParaRPr lang="zh-CN" altLang="en-US" sz="1400" dirty="0">
                        <a:solidFill>
                          <a:schemeClr val="accent1">
                            <a:lumMod val="50000"/>
                          </a:schemeClr>
                        </a:solidFill>
                        <a:latin typeface="+mn-lt"/>
                        <a:ea typeface="Gulim" panose="020B0600000101010101" pitchFamily="34" charset="-127"/>
                      </a:endParaRPr>
                    </a:p>
                  </a:txBody>
                  <a:tcPr anchor="ctr">
                    <a:solidFill>
                      <a:schemeClr val="accent1">
                        <a:lumMod val="40000"/>
                        <a:lumOff val="60000"/>
                      </a:schemeClr>
                    </a:solidFill>
                  </a:tcPr>
                </a:tc>
                <a:tc>
                  <a:txBody>
                    <a:bodyPr/>
                    <a:lstStyle/>
                    <a:p>
                      <a:pPr algn="ctr"/>
                      <a:r>
                        <a:rPr lang="en-US" altLang="zh-CN" sz="1600" dirty="0">
                          <a:solidFill>
                            <a:schemeClr val="accent1">
                              <a:lumMod val="50000"/>
                            </a:schemeClr>
                          </a:solidFill>
                        </a:rPr>
                        <a:t>0</a:t>
                      </a:r>
                      <a:endParaRPr lang="zh-CN" altLang="en-US" sz="1600" dirty="0">
                        <a:solidFill>
                          <a:schemeClr val="accent1">
                            <a:lumMod val="50000"/>
                          </a:schemeClr>
                        </a:solidFill>
                      </a:endParaRPr>
                    </a:p>
                  </a:txBody>
                  <a:tcPr anchor="ctr">
                    <a:solidFill>
                      <a:schemeClr val="accent1">
                        <a:lumMod val="20000"/>
                        <a:lumOff val="80000"/>
                      </a:schemeClr>
                    </a:solidFill>
                  </a:tcPr>
                </a:tc>
                <a:tc>
                  <a:txBody>
                    <a:bodyPr/>
                    <a:lstStyle/>
                    <a:p>
                      <a:r>
                        <a:rPr lang="en-US" altLang="zh-CN" sz="1400" b="0" i="0" kern="1200" dirty="0">
                          <a:solidFill>
                            <a:schemeClr val="accent1">
                              <a:lumMod val="50000"/>
                            </a:schemeClr>
                          </a:solidFill>
                          <a:effectLst/>
                          <a:latin typeface="+mn-lt"/>
                          <a:ea typeface="+mn-ea"/>
                          <a:cs typeface="+mn-cs"/>
                        </a:rPr>
                        <a:t>The largest city in Spain , and the capital of the province of the same</a:t>
                      </a:r>
                      <a:endParaRPr lang="zh-CN" altLang="en-US" sz="1400" dirty="0">
                        <a:solidFill>
                          <a:schemeClr val="accent1">
                            <a:lumMod val="50000"/>
                          </a:schemeClr>
                        </a:solidFill>
                      </a:endParaRPr>
                    </a:p>
                  </a:txBody>
                  <a:tcPr>
                    <a:solidFill>
                      <a:schemeClr val="accent1">
                        <a:lumMod val="40000"/>
                        <a:lumOff val="60000"/>
                      </a:schemeClr>
                    </a:solidFill>
                  </a:tcPr>
                </a:tc>
                <a:extLst>
                  <a:ext uri="{0D108BD9-81ED-4DB2-BD59-A6C34878D82A}">
                    <a16:rowId xmlns:a16="http://schemas.microsoft.com/office/drawing/2014/main" val="1341228515"/>
                  </a:ext>
                </a:extLst>
              </a:tr>
              <a:tr h="458751">
                <a:tc>
                  <a:txBody>
                    <a:bodyPr/>
                    <a:lstStyle/>
                    <a:p>
                      <a:pPr algn="ctr"/>
                      <a:r>
                        <a:rPr lang="en-US" altLang="zh-CN" sz="1400" dirty="0">
                          <a:solidFill>
                            <a:schemeClr val="accent1">
                              <a:lumMod val="50000"/>
                            </a:schemeClr>
                          </a:solidFill>
                          <a:latin typeface="+mn-lt"/>
                        </a:rPr>
                        <a:t>1-3</a:t>
                      </a:r>
                      <a:endParaRPr lang="zh-CN" altLang="en-US" sz="1400" dirty="0">
                        <a:solidFill>
                          <a:schemeClr val="accent1">
                            <a:lumMod val="50000"/>
                          </a:schemeClr>
                        </a:solidFill>
                        <a:latin typeface="+mn-lt"/>
                      </a:endParaRPr>
                    </a:p>
                  </a:txBody>
                  <a:tcPr anchor="ctr">
                    <a:solidFill>
                      <a:schemeClr val="accent1">
                        <a:lumMod val="40000"/>
                        <a:lumOff val="60000"/>
                      </a:schemeClr>
                    </a:solidFill>
                  </a:tcPr>
                </a:tc>
                <a:tc>
                  <a:txBody>
                    <a:bodyPr/>
                    <a:lstStyle/>
                    <a:p>
                      <a:pPr algn="ctr"/>
                      <a:r>
                        <a:rPr lang="en-US" altLang="zh-CN" sz="1600" dirty="0">
                          <a:solidFill>
                            <a:schemeClr val="accent1">
                              <a:lumMod val="50000"/>
                            </a:schemeClr>
                          </a:solidFill>
                        </a:rPr>
                        <a:t>0</a:t>
                      </a:r>
                      <a:endParaRPr lang="zh-CN" altLang="en-US" sz="1600" dirty="0">
                        <a:solidFill>
                          <a:schemeClr val="accent1">
                            <a:lumMod val="50000"/>
                          </a:schemeClr>
                        </a:solidFill>
                      </a:endParaRPr>
                    </a:p>
                  </a:txBody>
                  <a:tcPr anchor="ctr">
                    <a:solidFill>
                      <a:schemeClr val="accent1">
                        <a:lumMod val="20000"/>
                        <a:lumOff val="80000"/>
                      </a:schemeClr>
                    </a:solidFill>
                  </a:tcPr>
                </a:tc>
                <a:tc>
                  <a:txBody>
                    <a:bodyPr/>
                    <a:lstStyle/>
                    <a:p>
                      <a:r>
                        <a:rPr lang="en-US" altLang="zh-CN" sz="1400" b="0" i="0" kern="1200" dirty="0">
                          <a:solidFill>
                            <a:schemeClr val="accent1">
                              <a:lumMod val="50000"/>
                            </a:schemeClr>
                          </a:solidFill>
                          <a:effectLst/>
                          <a:latin typeface="+mn-lt"/>
                          <a:ea typeface="+mn-ea"/>
                          <a:cs typeface="+mn-cs"/>
                        </a:rPr>
                        <a:t>The largest city in Spain , and the capital of the province of the same</a:t>
                      </a:r>
                      <a:endParaRPr lang="zh-CN" altLang="en-US" sz="1400" dirty="0">
                        <a:solidFill>
                          <a:schemeClr val="accent1">
                            <a:lumMod val="50000"/>
                          </a:schemeClr>
                        </a:solidFill>
                      </a:endParaRPr>
                    </a:p>
                  </a:txBody>
                  <a:tcPr>
                    <a:solidFill>
                      <a:schemeClr val="accent1">
                        <a:lumMod val="40000"/>
                        <a:lumOff val="60000"/>
                      </a:schemeClr>
                    </a:solidFill>
                  </a:tcPr>
                </a:tc>
                <a:extLst>
                  <a:ext uri="{0D108BD9-81ED-4DB2-BD59-A6C34878D82A}">
                    <a16:rowId xmlns:a16="http://schemas.microsoft.com/office/drawing/2014/main" val="1385096158"/>
                  </a:ext>
                </a:extLst>
              </a:tr>
              <a:tr h="458751">
                <a:tc>
                  <a:txBody>
                    <a:bodyPr/>
                    <a:lstStyle/>
                    <a:p>
                      <a:pPr algn="ctr"/>
                      <a:r>
                        <a:rPr lang="en-US" altLang="zh-CN" sz="1400" dirty="0">
                          <a:solidFill>
                            <a:schemeClr val="accent1">
                              <a:lumMod val="50000"/>
                            </a:schemeClr>
                          </a:solidFill>
                          <a:latin typeface="+mn-lt"/>
                        </a:rPr>
                        <a:t>2-4</a:t>
                      </a:r>
                      <a:endParaRPr lang="zh-CN" altLang="en-US" sz="1400" dirty="0">
                        <a:solidFill>
                          <a:schemeClr val="accent1">
                            <a:lumMod val="50000"/>
                          </a:schemeClr>
                        </a:solidFill>
                        <a:latin typeface="+mn-lt"/>
                      </a:endParaRPr>
                    </a:p>
                  </a:txBody>
                  <a:tcPr anchor="ctr">
                    <a:solidFill>
                      <a:schemeClr val="accent1">
                        <a:lumMod val="40000"/>
                        <a:lumOff val="60000"/>
                      </a:schemeClr>
                    </a:solidFill>
                  </a:tcPr>
                </a:tc>
                <a:tc>
                  <a:txBody>
                    <a:bodyPr/>
                    <a:lstStyle/>
                    <a:p>
                      <a:pPr algn="ctr"/>
                      <a:r>
                        <a:rPr lang="en-US" altLang="zh-CN" sz="1600" dirty="0">
                          <a:solidFill>
                            <a:schemeClr val="accent1">
                              <a:lumMod val="50000"/>
                            </a:schemeClr>
                          </a:solidFill>
                        </a:rPr>
                        <a:t>0</a:t>
                      </a:r>
                      <a:endParaRPr lang="zh-CN" altLang="en-US" sz="1600" dirty="0">
                        <a:solidFill>
                          <a:schemeClr val="accent1">
                            <a:lumMod val="50000"/>
                          </a:schemeClr>
                        </a:solidFill>
                      </a:endParaRPr>
                    </a:p>
                  </a:txBody>
                  <a:tcPr anchor="ctr">
                    <a:solidFill>
                      <a:schemeClr val="accent1">
                        <a:lumMod val="20000"/>
                        <a:lumOff val="80000"/>
                      </a:schemeClr>
                    </a:solidFill>
                  </a:tcPr>
                </a:tc>
                <a:tc>
                  <a:txBody>
                    <a:bodyPr/>
                    <a:lstStyle/>
                    <a:p>
                      <a:r>
                        <a:rPr lang="en-US" altLang="zh-CN" sz="1400" b="0" i="0" kern="1200" dirty="0">
                          <a:solidFill>
                            <a:schemeClr val="accent1">
                              <a:lumMod val="50000"/>
                            </a:schemeClr>
                          </a:solidFill>
                          <a:effectLst/>
                          <a:latin typeface="+mn-lt"/>
                          <a:ea typeface="+mn-ea"/>
                          <a:cs typeface="+mn-cs"/>
                        </a:rPr>
                        <a:t>Country in the United Kingdom</a:t>
                      </a:r>
                      <a:endParaRPr lang="zh-CN" altLang="en-US" sz="1400" dirty="0">
                        <a:solidFill>
                          <a:schemeClr val="accent1">
                            <a:lumMod val="50000"/>
                          </a:schemeClr>
                        </a:solidFill>
                      </a:endParaRPr>
                    </a:p>
                  </a:txBody>
                  <a:tcPr>
                    <a:solidFill>
                      <a:schemeClr val="accent1">
                        <a:lumMod val="40000"/>
                        <a:lumOff val="60000"/>
                      </a:schemeClr>
                    </a:solidFill>
                  </a:tcPr>
                </a:tc>
                <a:extLst>
                  <a:ext uri="{0D108BD9-81ED-4DB2-BD59-A6C34878D82A}">
                    <a16:rowId xmlns:a16="http://schemas.microsoft.com/office/drawing/2014/main" val="101867856"/>
                  </a:ext>
                </a:extLst>
              </a:tr>
              <a:tr h="444803">
                <a:tc>
                  <a:txBody>
                    <a:bodyPr/>
                    <a:lstStyle/>
                    <a:p>
                      <a:pPr algn="ctr"/>
                      <a:r>
                        <a:rPr lang="en-US" altLang="zh-CN" sz="1400" dirty="0">
                          <a:solidFill>
                            <a:schemeClr val="accent1">
                              <a:lumMod val="50000"/>
                            </a:schemeClr>
                          </a:solidFill>
                          <a:latin typeface="+mn-lt"/>
                        </a:rPr>
                        <a:t>3-5</a:t>
                      </a:r>
                      <a:endParaRPr lang="zh-CN" altLang="en-US" sz="1400" dirty="0">
                        <a:solidFill>
                          <a:schemeClr val="accent1">
                            <a:lumMod val="50000"/>
                          </a:schemeClr>
                        </a:solidFill>
                        <a:latin typeface="+mn-lt"/>
                      </a:endParaRPr>
                    </a:p>
                  </a:txBody>
                  <a:tcPr anchor="ctr">
                    <a:solidFill>
                      <a:schemeClr val="accent1">
                        <a:lumMod val="40000"/>
                        <a:lumOff val="60000"/>
                      </a:schemeClr>
                    </a:solidFill>
                  </a:tcPr>
                </a:tc>
                <a:tc>
                  <a:txBody>
                    <a:bodyPr/>
                    <a:lstStyle/>
                    <a:p>
                      <a:pPr algn="ctr"/>
                      <a:r>
                        <a:rPr lang="en-US" altLang="zh-CN" sz="1600" dirty="0">
                          <a:solidFill>
                            <a:schemeClr val="accent1">
                              <a:lumMod val="50000"/>
                            </a:schemeClr>
                          </a:solidFill>
                        </a:rPr>
                        <a:t>1</a:t>
                      </a:r>
                      <a:endParaRPr lang="zh-CN" altLang="en-US" sz="1600" dirty="0">
                        <a:solidFill>
                          <a:schemeClr val="accent1">
                            <a:lumMod val="50000"/>
                          </a:schemeClr>
                        </a:solidFill>
                      </a:endParaRPr>
                    </a:p>
                  </a:txBody>
                  <a:tcPr anchor="ctr">
                    <a:solidFill>
                      <a:schemeClr val="accent1">
                        <a:lumMod val="60000"/>
                        <a:lumOff val="40000"/>
                      </a:schemeClr>
                    </a:solidFill>
                  </a:tcPr>
                </a:tc>
                <a:tc>
                  <a:txBody>
                    <a:bodyPr/>
                    <a:lstStyle/>
                    <a:p>
                      <a:r>
                        <a:rPr lang="en-US" altLang="zh-CN" sz="1400" b="0" i="0" kern="1200" dirty="0">
                          <a:solidFill>
                            <a:schemeClr val="accent1">
                              <a:lumMod val="50000"/>
                            </a:schemeClr>
                          </a:solidFill>
                          <a:effectLst/>
                          <a:latin typeface="+mn-lt"/>
                          <a:ea typeface="+mn-ea"/>
                          <a:cs typeface="+mn-cs"/>
                        </a:rPr>
                        <a:t>The largest city in Spain , </a:t>
                      </a:r>
                      <a:r>
                        <a:rPr lang="en-US" altLang="zh-CN" sz="1400" b="0" i="0" kern="1200" dirty="0">
                          <a:solidFill>
                            <a:srgbClr val="FF0000"/>
                          </a:solidFill>
                          <a:effectLst/>
                          <a:latin typeface="+mn-lt"/>
                          <a:ea typeface="+mn-ea"/>
                          <a:cs typeface="+mn-cs"/>
                        </a:rPr>
                        <a:t>Madrid</a:t>
                      </a:r>
                      <a:r>
                        <a:rPr lang="en-US" altLang="zh-CN" sz="1400" b="0" i="0" kern="1200" dirty="0">
                          <a:solidFill>
                            <a:schemeClr val="accent1">
                              <a:lumMod val="50000"/>
                            </a:schemeClr>
                          </a:solidFill>
                          <a:effectLst/>
                          <a:latin typeface="+mn-lt"/>
                          <a:ea typeface="+mn-ea"/>
                          <a:cs typeface="+mn-cs"/>
                        </a:rPr>
                        <a:t> is a cultural and economic powerhouse . It</a:t>
                      </a:r>
                      <a:endParaRPr lang="zh-CN" altLang="en-US" sz="1400" dirty="0">
                        <a:solidFill>
                          <a:schemeClr val="accent1">
                            <a:lumMod val="50000"/>
                          </a:schemeClr>
                        </a:solidFill>
                      </a:endParaRPr>
                    </a:p>
                  </a:txBody>
                  <a:tcPr>
                    <a:solidFill>
                      <a:schemeClr val="accent1">
                        <a:lumMod val="40000"/>
                        <a:lumOff val="60000"/>
                      </a:schemeClr>
                    </a:solidFill>
                  </a:tcPr>
                </a:tc>
                <a:extLst>
                  <a:ext uri="{0D108BD9-81ED-4DB2-BD59-A6C34878D82A}">
                    <a16:rowId xmlns:a16="http://schemas.microsoft.com/office/drawing/2014/main" val="1285347894"/>
                  </a:ext>
                </a:extLst>
              </a:tr>
              <a:tr h="630615">
                <a:tc>
                  <a:txBody>
                    <a:bodyPr/>
                    <a:lstStyle/>
                    <a:p>
                      <a:pPr algn="ctr"/>
                      <a:r>
                        <a:rPr lang="en-US" altLang="zh-CN" sz="1400" dirty="0">
                          <a:solidFill>
                            <a:schemeClr val="accent1">
                              <a:lumMod val="50000"/>
                            </a:schemeClr>
                          </a:solidFill>
                          <a:latin typeface="+mn-lt"/>
                        </a:rPr>
                        <a:t>4-6</a:t>
                      </a:r>
                      <a:endParaRPr lang="zh-CN" altLang="en-US" sz="1400" dirty="0">
                        <a:solidFill>
                          <a:schemeClr val="accent1">
                            <a:lumMod val="50000"/>
                          </a:schemeClr>
                        </a:solidFill>
                        <a:latin typeface="+mn-lt"/>
                      </a:endParaRPr>
                    </a:p>
                  </a:txBody>
                  <a:tcPr anchor="ctr">
                    <a:solidFill>
                      <a:schemeClr val="accent1">
                        <a:lumMod val="40000"/>
                        <a:lumOff val="60000"/>
                      </a:schemeClr>
                    </a:solidFill>
                  </a:tcPr>
                </a:tc>
                <a:tc>
                  <a:txBody>
                    <a:bodyPr/>
                    <a:lstStyle/>
                    <a:p>
                      <a:pPr algn="ctr"/>
                      <a:r>
                        <a:rPr lang="en-US" altLang="zh-CN" sz="1600" dirty="0">
                          <a:solidFill>
                            <a:schemeClr val="accent1">
                              <a:lumMod val="50000"/>
                            </a:schemeClr>
                          </a:solidFill>
                        </a:rPr>
                        <a:t>1</a:t>
                      </a:r>
                      <a:endParaRPr lang="zh-CN" altLang="en-US" sz="1600" dirty="0">
                        <a:solidFill>
                          <a:schemeClr val="accent1">
                            <a:lumMod val="50000"/>
                          </a:schemeClr>
                        </a:solidFill>
                      </a:endParaRPr>
                    </a:p>
                  </a:txBody>
                  <a:tcPr anchor="ctr">
                    <a:solidFill>
                      <a:schemeClr val="accent1">
                        <a:lumMod val="60000"/>
                        <a:lumOff val="40000"/>
                      </a:schemeClr>
                    </a:solidFill>
                  </a:tcPr>
                </a:tc>
                <a:tc>
                  <a:txBody>
                    <a:bodyPr/>
                    <a:lstStyle/>
                    <a:p>
                      <a:r>
                        <a:rPr lang="en-US" altLang="zh-CN" sz="1400" b="0" i="0" kern="1200" dirty="0">
                          <a:solidFill>
                            <a:schemeClr val="accent1">
                              <a:lumMod val="50000"/>
                            </a:schemeClr>
                          </a:solidFill>
                          <a:effectLst/>
                          <a:latin typeface="+mn-lt"/>
                          <a:ea typeface="+mn-ea"/>
                          <a:cs typeface="+mn-cs"/>
                        </a:rPr>
                        <a:t>The largest city in Spain , </a:t>
                      </a:r>
                      <a:r>
                        <a:rPr lang="en-US" altLang="zh-CN" sz="1400" b="0" i="0" kern="1200" dirty="0">
                          <a:solidFill>
                            <a:srgbClr val="FF0000"/>
                          </a:solidFill>
                          <a:effectLst/>
                          <a:latin typeface="+mn-lt"/>
                          <a:ea typeface="+mn-ea"/>
                          <a:cs typeface="+mn-cs"/>
                        </a:rPr>
                        <a:t>Madrid</a:t>
                      </a:r>
                      <a:r>
                        <a:rPr lang="en-US" altLang="zh-CN" sz="1400" b="0" i="0" kern="1200" dirty="0">
                          <a:solidFill>
                            <a:schemeClr val="accent1">
                              <a:lumMod val="50000"/>
                            </a:schemeClr>
                          </a:solidFill>
                          <a:effectLst/>
                          <a:latin typeface="+mn-lt"/>
                          <a:ea typeface="+mn-ea"/>
                          <a:cs typeface="+mn-cs"/>
                        </a:rPr>
                        <a:t> is a vibrant , cos </a:t>
                      </a:r>
                      <a:r>
                        <a:rPr lang="en-US" altLang="zh-CN" sz="1400" b="0" i="0" kern="1200" dirty="0" err="1">
                          <a:solidFill>
                            <a:schemeClr val="accent1">
                              <a:lumMod val="50000"/>
                            </a:schemeClr>
                          </a:solidFill>
                          <a:effectLst/>
                          <a:latin typeface="+mn-lt"/>
                          <a:ea typeface="+mn-ea"/>
                          <a:cs typeface="+mn-cs"/>
                        </a:rPr>
                        <a:t>mopolitan</a:t>
                      </a:r>
                      <a:r>
                        <a:rPr lang="en-US" altLang="zh-CN" sz="1400" b="0" i="0" kern="1200" dirty="0">
                          <a:solidFill>
                            <a:schemeClr val="accent1">
                              <a:lumMod val="50000"/>
                            </a:schemeClr>
                          </a:solidFill>
                          <a:effectLst/>
                          <a:latin typeface="+mn-lt"/>
                          <a:ea typeface="+mn-ea"/>
                          <a:cs typeface="+mn-cs"/>
                        </a:rPr>
                        <a:t> capital with</a:t>
                      </a:r>
                      <a:endParaRPr lang="zh-CN" altLang="en-US" sz="1400" dirty="0">
                        <a:solidFill>
                          <a:schemeClr val="accent1">
                            <a:lumMod val="50000"/>
                          </a:schemeClr>
                        </a:solidFill>
                      </a:endParaRPr>
                    </a:p>
                  </a:txBody>
                  <a:tcPr>
                    <a:solidFill>
                      <a:schemeClr val="accent1">
                        <a:lumMod val="40000"/>
                        <a:lumOff val="60000"/>
                      </a:schemeClr>
                    </a:solidFill>
                  </a:tcPr>
                </a:tc>
                <a:extLst>
                  <a:ext uri="{0D108BD9-81ED-4DB2-BD59-A6C34878D82A}">
                    <a16:rowId xmlns:a16="http://schemas.microsoft.com/office/drawing/2014/main" val="1198482923"/>
                  </a:ext>
                </a:extLst>
              </a:tr>
              <a:tr h="630615">
                <a:tc>
                  <a:txBody>
                    <a:bodyPr/>
                    <a:lstStyle/>
                    <a:p>
                      <a:pPr algn="ctr"/>
                      <a:r>
                        <a:rPr lang="en-US" altLang="zh-CN" sz="1400" dirty="0">
                          <a:solidFill>
                            <a:schemeClr val="accent1">
                              <a:lumMod val="50000"/>
                            </a:schemeClr>
                          </a:solidFill>
                          <a:latin typeface="+mn-lt"/>
                        </a:rPr>
                        <a:t>5-7</a:t>
                      </a:r>
                      <a:endParaRPr lang="zh-CN" altLang="en-US" sz="1400" dirty="0">
                        <a:solidFill>
                          <a:schemeClr val="accent1">
                            <a:lumMod val="50000"/>
                          </a:schemeClr>
                        </a:solidFill>
                        <a:latin typeface="+mn-lt"/>
                      </a:endParaRPr>
                    </a:p>
                  </a:txBody>
                  <a:tcPr anchor="ctr">
                    <a:solidFill>
                      <a:schemeClr val="accent1">
                        <a:lumMod val="40000"/>
                        <a:lumOff val="60000"/>
                      </a:schemeClr>
                    </a:solidFill>
                  </a:tcPr>
                </a:tc>
                <a:tc>
                  <a:txBody>
                    <a:bodyPr/>
                    <a:lstStyle/>
                    <a:p>
                      <a:pPr algn="ctr"/>
                      <a:r>
                        <a:rPr lang="en-US" altLang="zh-CN" sz="1600" dirty="0">
                          <a:solidFill>
                            <a:schemeClr val="accent1">
                              <a:lumMod val="50000"/>
                            </a:schemeClr>
                          </a:solidFill>
                        </a:rPr>
                        <a:t>1</a:t>
                      </a:r>
                      <a:endParaRPr lang="zh-CN" altLang="en-US" sz="1600" dirty="0">
                        <a:solidFill>
                          <a:schemeClr val="accent1">
                            <a:lumMod val="50000"/>
                          </a:schemeClr>
                        </a:solidFill>
                      </a:endParaRPr>
                    </a:p>
                  </a:txBody>
                  <a:tcPr anchor="ctr">
                    <a:solidFill>
                      <a:schemeClr val="accent1">
                        <a:lumMod val="60000"/>
                        <a:lumOff val="40000"/>
                      </a:schemeClr>
                    </a:solidFill>
                  </a:tcPr>
                </a:tc>
                <a:tc>
                  <a:txBody>
                    <a:bodyPr/>
                    <a:lstStyle/>
                    <a:p>
                      <a:r>
                        <a:rPr lang="en-US" altLang="zh-CN" sz="1400" b="0" i="0" kern="1200" dirty="0">
                          <a:solidFill>
                            <a:schemeClr val="accent1">
                              <a:lumMod val="50000"/>
                            </a:schemeClr>
                          </a:solidFill>
                          <a:effectLst/>
                          <a:latin typeface="+mn-lt"/>
                          <a:ea typeface="+mn-ea"/>
                          <a:cs typeface="+mn-cs"/>
                        </a:rPr>
                        <a:t>The largest city in Spain , </a:t>
                      </a:r>
                      <a:r>
                        <a:rPr lang="en-US" altLang="zh-CN" sz="1400" b="0" i="0" kern="1200" dirty="0">
                          <a:solidFill>
                            <a:srgbClr val="FF0000"/>
                          </a:solidFill>
                          <a:effectLst/>
                          <a:latin typeface="+mn-lt"/>
                          <a:ea typeface="+mn-ea"/>
                          <a:cs typeface="+mn-cs"/>
                        </a:rPr>
                        <a:t>Madrid</a:t>
                      </a:r>
                      <a:r>
                        <a:rPr lang="en-US" altLang="zh-CN" sz="1400" b="0" i="0" kern="1200" dirty="0">
                          <a:solidFill>
                            <a:schemeClr val="accent1">
                              <a:lumMod val="50000"/>
                            </a:schemeClr>
                          </a:solidFill>
                          <a:effectLst/>
                          <a:latin typeface="+mn-lt"/>
                          <a:ea typeface="+mn-ea"/>
                          <a:cs typeface="+mn-cs"/>
                        </a:rPr>
                        <a:t> is a vibrant , cos </a:t>
                      </a:r>
                      <a:r>
                        <a:rPr lang="en-US" altLang="zh-CN" sz="1400" b="0" i="0" kern="1200" dirty="0" err="1">
                          <a:solidFill>
                            <a:schemeClr val="accent1">
                              <a:lumMod val="50000"/>
                            </a:schemeClr>
                          </a:solidFill>
                          <a:effectLst/>
                          <a:latin typeface="+mn-lt"/>
                          <a:ea typeface="+mn-ea"/>
                          <a:cs typeface="+mn-cs"/>
                        </a:rPr>
                        <a:t>mopolitan</a:t>
                      </a:r>
                      <a:r>
                        <a:rPr lang="en-US" altLang="zh-CN" sz="1400" b="0" i="0" kern="1200" dirty="0">
                          <a:solidFill>
                            <a:schemeClr val="accent1">
                              <a:lumMod val="50000"/>
                            </a:schemeClr>
                          </a:solidFill>
                          <a:effectLst/>
                          <a:latin typeface="+mn-lt"/>
                          <a:ea typeface="+mn-ea"/>
                          <a:cs typeface="+mn-cs"/>
                        </a:rPr>
                        <a:t> capital with</a:t>
                      </a:r>
                      <a:endParaRPr lang="zh-CN" altLang="en-US" sz="1400" dirty="0">
                        <a:solidFill>
                          <a:schemeClr val="accent1">
                            <a:lumMod val="50000"/>
                          </a:schemeClr>
                        </a:solidFill>
                      </a:endParaRPr>
                    </a:p>
                  </a:txBody>
                  <a:tcPr>
                    <a:solidFill>
                      <a:schemeClr val="accent1">
                        <a:lumMod val="40000"/>
                        <a:lumOff val="60000"/>
                      </a:schemeClr>
                    </a:solidFill>
                  </a:tcPr>
                </a:tc>
                <a:extLst>
                  <a:ext uri="{0D108BD9-81ED-4DB2-BD59-A6C34878D82A}">
                    <a16:rowId xmlns:a16="http://schemas.microsoft.com/office/drawing/2014/main" val="2837273041"/>
                  </a:ext>
                </a:extLst>
              </a:tr>
              <a:tr h="630615">
                <a:tc>
                  <a:txBody>
                    <a:bodyPr/>
                    <a:lstStyle/>
                    <a:p>
                      <a:pPr algn="ctr"/>
                      <a:r>
                        <a:rPr lang="en-US" altLang="zh-CN" sz="1400" dirty="0">
                          <a:solidFill>
                            <a:schemeClr val="accent1">
                              <a:lumMod val="50000"/>
                            </a:schemeClr>
                          </a:solidFill>
                          <a:latin typeface="+mn-lt"/>
                        </a:rPr>
                        <a:t>6-8</a:t>
                      </a:r>
                      <a:endParaRPr lang="zh-CN" altLang="en-US" sz="1400" dirty="0">
                        <a:solidFill>
                          <a:schemeClr val="accent1">
                            <a:lumMod val="50000"/>
                          </a:schemeClr>
                        </a:solidFill>
                        <a:latin typeface="+mn-lt"/>
                      </a:endParaRPr>
                    </a:p>
                  </a:txBody>
                  <a:tcPr anchor="ctr">
                    <a:solidFill>
                      <a:schemeClr val="accent1">
                        <a:lumMod val="40000"/>
                        <a:lumOff val="60000"/>
                      </a:schemeClr>
                    </a:solidFill>
                  </a:tcPr>
                </a:tc>
                <a:tc>
                  <a:txBody>
                    <a:bodyPr/>
                    <a:lstStyle/>
                    <a:p>
                      <a:pPr algn="ctr"/>
                      <a:r>
                        <a:rPr lang="en-US" altLang="zh-CN" sz="1600" dirty="0">
                          <a:solidFill>
                            <a:schemeClr val="accent1">
                              <a:lumMod val="50000"/>
                            </a:schemeClr>
                          </a:solidFill>
                        </a:rPr>
                        <a:t>1</a:t>
                      </a:r>
                      <a:endParaRPr lang="zh-CN" altLang="en-US" sz="1600" dirty="0">
                        <a:solidFill>
                          <a:schemeClr val="accent1">
                            <a:lumMod val="50000"/>
                          </a:schemeClr>
                        </a:solidFill>
                      </a:endParaRPr>
                    </a:p>
                  </a:txBody>
                  <a:tcPr anchor="ctr">
                    <a:solidFill>
                      <a:schemeClr val="accent1">
                        <a:lumMod val="60000"/>
                        <a:lumOff val="40000"/>
                      </a:schemeClr>
                    </a:solidFill>
                  </a:tcPr>
                </a:tc>
                <a:tc>
                  <a:txBody>
                    <a:bodyPr/>
                    <a:lstStyle/>
                    <a:p>
                      <a:r>
                        <a:rPr lang="en-US" altLang="zh-CN" sz="1400" b="0" i="0" kern="1200" dirty="0">
                          <a:solidFill>
                            <a:schemeClr val="accent1">
                              <a:lumMod val="50000"/>
                            </a:schemeClr>
                          </a:solidFill>
                          <a:effectLst/>
                          <a:latin typeface="+mn-lt"/>
                          <a:ea typeface="+mn-ea"/>
                          <a:cs typeface="+mn-cs"/>
                        </a:rPr>
                        <a:t>The largest city in Spain , </a:t>
                      </a:r>
                      <a:r>
                        <a:rPr lang="en-US" altLang="zh-CN" sz="1400" b="0" i="0" kern="1200" dirty="0">
                          <a:solidFill>
                            <a:srgbClr val="FF0000"/>
                          </a:solidFill>
                          <a:effectLst/>
                          <a:latin typeface="+mn-lt"/>
                          <a:ea typeface="+mn-ea"/>
                          <a:cs typeface="+mn-cs"/>
                        </a:rPr>
                        <a:t>Madrid</a:t>
                      </a:r>
                      <a:r>
                        <a:rPr lang="en-US" altLang="zh-CN" sz="1400" b="0" i="0" kern="1200" dirty="0">
                          <a:solidFill>
                            <a:schemeClr val="accent1">
                              <a:lumMod val="50000"/>
                            </a:schemeClr>
                          </a:solidFill>
                          <a:effectLst/>
                          <a:latin typeface="+mn-lt"/>
                          <a:ea typeface="+mn-ea"/>
                          <a:cs typeface="+mn-cs"/>
                        </a:rPr>
                        <a:t> is a cultural and economic powerhouse . It</a:t>
                      </a:r>
                      <a:endParaRPr lang="zh-CN" altLang="en-US" sz="1400" dirty="0">
                        <a:solidFill>
                          <a:schemeClr val="accent1">
                            <a:lumMod val="50000"/>
                          </a:schemeClr>
                        </a:solidFill>
                      </a:endParaRPr>
                    </a:p>
                  </a:txBody>
                  <a:tcPr>
                    <a:solidFill>
                      <a:schemeClr val="accent1">
                        <a:lumMod val="40000"/>
                        <a:lumOff val="60000"/>
                      </a:schemeClr>
                    </a:solidFill>
                  </a:tcPr>
                </a:tc>
                <a:extLst>
                  <a:ext uri="{0D108BD9-81ED-4DB2-BD59-A6C34878D82A}">
                    <a16:rowId xmlns:a16="http://schemas.microsoft.com/office/drawing/2014/main" val="3057970433"/>
                  </a:ext>
                </a:extLst>
              </a:tr>
              <a:tr h="630615">
                <a:tc>
                  <a:txBody>
                    <a:bodyPr/>
                    <a:lstStyle/>
                    <a:p>
                      <a:pPr algn="ctr"/>
                      <a:r>
                        <a:rPr lang="en-US" altLang="zh-CN" sz="1400" dirty="0">
                          <a:solidFill>
                            <a:schemeClr val="accent1">
                              <a:lumMod val="50000"/>
                            </a:schemeClr>
                          </a:solidFill>
                          <a:latin typeface="+mn-lt"/>
                        </a:rPr>
                        <a:t>…</a:t>
                      </a:r>
                      <a:endParaRPr lang="zh-CN" altLang="en-US" sz="1400" dirty="0">
                        <a:solidFill>
                          <a:schemeClr val="accent1">
                            <a:lumMod val="50000"/>
                          </a:schemeClr>
                        </a:solidFill>
                        <a:latin typeface="+mn-lt"/>
                      </a:endParaRPr>
                    </a:p>
                  </a:txBody>
                  <a:tcPr anchor="ctr">
                    <a:solidFill>
                      <a:schemeClr val="accent1">
                        <a:lumMod val="40000"/>
                        <a:lumOff val="60000"/>
                      </a:schemeClr>
                    </a:solidFill>
                  </a:tcPr>
                </a:tc>
                <a:tc>
                  <a:txBody>
                    <a:bodyPr/>
                    <a:lstStyle/>
                    <a:p>
                      <a:pPr algn="ctr"/>
                      <a:endParaRPr lang="zh-CN" altLang="en-US" sz="1600" dirty="0">
                        <a:solidFill>
                          <a:schemeClr val="accent1">
                            <a:lumMod val="50000"/>
                          </a:schemeClr>
                        </a:solidFill>
                      </a:endParaRPr>
                    </a:p>
                  </a:txBody>
                  <a:tcPr anchor="ctr">
                    <a:solidFill>
                      <a:schemeClr val="accent1">
                        <a:lumMod val="20000"/>
                        <a:lumOff val="80000"/>
                      </a:schemeClr>
                    </a:solidFill>
                  </a:tcPr>
                </a:tc>
                <a:tc>
                  <a:txBody>
                    <a:bodyPr/>
                    <a:lstStyle/>
                    <a:p>
                      <a:r>
                        <a:rPr lang="en-US" altLang="zh-CN" sz="1400" b="0" i="0" kern="1200" dirty="0">
                          <a:solidFill>
                            <a:schemeClr val="accent1">
                              <a:lumMod val="50000"/>
                            </a:schemeClr>
                          </a:solidFill>
                          <a:effectLst/>
                          <a:latin typeface="+mn-lt"/>
                          <a:ea typeface="+mn-ea"/>
                          <a:cs typeface="+mn-cs"/>
                        </a:rPr>
                        <a:t>…</a:t>
                      </a:r>
                      <a:endParaRPr lang="zh-CN" altLang="en-US" sz="1400" dirty="0">
                        <a:solidFill>
                          <a:schemeClr val="accent1">
                            <a:lumMod val="50000"/>
                          </a:schemeClr>
                        </a:solidFill>
                      </a:endParaRPr>
                    </a:p>
                  </a:txBody>
                  <a:tcPr>
                    <a:solidFill>
                      <a:schemeClr val="accent1">
                        <a:lumMod val="40000"/>
                        <a:lumOff val="60000"/>
                      </a:schemeClr>
                    </a:solidFill>
                  </a:tcPr>
                </a:tc>
                <a:extLst>
                  <a:ext uri="{0D108BD9-81ED-4DB2-BD59-A6C34878D82A}">
                    <a16:rowId xmlns:a16="http://schemas.microsoft.com/office/drawing/2014/main" val="2148029366"/>
                  </a:ext>
                </a:extLst>
              </a:tr>
              <a:tr h="630615">
                <a:tc>
                  <a:txBody>
                    <a:bodyPr/>
                    <a:lstStyle/>
                    <a:p>
                      <a:pPr algn="ctr"/>
                      <a:r>
                        <a:rPr lang="en-US" altLang="zh-CN" sz="1400" dirty="0">
                          <a:solidFill>
                            <a:schemeClr val="accent1">
                              <a:lumMod val="50000"/>
                            </a:schemeClr>
                          </a:solidFill>
                          <a:latin typeface="+mn-lt"/>
                        </a:rPr>
                        <a:t>25-27</a:t>
                      </a:r>
                      <a:endParaRPr lang="zh-CN" altLang="en-US" sz="1400" dirty="0">
                        <a:solidFill>
                          <a:schemeClr val="accent1">
                            <a:lumMod val="50000"/>
                          </a:schemeClr>
                        </a:solidFill>
                        <a:latin typeface="+mn-lt"/>
                      </a:endParaRPr>
                    </a:p>
                  </a:txBody>
                  <a:tcPr anchor="ctr">
                    <a:solidFill>
                      <a:schemeClr val="accent1">
                        <a:lumMod val="40000"/>
                        <a:lumOff val="60000"/>
                      </a:schemeClr>
                    </a:solidFill>
                  </a:tcPr>
                </a:tc>
                <a:tc>
                  <a:txBody>
                    <a:bodyPr/>
                    <a:lstStyle/>
                    <a:p>
                      <a:pPr algn="ctr"/>
                      <a:r>
                        <a:rPr lang="en-US" altLang="zh-CN" sz="1600" dirty="0">
                          <a:solidFill>
                            <a:schemeClr val="accent1">
                              <a:lumMod val="50000"/>
                            </a:schemeClr>
                          </a:solidFill>
                        </a:rPr>
                        <a:t>0</a:t>
                      </a:r>
                      <a:endParaRPr lang="zh-CN" altLang="en-US" sz="1600" dirty="0">
                        <a:solidFill>
                          <a:schemeClr val="accent1">
                            <a:lumMod val="50000"/>
                          </a:schemeClr>
                        </a:solidFill>
                      </a:endParaRPr>
                    </a:p>
                  </a:txBody>
                  <a:tcPr anchor="ctr">
                    <a:solidFill>
                      <a:schemeClr val="accent1">
                        <a:lumMod val="20000"/>
                        <a:lumOff val="80000"/>
                      </a:schemeClr>
                    </a:solidFill>
                  </a:tcPr>
                </a:tc>
                <a:tc>
                  <a:txBody>
                    <a:bodyPr/>
                    <a:lstStyle/>
                    <a:p>
                      <a:r>
                        <a:rPr lang="en-US" altLang="zh-CN" sz="1400" b="0" i="0" kern="1200" dirty="0">
                          <a:solidFill>
                            <a:schemeClr val="accent1">
                              <a:lumMod val="50000"/>
                            </a:schemeClr>
                          </a:solidFill>
                          <a:effectLst/>
                          <a:latin typeface="+mn-lt"/>
                          <a:ea typeface="+mn-ea"/>
                          <a:cs typeface="+mn-cs"/>
                        </a:rPr>
                        <a:t>The largest city in Spain The largest city in The largest</a:t>
                      </a:r>
                      <a:endParaRPr lang="zh-CN" altLang="en-US" sz="1400" dirty="0">
                        <a:solidFill>
                          <a:schemeClr val="accent1">
                            <a:lumMod val="50000"/>
                          </a:schemeClr>
                        </a:solidFill>
                      </a:endParaRPr>
                    </a:p>
                  </a:txBody>
                  <a:tcPr>
                    <a:solidFill>
                      <a:schemeClr val="accent1">
                        <a:lumMod val="40000"/>
                        <a:lumOff val="60000"/>
                      </a:schemeClr>
                    </a:solidFill>
                  </a:tcPr>
                </a:tc>
                <a:extLst>
                  <a:ext uri="{0D108BD9-81ED-4DB2-BD59-A6C34878D82A}">
                    <a16:rowId xmlns:a16="http://schemas.microsoft.com/office/drawing/2014/main" val="3861932622"/>
                  </a:ext>
                </a:extLst>
              </a:tr>
              <a:tr h="630615">
                <a:tc>
                  <a:txBody>
                    <a:bodyPr/>
                    <a:lstStyle/>
                    <a:p>
                      <a:pPr algn="ctr"/>
                      <a:r>
                        <a:rPr lang="en-US" altLang="zh-CN" sz="1400" dirty="0">
                          <a:solidFill>
                            <a:schemeClr val="accent1">
                              <a:lumMod val="50000"/>
                            </a:schemeClr>
                          </a:solidFill>
                          <a:latin typeface="+mn-lt"/>
                        </a:rPr>
                        <a:t>26-28</a:t>
                      </a:r>
                      <a:endParaRPr lang="zh-CN" altLang="en-US" sz="1400" dirty="0">
                        <a:solidFill>
                          <a:schemeClr val="accent1">
                            <a:lumMod val="50000"/>
                          </a:schemeClr>
                        </a:solidFill>
                        <a:latin typeface="+mn-lt"/>
                      </a:endParaRPr>
                    </a:p>
                  </a:txBody>
                  <a:tcPr anchor="ctr">
                    <a:solidFill>
                      <a:schemeClr val="accent1">
                        <a:lumMod val="40000"/>
                        <a:lumOff val="60000"/>
                      </a:schemeClr>
                    </a:solidFill>
                  </a:tcPr>
                </a:tc>
                <a:tc>
                  <a:txBody>
                    <a:bodyPr/>
                    <a:lstStyle/>
                    <a:p>
                      <a:pPr algn="ctr"/>
                      <a:r>
                        <a:rPr lang="en-US" altLang="zh-CN" sz="1600" dirty="0">
                          <a:solidFill>
                            <a:schemeClr val="accent1">
                              <a:lumMod val="50000"/>
                            </a:schemeClr>
                          </a:solidFill>
                        </a:rPr>
                        <a:t>0</a:t>
                      </a:r>
                      <a:endParaRPr lang="zh-CN" altLang="en-US" sz="1600" dirty="0">
                        <a:solidFill>
                          <a:schemeClr val="accent1">
                            <a:lumMod val="50000"/>
                          </a:schemeClr>
                        </a:solidFill>
                      </a:endParaRPr>
                    </a:p>
                  </a:txBody>
                  <a:tcPr anchor="ctr">
                    <a:solidFill>
                      <a:schemeClr val="accent1">
                        <a:lumMod val="20000"/>
                        <a:lumOff val="80000"/>
                      </a:schemeClr>
                    </a:solidFill>
                  </a:tcPr>
                </a:tc>
                <a:tc>
                  <a:txBody>
                    <a:bodyPr/>
                    <a:lstStyle/>
                    <a:p>
                      <a:r>
                        <a:rPr lang="en-US" altLang="zh-CN" sz="1400" b="0" i="0" kern="1200" dirty="0">
                          <a:solidFill>
                            <a:schemeClr val="accent1">
                              <a:lumMod val="50000"/>
                            </a:schemeClr>
                          </a:solidFill>
                          <a:effectLst/>
                          <a:latin typeface="+mn-lt"/>
                          <a:ea typeface="+mn-ea"/>
                          <a:cs typeface="+mn-cs"/>
                        </a:rPr>
                        <a:t>The largest city in Spain The largest city in The largest</a:t>
                      </a:r>
                    </a:p>
                  </a:txBody>
                  <a:tcPr>
                    <a:solidFill>
                      <a:schemeClr val="accent1">
                        <a:lumMod val="40000"/>
                        <a:lumOff val="60000"/>
                      </a:schemeClr>
                    </a:solidFill>
                  </a:tcPr>
                </a:tc>
                <a:extLst>
                  <a:ext uri="{0D108BD9-81ED-4DB2-BD59-A6C34878D82A}">
                    <a16:rowId xmlns:a16="http://schemas.microsoft.com/office/drawing/2014/main" val="2300648930"/>
                  </a:ext>
                </a:extLst>
              </a:tr>
            </a:tbl>
          </a:graphicData>
        </a:graphic>
      </p:graphicFrame>
      <p:sp>
        <p:nvSpPr>
          <p:cNvPr id="6" name="矩形 5">
            <a:extLst>
              <a:ext uri="{FF2B5EF4-FFF2-40B4-BE49-F238E27FC236}">
                <a16:creationId xmlns:a16="http://schemas.microsoft.com/office/drawing/2014/main" id="{B3F87296-8C56-6010-6294-6F20A6718E57}"/>
              </a:ext>
            </a:extLst>
          </p:cNvPr>
          <p:cNvSpPr/>
          <p:nvPr/>
        </p:nvSpPr>
        <p:spPr>
          <a:xfrm>
            <a:off x="369526" y="1038068"/>
            <a:ext cx="3882006" cy="3183949"/>
          </a:xfrm>
          <a:prstGeom prst="rect">
            <a:avLst/>
          </a:prstGeom>
        </p:spPr>
        <p:txBody>
          <a:bodyPr wrap="square">
            <a:spAutoFit/>
          </a:bodyPr>
          <a:lstStyle/>
          <a:p>
            <a:pPr lvl="0">
              <a:lnSpc>
                <a:spcPct val="150000"/>
              </a:lnSpc>
            </a:pPr>
            <a:r>
              <a:rPr lang="en-US" altLang="zh-CN" sz="2800" b="1" dirty="0">
                <a:solidFill>
                  <a:schemeClr val="bg1">
                    <a:lumMod val="95000"/>
                  </a:schemeClr>
                </a:solidFill>
                <a:ea typeface="Gulim" panose="020B0600000101010101" pitchFamily="34" charset="-127"/>
              </a:rPr>
              <a:t>Source Prompt:</a:t>
            </a:r>
          </a:p>
          <a:p>
            <a:pPr lvl="0">
              <a:lnSpc>
                <a:spcPct val="150000"/>
              </a:lnSpc>
            </a:pPr>
            <a:r>
              <a:rPr lang="en-US" altLang="zh-CN" sz="2400" dirty="0">
                <a:solidFill>
                  <a:schemeClr val="accent1"/>
                </a:solidFill>
                <a:ea typeface="Gulim" panose="020B0600000101010101" pitchFamily="34" charset="-127"/>
              </a:rPr>
              <a:t>we traveled to </a:t>
            </a:r>
            <a:r>
              <a:rPr lang="en-US" altLang="zh-CN" sz="2400" dirty="0">
                <a:solidFill>
                  <a:schemeClr val="accent2"/>
                </a:solidFill>
                <a:ea typeface="Gulim" panose="020B0600000101010101" pitchFamily="34" charset="-127"/>
              </a:rPr>
              <a:t>Spain</a:t>
            </a:r>
            <a:r>
              <a:rPr lang="en-US" altLang="zh-CN" sz="2400" dirty="0">
                <a:solidFill>
                  <a:schemeClr val="accent1"/>
                </a:solidFill>
                <a:ea typeface="Gulim" panose="020B0600000101010101" pitchFamily="34" charset="-127"/>
              </a:rPr>
              <a:t> and explored its beautiful cities.</a:t>
            </a:r>
            <a:endParaRPr lang="en-US" altLang="zh-CN" sz="2000" dirty="0">
              <a:solidFill>
                <a:schemeClr val="accent1"/>
              </a:solidFill>
              <a:ea typeface="Gulim" panose="020B0600000101010101" pitchFamily="34" charset="-127"/>
            </a:endParaRPr>
          </a:p>
          <a:p>
            <a:pPr lvl="0">
              <a:lnSpc>
                <a:spcPct val="150000"/>
              </a:lnSpc>
            </a:pPr>
            <a:endParaRPr lang="en-US" altLang="zh-CN" sz="2000" dirty="0">
              <a:solidFill>
                <a:schemeClr val="accent1"/>
              </a:solidFill>
              <a:ea typeface="Gulim" panose="020B0600000101010101" pitchFamily="34" charset="-127"/>
            </a:endParaRPr>
          </a:p>
          <a:p>
            <a:pPr lvl="0">
              <a:lnSpc>
                <a:spcPct val="150000"/>
              </a:lnSpc>
            </a:pPr>
            <a:endParaRPr lang="en-US" altLang="zh-CN" sz="2000" dirty="0">
              <a:solidFill>
                <a:schemeClr val="accent1"/>
              </a:solidFill>
              <a:ea typeface="Gulim" panose="020B0600000101010101" pitchFamily="34" charset="-127"/>
            </a:endParaRPr>
          </a:p>
          <a:p>
            <a:pPr lvl="0">
              <a:lnSpc>
                <a:spcPct val="150000"/>
              </a:lnSpc>
            </a:pPr>
            <a:endParaRPr lang="en-US" altLang="zh-CN" sz="2000" dirty="0">
              <a:solidFill>
                <a:schemeClr val="accent1"/>
              </a:solidFill>
              <a:ea typeface="Gulim" panose="020B0600000101010101" pitchFamily="34" charset="-127"/>
            </a:endParaRPr>
          </a:p>
        </p:txBody>
      </p:sp>
      <p:sp>
        <p:nvSpPr>
          <p:cNvPr id="7" name="矩形 6">
            <a:extLst>
              <a:ext uri="{FF2B5EF4-FFF2-40B4-BE49-F238E27FC236}">
                <a16:creationId xmlns:a16="http://schemas.microsoft.com/office/drawing/2014/main" id="{9FEDB359-488F-C253-870B-50A3DF6EEA4B}"/>
              </a:ext>
            </a:extLst>
          </p:cNvPr>
          <p:cNvSpPr/>
          <p:nvPr/>
        </p:nvSpPr>
        <p:spPr>
          <a:xfrm>
            <a:off x="369526" y="3399271"/>
            <a:ext cx="3339349" cy="2168286"/>
          </a:xfrm>
          <a:prstGeom prst="rect">
            <a:avLst/>
          </a:prstGeom>
        </p:spPr>
        <p:txBody>
          <a:bodyPr wrap="square">
            <a:spAutoFit/>
          </a:bodyPr>
          <a:lstStyle/>
          <a:p>
            <a:pPr lvl="0">
              <a:lnSpc>
                <a:spcPct val="150000"/>
              </a:lnSpc>
            </a:pPr>
            <a:r>
              <a:rPr lang="en-US" altLang="zh-CN" sz="2800" b="1" dirty="0">
                <a:solidFill>
                  <a:schemeClr val="bg1">
                    <a:lumMod val="95000"/>
                  </a:schemeClr>
                </a:solidFill>
                <a:ea typeface="Gulim" panose="020B0600000101010101" pitchFamily="34" charset="-127"/>
              </a:rPr>
              <a:t>Target Prompt:</a:t>
            </a:r>
          </a:p>
          <a:p>
            <a:pPr lvl="0">
              <a:lnSpc>
                <a:spcPct val="150000"/>
              </a:lnSpc>
            </a:pPr>
            <a:r>
              <a:rPr lang="en-US" altLang="zh-CN" sz="2400" dirty="0">
                <a:solidFill>
                  <a:schemeClr val="accent1"/>
                </a:solidFill>
                <a:ea typeface="Gulim" panose="020B0600000101010101" pitchFamily="34" charset="-127"/>
              </a:rPr>
              <a:t>The largest city in x</a:t>
            </a:r>
            <a:endParaRPr lang="en-US" altLang="zh-CN" sz="2000" dirty="0">
              <a:solidFill>
                <a:schemeClr val="accent1"/>
              </a:solidFill>
              <a:ea typeface="Gulim" panose="020B0600000101010101" pitchFamily="34" charset="-127"/>
            </a:endParaRPr>
          </a:p>
          <a:p>
            <a:pPr lvl="0">
              <a:lnSpc>
                <a:spcPct val="150000"/>
              </a:lnSpc>
            </a:pPr>
            <a:endParaRPr lang="en-US" altLang="zh-CN" sz="2000" dirty="0">
              <a:solidFill>
                <a:schemeClr val="accent1"/>
              </a:solidFill>
              <a:ea typeface="Gulim" panose="020B0600000101010101" pitchFamily="34" charset="-127"/>
            </a:endParaRPr>
          </a:p>
          <a:p>
            <a:pPr lvl="0">
              <a:lnSpc>
                <a:spcPct val="150000"/>
              </a:lnSpc>
            </a:pPr>
            <a:endParaRPr lang="en-US" altLang="zh-CN" sz="2000" dirty="0">
              <a:solidFill>
                <a:schemeClr val="accent1"/>
              </a:solidFill>
              <a:ea typeface="Gulim" panose="020B0600000101010101" pitchFamily="34" charset="-127"/>
            </a:endParaRPr>
          </a:p>
        </p:txBody>
      </p:sp>
      <p:sp>
        <p:nvSpPr>
          <p:cNvPr id="8" name="矩形 7">
            <a:extLst>
              <a:ext uri="{FF2B5EF4-FFF2-40B4-BE49-F238E27FC236}">
                <a16:creationId xmlns:a16="http://schemas.microsoft.com/office/drawing/2014/main" id="{429DD6D7-2D2E-B2F1-5AD5-1B69C13E4B8C}"/>
              </a:ext>
            </a:extLst>
          </p:cNvPr>
          <p:cNvSpPr/>
          <p:nvPr/>
        </p:nvSpPr>
        <p:spPr>
          <a:xfrm>
            <a:off x="325372" y="4735789"/>
            <a:ext cx="3339349" cy="1152623"/>
          </a:xfrm>
          <a:prstGeom prst="rect">
            <a:avLst/>
          </a:prstGeom>
        </p:spPr>
        <p:txBody>
          <a:bodyPr wrap="square">
            <a:spAutoFit/>
          </a:bodyPr>
          <a:lstStyle/>
          <a:p>
            <a:pPr lvl="0">
              <a:lnSpc>
                <a:spcPct val="150000"/>
              </a:lnSpc>
            </a:pPr>
            <a:r>
              <a:rPr lang="en-US" altLang="zh-CN" sz="2800" b="1" dirty="0">
                <a:solidFill>
                  <a:schemeClr val="bg1">
                    <a:lumMod val="95000"/>
                  </a:schemeClr>
                </a:solidFill>
                <a:ea typeface="Gulim" panose="020B0600000101010101" pitchFamily="34" charset="-127"/>
              </a:rPr>
              <a:t>Model: </a:t>
            </a:r>
            <a:r>
              <a:rPr lang="en-US" altLang="zh-CN" sz="2800" b="1" dirty="0">
                <a:solidFill>
                  <a:srgbClr val="0070C0"/>
                </a:solidFill>
                <a:ea typeface="Gulim" panose="020B0600000101010101" pitchFamily="34" charset="-127"/>
              </a:rPr>
              <a:t>gpt-j-6b</a:t>
            </a:r>
            <a:endParaRPr lang="en-US" altLang="zh-CN" sz="2000" dirty="0">
              <a:solidFill>
                <a:srgbClr val="0070C0"/>
              </a:solidFill>
              <a:ea typeface="Gulim" panose="020B0600000101010101" pitchFamily="34" charset="-127"/>
            </a:endParaRPr>
          </a:p>
          <a:p>
            <a:pPr lvl="0">
              <a:lnSpc>
                <a:spcPct val="150000"/>
              </a:lnSpc>
            </a:pPr>
            <a:endParaRPr lang="en-US" altLang="zh-CN" sz="2000" dirty="0">
              <a:solidFill>
                <a:schemeClr val="accent1"/>
              </a:solidFill>
              <a:ea typeface="Gulim" panose="020B0600000101010101" pitchFamily="34" charset="-127"/>
            </a:endParaRPr>
          </a:p>
        </p:txBody>
      </p:sp>
    </p:spTree>
    <p:extLst>
      <p:ext uri="{BB962C8B-B14F-4D97-AF65-F5344CB8AC3E}">
        <p14:creationId xmlns:p14="http://schemas.microsoft.com/office/powerpoint/2010/main" val="2748966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3BFE0-484B-AA8A-A89B-7F55FEDB3606}"/>
            </a:ext>
          </a:extLst>
        </p:cNvPr>
        <p:cNvGrpSpPr/>
        <p:nvPr/>
      </p:nvGrpSpPr>
      <p:grpSpPr>
        <a:xfrm>
          <a:off x="0" y="0"/>
          <a:ext cx="0" cy="0"/>
          <a:chOff x="0" y="0"/>
          <a:chExt cx="0" cy="0"/>
        </a:xfrm>
      </p:grpSpPr>
      <p:sp>
        <p:nvSpPr>
          <p:cNvPr id="13" name="文本框 12">
            <a:extLst>
              <a:ext uri="{FF2B5EF4-FFF2-40B4-BE49-F238E27FC236}">
                <a16:creationId xmlns:a16="http://schemas.microsoft.com/office/drawing/2014/main" id="{3E43C6C3-AC7A-4350-0582-08B07CECF33D}"/>
              </a:ext>
            </a:extLst>
          </p:cNvPr>
          <p:cNvSpPr txBox="1"/>
          <p:nvPr/>
        </p:nvSpPr>
        <p:spPr>
          <a:xfrm>
            <a:off x="1351493" y="2662314"/>
            <a:ext cx="7490581" cy="1323439"/>
          </a:xfrm>
          <a:prstGeom prst="rect">
            <a:avLst/>
          </a:prstGeom>
          <a:noFill/>
        </p:spPr>
        <p:txBody>
          <a:bodyPr wrap="square" rtlCol="0">
            <a:spAutoFit/>
          </a:bodyPr>
          <a:lstStyle/>
          <a:p>
            <a:r>
              <a:rPr lang="en-US" altLang="zh-CN" sz="8000" b="1" dirty="0">
                <a:solidFill>
                  <a:schemeClr val="bg1">
                    <a:lumMod val="95000"/>
                  </a:schemeClr>
                </a:solidFill>
                <a:latin typeface="Gulim" panose="020B0600000101010101" pitchFamily="34" charset="-127"/>
                <a:ea typeface="Gulim" panose="020B0600000101010101" pitchFamily="34" charset="-127"/>
                <a:cs typeface="Aharoni" panose="02010803020104030203" pitchFamily="2" charset="-79"/>
              </a:rPr>
              <a:t>4 Conclusion</a:t>
            </a:r>
            <a:endParaRPr lang="en-US" altLang="zh-CN" sz="3600" b="1" cap="small" dirty="0">
              <a:solidFill>
                <a:schemeClr val="bg1">
                  <a:lumMod val="95000"/>
                </a:schemeClr>
              </a:solidFill>
              <a:latin typeface="Aharoni" panose="02010803020104030203" pitchFamily="2" charset="-79"/>
              <a:ea typeface="Gulim" panose="020B0600000101010101" pitchFamily="34" charset="-127"/>
              <a:cs typeface="Aharoni" panose="02010803020104030203" pitchFamily="2" charset="-79"/>
            </a:endParaRPr>
          </a:p>
        </p:txBody>
      </p:sp>
      <p:cxnSp>
        <p:nvCxnSpPr>
          <p:cNvPr id="2" name="直接连接符 1">
            <a:extLst>
              <a:ext uri="{FF2B5EF4-FFF2-40B4-BE49-F238E27FC236}">
                <a16:creationId xmlns:a16="http://schemas.microsoft.com/office/drawing/2014/main" id="{9058D509-74CD-5876-2C6C-0D50D493F682}"/>
              </a:ext>
            </a:extLst>
          </p:cNvPr>
          <p:cNvCxnSpPr/>
          <p:nvPr/>
        </p:nvCxnSpPr>
        <p:spPr>
          <a:xfrm flipV="1">
            <a:off x="8225318" y="2485430"/>
            <a:ext cx="616756" cy="1887139"/>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4278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91BDCA1-C10B-E71D-08BC-4BDFA25A5550}"/>
              </a:ext>
            </a:extLst>
          </p:cNvPr>
          <p:cNvSpPr/>
          <p:nvPr/>
        </p:nvSpPr>
        <p:spPr>
          <a:xfrm>
            <a:off x="1156136" y="335115"/>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Overall Performance</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cxnSp>
        <p:nvCxnSpPr>
          <p:cNvPr id="8" name="直接连接符 7">
            <a:extLst>
              <a:ext uri="{FF2B5EF4-FFF2-40B4-BE49-F238E27FC236}">
                <a16:creationId xmlns:a16="http://schemas.microsoft.com/office/drawing/2014/main" id="{FBCA8873-66A2-55CF-A8AB-356F54D6C4A2}"/>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a:extLst>
              <a:ext uri="{FF2B5EF4-FFF2-40B4-BE49-F238E27FC236}">
                <a16:creationId xmlns:a16="http://schemas.microsoft.com/office/drawing/2014/main" id="{9CDA1139-552D-FAB6-968E-22E969A8629B}"/>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866174C5-CB09-B6DD-62F2-1082EA8FB94F}"/>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4</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pic>
        <p:nvPicPr>
          <p:cNvPr id="14" name="图片 13">
            <a:extLst>
              <a:ext uri="{FF2B5EF4-FFF2-40B4-BE49-F238E27FC236}">
                <a16:creationId xmlns:a16="http://schemas.microsoft.com/office/drawing/2014/main" id="{38E000F5-799A-6628-E867-1BD418330D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4427" y="1056060"/>
            <a:ext cx="9783145" cy="5466825"/>
          </a:xfrm>
          <a:prstGeom prst="rect">
            <a:avLst/>
          </a:prstGeom>
        </p:spPr>
      </p:pic>
      <p:sp>
        <p:nvSpPr>
          <p:cNvPr id="21" name="矩形 20">
            <a:extLst>
              <a:ext uri="{FF2B5EF4-FFF2-40B4-BE49-F238E27FC236}">
                <a16:creationId xmlns:a16="http://schemas.microsoft.com/office/drawing/2014/main" id="{D1C63ED1-BFFB-9C9B-3396-1AC8CF5CBD59}"/>
              </a:ext>
            </a:extLst>
          </p:cNvPr>
          <p:cNvSpPr/>
          <p:nvPr/>
        </p:nvSpPr>
        <p:spPr>
          <a:xfrm>
            <a:off x="9935183" y="2172511"/>
            <a:ext cx="479898" cy="18158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E7EE9EC1-9508-9226-9B78-1E10FF824F7F}"/>
              </a:ext>
            </a:extLst>
          </p:cNvPr>
          <p:cNvSpPr/>
          <p:nvPr/>
        </p:nvSpPr>
        <p:spPr>
          <a:xfrm>
            <a:off x="9931940" y="3310647"/>
            <a:ext cx="479898" cy="18158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DB133A4D-B524-5D52-14D2-CBBB4F72DBC0}"/>
              </a:ext>
            </a:extLst>
          </p:cNvPr>
          <p:cNvSpPr/>
          <p:nvPr/>
        </p:nvSpPr>
        <p:spPr>
          <a:xfrm>
            <a:off x="9931940" y="4267200"/>
            <a:ext cx="479898" cy="18158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0BEED379-C0CE-98B0-631B-6AD7D53E9830}"/>
              </a:ext>
            </a:extLst>
          </p:cNvPr>
          <p:cNvSpPr/>
          <p:nvPr/>
        </p:nvSpPr>
        <p:spPr>
          <a:xfrm>
            <a:off x="9935183" y="5236723"/>
            <a:ext cx="479898" cy="18158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矩形 24">
            <a:extLst>
              <a:ext uri="{FF2B5EF4-FFF2-40B4-BE49-F238E27FC236}">
                <a16:creationId xmlns:a16="http://schemas.microsoft.com/office/drawing/2014/main" id="{9958FC90-F8C9-5AA3-A499-A26FDAB8FF9A}"/>
              </a:ext>
            </a:extLst>
          </p:cNvPr>
          <p:cNvSpPr/>
          <p:nvPr/>
        </p:nvSpPr>
        <p:spPr>
          <a:xfrm>
            <a:off x="9948153" y="6203004"/>
            <a:ext cx="479898" cy="18158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 name="直接箭头连接符 30">
            <a:extLst>
              <a:ext uri="{FF2B5EF4-FFF2-40B4-BE49-F238E27FC236}">
                <a16:creationId xmlns:a16="http://schemas.microsoft.com/office/drawing/2014/main" id="{3678BA17-D28B-811D-FBD7-94700991F1C6}"/>
              </a:ext>
            </a:extLst>
          </p:cNvPr>
          <p:cNvCxnSpPr>
            <a:cxnSpLocks/>
          </p:cNvCxnSpPr>
          <p:nvPr/>
        </p:nvCxnSpPr>
        <p:spPr>
          <a:xfrm flipH="1" flipV="1">
            <a:off x="9150574" y="2438400"/>
            <a:ext cx="424235" cy="27237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F87205B0-8B06-EA73-5DC5-F47C8C7AB0D7}"/>
              </a:ext>
            </a:extLst>
          </p:cNvPr>
          <p:cNvSpPr/>
          <p:nvPr/>
        </p:nvSpPr>
        <p:spPr>
          <a:xfrm>
            <a:off x="8670676" y="1796374"/>
            <a:ext cx="479898" cy="7782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A825B629-00BF-507F-40E3-64C0F29D2FE2}"/>
              </a:ext>
            </a:extLst>
          </p:cNvPr>
          <p:cNvSpPr/>
          <p:nvPr/>
        </p:nvSpPr>
        <p:spPr>
          <a:xfrm>
            <a:off x="6890514" y="4691974"/>
            <a:ext cx="479898" cy="7782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箭头连接符 39">
            <a:extLst>
              <a:ext uri="{FF2B5EF4-FFF2-40B4-BE49-F238E27FC236}">
                <a16:creationId xmlns:a16="http://schemas.microsoft.com/office/drawing/2014/main" id="{3779DE14-62A1-CA8D-934F-15763EFA76CF}"/>
              </a:ext>
            </a:extLst>
          </p:cNvPr>
          <p:cNvCxnSpPr>
            <a:cxnSpLocks/>
          </p:cNvCxnSpPr>
          <p:nvPr/>
        </p:nvCxnSpPr>
        <p:spPr>
          <a:xfrm flipH="1" flipV="1">
            <a:off x="7370412" y="5395538"/>
            <a:ext cx="424235" cy="27237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5631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fade">
                                      <p:cBhvr>
                                        <p:cTn id="24" dur="500"/>
                                        <p:tgtEl>
                                          <p:spTgt spid="3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500"/>
                                        <p:tgtEl>
                                          <p:spTgt spid="39"/>
                                        </p:tgtEl>
                                      </p:cBhvr>
                                    </p:animEffect>
                                  </p:childTnLst>
                                </p:cTn>
                              </p:par>
                            </p:childTnLst>
                          </p:cTn>
                        </p:par>
                        <p:par>
                          <p:cTn id="28" fill="hold">
                            <p:stCondLst>
                              <p:cond delay="500"/>
                            </p:stCondLst>
                            <p:childTnLst>
                              <p:par>
                                <p:cTn id="29" presetID="22" presetClass="entr" presetSubtype="4" fill="hold" nodeType="after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wipe(down)">
                                      <p:cBhvr>
                                        <p:cTn id="31" dur="500"/>
                                        <p:tgtEl>
                                          <p:spTgt spid="31"/>
                                        </p:tgtEl>
                                      </p:cBhvr>
                                    </p:animEffect>
                                  </p:childTnLst>
                                </p:cTn>
                              </p:par>
                              <p:par>
                                <p:cTn id="32" presetID="22" presetClass="entr" presetSubtype="4" fill="hold"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wipe(down)">
                                      <p:cBhvr>
                                        <p:cTn id="34"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38" grpId="0" animBg="1"/>
      <p:bldP spid="3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4731A-4727-2FAB-5102-6C8049EE2AE4}"/>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4C21F3B2-7D22-9E93-F1DA-297015DE80E5}"/>
              </a:ext>
            </a:extLst>
          </p:cNvPr>
          <p:cNvSpPr/>
          <p:nvPr/>
        </p:nvSpPr>
        <p:spPr>
          <a:xfrm>
            <a:off x="1156136" y="335115"/>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Ablation Study</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cxnSp>
        <p:nvCxnSpPr>
          <p:cNvPr id="8" name="直接连接符 7">
            <a:extLst>
              <a:ext uri="{FF2B5EF4-FFF2-40B4-BE49-F238E27FC236}">
                <a16:creationId xmlns:a16="http://schemas.microsoft.com/office/drawing/2014/main" id="{0698C370-58CF-5701-68F2-B7AA45B4C690}"/>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a:extLst>
              <a:ext uri="{FF2B5EF4-FFF2-40B4-BE49-F238E27FC236}">
                <a16:creationId xmlns:a16="http://schemas.microsoft.com/office/drawing/2014/main" id="{88658020-B13E-DD40-A9DB-84C3D7E2EBBD}"/>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6491C160-CA66-3FB0-D33D-4D4BDFAE3D6F}"/>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4</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pic>
        <p:nvPicPr>
          <p:cNvPr id="14" name="图片 13">
            <a:extLst>
              <a:ext uri="{FF2B5EF4-FFF2-40B4-BE49-F238E27FC236}">
                <a16:creationId xmlns:a16="http://schemas.microsoft.com/office/drawing/2014/main" id="{0B4F58BC-4764-2CA6-33E5-C1EA391E86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4427" y="1056060"/>
            <a:ext cx="9783145" cy="5466825"/>
          </a:xfrm>
          <a:prstGeom prst="rect">
            <a:avLst/>
          </a:prstGeom>
        </p:spPr>
      </p:pic>
      <p:cxnSp>
        <p:nvCxnSpPr>
          <p:cNvPr id="4" name="直接箭头连接符 3">
            <a:extLst>
              <a:ext uri="{FF2B5EF4-FFF2-40B4-BE49-F238E27FC236}">
                <a16:creationId xmlns:a16="http://schemas.microsoft.com/office/drawing/2014/main" id="{F270DB1A-4DB9-7FC9-C707-C5B93757BB4A}"/>
              </a:ext>
            </a:extLst>
          </p:cNvPr>
          <p:cNvCxnSpPr>
            <a:cxnSpLocks/>
            <a:endCxn id="11" idx="1"/>
          </p:cNvCxnSpPr>
          <p:nvPr/>
        </p:nvCxnSpPr>
        <p:spPr>
          <a:xfrm flipV="1">
            <a:off x="955701" y="2289243"/>
            <a:ext cx="620181" cy="38910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左大括号 10">
            <a:extLst>
              <a:ext uri="{FF2B5EF4-FFF2-40B4-BE49-F238E27FC236}">
                <a16:creationId xmlns:a16="http://schemas.microsoft.com/office/drawing/2014/main" id="{BFEDB6A9-D5C0-594E-A816-9BD2999BC703}"/>
              </a:ext>
            </a:extLst>
          </p:cNvPr>
          <p:cNvSpPr/>
          <p:nvPr/>
        </p:nvSpPr>
        <p:spPr>
          <a:xfrm>
            <a:off x="1575882" y="2003898"/>
            <a:ext cx="149480" cy="570690"/>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803620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B9EE6-4569-D469-68E4-62CF24D7C67F}"/>
            </a:ext>
          </a:extLst>
        </p:cNvPr>
        <p:cNvGrpSpPr/>
        <p:nvPr/>
      </p:nvGrpSpPr>
      <p:grpSpPr>
        <a:xfrm>
          <a:off x="0" y="0"/>
          <a:ext cx="0" cy="0"/>
          <a:chOff x="0" y="0"/>
          <a:chExt cx="0" cy="0"/>
        </a:xfrm>
      </p:grpSpPr>
      <p:sp>
        <p:nvSpPr>
          <p:cNvPr id="13" name="文本框 12">
            <a:extLst>
              <a:ext uri="{FF2B5EF4-FFF2-40B4-BE49-F238E27FC236}">
                <a16:creationId xmlns:a16="http://schemas.microsoft.com/office/drawing/2014/main" id="{99986739-5D23-978D-EE26-F0EC510CC6AA}"/>
              </a:ext>
            </a:extLst>
          </p:cNvPr>
          <p:cNvSpPr txBox="1"/>
          <p:nvPr/>
        </p:nvSpPr>
        <p:spPr>
          <a:xfrm>
            <a:off x="1351493" y="2662314"/>
            <a:ext cx="7490581" cy="1323439"/>
          </a:xfrm>
          <a:prstGeom prst="rect">
            <a:avLst/>
          </a:prstGeom>
          <a:noFill/>
        </p:spPr>
        <p:txBody>
          <a:bodyPr wrap="square" rtlCol="0">
            <a:spAutoFit/>
          </a:bodyPr>
          <a:lstStyle/>
          <a:p>
            <a:r>
              <a:rPr lang="en-US" altLang="zh-CN" sz="8000" b="1" dirty="0">
                <a:solidFill>
                  <a:schemeClr val="bg1">
                    <a:lumMod val="95000"/>
                  </a:schemeClr>
                </a:solidFill>
                <a:latin typeface="Gulim" panose="020B0600000101010101" pitchFamily="34" charset="-127"/>
                <a:ea typeface="Gulim" panose="020B0600000101010101" pitchFamily="34" charset="-127"/>
                <a:cs typeface="Aharoni" panose="02010803020104030203" pitchFamily="2" charset="-79"/>
              </a:rPr>
              <a:t>5 </a:t>
            </a:r>
            <a:r>
              <a:rPr lang="en-US" altLang="zh-CN" sz="8000" b="1" cap="small" dirty="0">
                <a:solidFill>
                  <a:schemeClr val="bg1">
                    <a:lumMod val="95000"/>
                  </a:schemeClr>
                </a:solidFill>
                <a:latin typeface="Gulim" panose="020B0600000101010101" pitchFamily="34" charset="-127"/>
                <a:ea typeface="Gulim" panose="020B0600000101010101" pitchFamily="34" charset="-127"/>
                <a:cs typeface="Aharoni" panose="02010803020104030203" pitchFamily="2" charset="-79"/>
              </a:rPr>
              <a:t>Future Work</a:t>
            </a:r>
            <a:endParaRPr lang="en-US" altLang="zh-CN" sz="3600" b="1" cap="small" dirty="0">
              <a:solidFill>
                <a:schemeClr val="bg1">
                  <a:lumMod val="95000"/>
                </a:schemeClr>
              </a:solidFill>
              <a:latin typeface="Aharoni" panose="02010803020104030203" pitchFamily="2" charset="-79"/>
              <a:ea typeface="Gulim" panose="020B0600000101010101" pitchFamily="34" charset="-127"/>
              <a:cs typeface="Aharoni" panose="02010803020104030203" pitchFamily="2" charset="-79"/>
            </a:endParaRPr>
          </a:p>
        </p:txBody>
      </p:sp>
      <p:cxnSp>
        <p:nvCxnSpPr>
          <p:cNvPr id="2" name="直接连接符 1">
            <a:extLst>
              <a:ext uri="{FF2B5EF4-FFF2-40B4-BE49-F238E27FC236}">
                <a16:creationId xmlns:a16="http://schemas.microsoft.com/office/drawing/2014/main" id="{DEF4A964-B114-1CCD-2F26-FE54EDA1F81C}"/>
              </a:ext>
            </a:extLst>
          </p:cNvPr>
          <p:cNvCxnSpPr/>
          <p:nvPr/>
        </p:nvCxnSpPr>
        <p:spPr>
          <a:xfrm flipV="1">
            <a:off x="8465267" y="2485430"/>
            <a:ext cx="616756" cy="1887139"/>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0490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descr="棋盘上棋子的特写"/>
          <p:cNvSpPr/>
          <p:nvPr/>
        </p:nvSpPr>
        <p:spPr>
          <a:xfrm>
            <a:off x="548524" y="4324667"/>
            <a:ext cx="3471863" cy="1714938"/>
          </a:xfrm>
          <a:prstGeom prst="rect">
            <a:avLst/>
          </a:prstGeom>
          <a:blipFill dpi="0" rotWithShape="1">
            <a:blip r:embed="rId3" cstate="print">
              <a:extLst>
                <a:ext uri="{28A0092B-C50C-407E-A947-70E740481C1C}">
                  <a14:useLocalDpi xmlns:a14="http://schemas.microsoft.com/office/drawing/2010/main" val="0"/>
                </a:ext>
              </a:extLst>
            </a:blip>
            <a:srcRect/>
            <a:stretch>
              <a:fillRect t="-24047" b="-2818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矩形 126"/>
          <p:cNvSpPr/>
          <p:nvPr/>
        </p:nvSpPr>
        <p:spPr>
          <a:xfrm>
            <a:off x="551234" y="1706259"/>
            <a:ext cx="11023940" cy="2035647"/>
          </a:xfrm>
          <a:prstGeom prst="rect">
            <a:avLst/>
          </a:prstGeom>
          <a:solidFill>
            <a:srgbClr val="1E1E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9" name="矩形 138"/>
          <p:cNvSpPr/>
          <p:nvPr/>
        </p:nvSpPr>
        <p:spPr>
          <a:xfrm>
            <a:off x="551234" y="1723440"/>
            <a:ext cx="11023940" cy="1891287"/>
          </a:xfrm>
          <a:prstGeom prst="rect">
            <a:avLst/>
          </a:prstGeom>
        </p:spPr>
        <p:txBody>
          <a:bodyPr wrap="square">
            <a:spAutoFit/>
          </a:bodyPr>
          <a:lstStyle/>
          <a:p>
            <a:pPr lvl="0">
              <a:lnSpc>
                <a:spcPct val="150000"/>
              </a:lnSpc>
            </a:pPr>
            <a:r>
              <a:rPr lang="en-US" altLang="zh-CN" sz="2000" dirty="0">
                <a:solidFill>
                  <a:schemeClr val="bg1">
                    <a:lumMod val="95000"/>
                  </a:schemeClr>
                </a:solidFill>
                <a:ea typeface="Gulim" panose="020B0600000101010101" pitchFamily="34" charset="-127"/>
              </a:rPr>
              <a:t>In this paper, we present </a:t>
            </a:r>
            <a:r>
              <a:rPr lang="en-US" altLang="zh-CN" sz="2000" b="1" dirty="0">
                <a:solidFill>
                  <a:schemeClr val="accent1"/>
                </a:solidFill>
                <a:ea typeface="Gulim" panose="020B0600000101010101" pitchFamily="34" charset="-127"/>
              </a:rPr>
              <a:t>ML-Patch</a:t>
            </a:r>
            <a:r>
              <a:rPr lang="en-US" altLang="zh-CN" sz="2000" dirty="0">
                <a:solidFill>
                  <a:schemeClr val="bg1">
                    <a:lumMod val="95000"/>
                  </a:schemeClr>
                </a:solidFill>
                <a:ea typeface="Gulim" panose="020B0600000101010101" pitchFamily="34" charset="-127"/>
              </a:rPr>
              <a:t>, an interpretive evaluation method for LLMs, which utilizing multiple layers’ hidden states to assess the </a:t>
            </a:r>
            <a:r>
              <a:rPr lang="en-US" altLang="zh-CN" sz="2000" b="1" dirty="0">
                <a:solidFill>
                  <a:schemeClr val="accent1"/>
                </a:solidFill>
                <a:ea typeface="Gulim" panose="020B0600000101010101" pitchFamily="34" charset="-127"/>
              </a:rPr>
              <a:t>hidden knowledge </a:t>
            </a:r>
            <a:r>
              <a:rPr lang="en-US" altLang="zh-CN" sz="2000" dirty="0">
                <a:solidFill>
                  <a:schemeClr val="bg1">
                    <a:lumMod val="95000"/>
                  </a:schemeClr>
                </a:solidFill>
                <a:ea typeface="Gulim" panose="020B0600000101010101" pitchFamily="34" charset="-127"/>
              </a:rPr>
              <a:t>in LLMs. We aim for our contributions to assist individual researchers and developers in conveniently evaluating hidden knowledge in language models, thereby improving the reliability of LLMs for </a:t>
            </a:r>
            <a:r>
              <a:rPr lang="en-US" altLang="zh-CN" sz="2000" dirty="0">
                <a:solidFill>
                  <a:schemeClr val="accent1"/>
                </a:solidFill>
                <a:ea typeface="Gulim" panose="020B0600000101010101" pitchFamily="34" charset="-127"/>
              </a:rPr>
              <a:t>downstream tasks and industrial applications</a:t>
            </a:r>
            <a:r>
              <a:rPr lang="en-US" altLang="zh-CN" sz="2000" dirty="0">
                <a:solidFill>
                  <a:schemeClr val="bg1">
                    <a:lumMod val="95000"/>
                  </a:schemeClr>
                </a:solidFill>
                <a:ea typeface="Gulim" panose="020B0600000101010101" pitchFamily="34" charset="-127"/>
              </a:rPr>
              <a:t>.</a:t>
            </a:r>
            <a:endParaRPr lang="zh-CN" altLang="en-US" sz="2000" dirty="0">
              <a:solidFill>
                <a:schemeClr val="bg1">
                  <a:lumMod val="95000"/>
                </a:schemeClr>
              </a:solidFill>
              <a:ea typeface="Gulim" panose="020B0600000101010101" pitchFamily="34" charset="-127"/>
            </a:endParaRPr>
          </a:p>
        </p:txBody>
      </p:sp>
      <p:pic>
        <p:nvPicPr>
          <p:cNvPr id="13" name="图片 12" descr="机器人课程中使用笔记本电脑的男学生"/>
          <p:cNvPicPr>
            <a:picLocks noChangeAspect="1"/>
          </p:cNvPicPr>
          <p:nvPr/>
        </p:nvPicPr>
        <p:blipFill>
          <a:blip r:embed="rId4" cstate="print">
            <a:extLst>
              <a:ext uri="{28A0092B-C50C-407E-A947-70E740481C1C}">
                <a14:useLocalDpi xmlns:a14="http://schemas.microsoft.com/office/drawing/2010/main" val="0"/>
              </a:ext>
            </a:extLst>
          </a:blip>
          <a:srcRect t="12333" b="12333"/>
          <a:stretch/>
        </p:blipFill>
        <p:spPr>
          <a:xfrm>
            <a:off x="4370469" y="4324667"/>
            <a:ext cx="3415473" cy="1714939"/>
          </a:xfrm>
          <a:prstGeom prst="rect">
            <a:avLst/>
          </a:prstGeom>
        </p:spPr>
      </p:pic>
      <p:pic>
        <p:nvPicPr>
          <p:cNvPr id="14" name="图片 13" descr="桌上的分子结构和周期表"/>
          <p:cNvPicPr>
            <a:picLocks/>
          </p:cNvPicPr>
          <p:nvPr/>
        </p:nvPicPr>
        <p:blipFill>
          <a:blip r:embed="rId5" cstate="print">
            <a:extLst>
              <a:ext uri="{28A0092B-C50C-407E-A947-70E740481C1C}">
                <a14:useLocalDpi xmlns:a14="http://schemas.microsoft.com/office/drawing/2010/main" val="0"/>
              </a:ext>
            </a:extLst>
          </a:blip>
          <a:srcRect t="7992" b="26986"/>
          <a:stretch/>
        </p:blipFill>
        <p:spPr>
          <a:xfrm>
            <a:off x="8158774" y="4294941"/>
            <a:ext cx="3416400" cy="1713600"/>
          </a:xfrm>
          <a:prstGeom prst="rect">
            <a:avLst/>
          </a:prstGeom>
        </p:spPr>
      </p:pic>
      <p:sp>
        <p:nvSpPr>
          <p:cNvPr id="2" name="矩形 1">
            <a:extLst>
              <a:ext uri="{FF2B5EF4-FFF2-40B4-BE49-F238E27FC236}">
                <a16:creationId xmlns:a16="http://schemas.microsoft.com/office/drawing/2014/main" id="{0B3B6FFC-E2B3-7484-E698-A8534C6338B7}"/>
              </a:ext>
            </a:extLst>
          </p:cNvPr>
          <p:cNvSpPr/>
          <p:nvPr/>
        </p:nvSpPr>
        <p:spPr>
          <a:xfrm>
            <a:off x="1156136" y="335115"/>
            <a:ext cx="4939864" cy="523220"/>
          </a:xfrm>
          <a:prstGeom prst="rect">
            <a:avLst/>
          </a:prstGeom>
        </p:spPr>
        <p:txBody>
          <a:bodyPr wrap="square">
            <a:spAutoFit/>
          </a:bodyPr>
          <a:lstStyle/>
          <a:p>
            <a:pPr lvl="0"/>
            <a:r>
              <a:rPr lang="en-US" altLang="zh-CN" sz="2800" dirty="0">
                <a:solidFill>
                  <a:schemeClr val="bg1">
                    <a:lumMod val="95000"/>
                  </a:schemeClr>
                </a:solidFill>
                <a:latin typeface="Gulim" panose="020B0600000101010101" pitchFamily="34" charset="-127"/>
                <a:ea typeface="Gulim" panose="020B0600000101010101" pitchFamily="34" charset="-127"/>
              </a:rPr>
              <a:t>Future Works</a:t>
            </a:r>
            <a:endParaRPr lang="zh-CN" altLang="en-US" sz="2800" dirty="0">
              <a:solidFill>
                <a:schemeClr val="bg1">
                  <a:lumMod val="95000"/>
                </a:schemeClr>
              </a:solidFill>
              <a:latin typeface="Gulim" panose="020B0600000101010101" pitchFamily="34" charset="-127"/>
              <a:ea typeface="Gulim" panose="020B0600000101010101" pitchFamily="34" charset="-127"/>
            </a:endParaRPr>
          </a:p>
        </p:txBody>
      </p:sp>
      <p:cxnSp>
        <p:nvCxnSpPr>
          <p:cNvPr id="3" name="直接连接符 2">
            <a:extLst>
              <a:ext uri="{FF2B5EF4-FFF2-40B4-BE49-F238E27FC236}">
                <a16:creationId xmlns:a16="http://schemas.microsoft.com/office/drawing/2014/main" id="{2C5D53D9-0B14-BF85-CEDA-C2A5F2A36EEB}"/>
              </a:ext>
            </a:extLst>
          </p:cNvPr>
          <p:cNvCxnSpPr/>
          <p:nvPr/>
        </p:nvCxnSpPr>
        <p:spPr>
          <a:xfrm>
            <a:off x="955701" y="171536"/>
            <a:ext cx="0" cy="85037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等腰三角形 3">
            <a:extLst>
              <a:ext uri="{FF2B5EF4-FFF2-40B4-BE49-F238E27FC236}">
                <a16:creationId xmlns:a16="http://schemas.microsoft.com/office/drawing/2014/main" id="{A71A57DD-759E-36E6-3630-3A5C9B67AF6E}"/>
              </a:ext>
            </a:extLst>
          </p:cNvPr>
          <p:cNvSpPr/>
          <p:nvPr/>
        </p:nvSpPr>
        <p:spPr>
          <a:xfrm rot="5400000">
            <a:off x="552755" y="806238"/>
            <a:ext cx="238991" cy="19236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8C99BCEA-2DF6-E239-CA37-DEF2DE6BCC50}"/>
              </a:ext>
            </a:extLst>
          </p:cNvPr>
          <p:cNvSpPr/>
          <p:nvPr/>
        </p:nvSpPr>
        <p:spPr>
          <a:xfrm>
            <a:off x="149639" y="120437"/>
            <a:ext cx="439775" cy="646331"/>
          </a:xfrm>
          <a:prstGeom prst="rect">
            <a:avLst/>
          </a:prstGeom>
        </p:spPr>
        <p:txBody>
          <a:bodyPr wrap="square">
            <a:spAutoFit/>
          </a:bodyPr>
          <a:lstStyle/>
          <a:p>
            <a:pPr lvl="0"/>
            <a:r>
              <a:rPr lang="en-US" altLang="zh-CN" sz="3600" b="1" dirty="0">
                <a:solidFill>
                  <a:schemeClr val="bg1">
                    <a:lumMod val="95000"/>
                  </a:schemeClr>
                </a:solidFill>
                <a:latin typeface="Gulim" panose="020B0600000101010101" pitchFamily="34" charset="-127"/>
                <a:ea typeface="Gulim" panose="020B0600000101010101" pitchFamily="34" charset="-127"/>
              </a:rPr>
              <a:t>5</a:t>
            </a:r>
            <a:endParaRPr lang="zh-CN" altLang="en-US" sz="3600" b="1" dirty="0">
              <a:solidFill>
                <a:schemeClr val="bg1">
                  <a:lumMod val="95000"/>
                </a:schemeClr>
              </a:solidFill>
              <a:latin typeface="Gulim" panose="020B0600000101010101" pitchFamily="34" charset="-127"/>
              <a:ea typeface="Gulim" panose="020B0600000101010101" pitchFamily="34" charset="-127"/>
            </a:endParaRPr>
          </a:p>
        </p:txBody>
      </p:sp>
    </p:spTree>
    <p:extLst>
      <p:ext uri="{BB962C8B-B14F-4D97-AF65-F5344CB8AC3E}">
        <p14:creationId xmlns:p14="http://schemas.microsoft.com/office/powerpoint/2010/main" val="625058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78529" y="2875002"/>
            <a:ext cx="5034941" cy="1107996"/>
          </a:xfrm>
          <a:prstGeom prst="rect">
            <a:avLst/>
          </a:prstGeom>
          <a:noFill/>
        </p:spPr>
        <p:txBody>
          <a:bodyPr wrap="square" rtlCol="0">
            <a:spAutoFit/>
          </a:bodyPr>
          <a:lstStyle/>
          <a:p>
            <a:r>
              <a:rPr lang="en-US" altLang="zh-CN" sz="6600" dirty="0">
                <a:solidFill>
                  <a:schemeClr val="bg1">
                    <a:lumMod val="95000"/>
                  </a:schemeClr>
                </a:solidFill>
                <a:latin typeface="Gulim" panose="020B0600000101010101" pitchFamily="34" charset="-127"/>
                <a:ea typeface="Gulim" panose="020B0600000101010101" pitchFamily="34" charset="-127"/>
              </a:rPr>
              <a:t>THANK YOU</a:t>
            </a:r>
            <a:r>
              <a:rPr lang="en-US" altLang="zh-CN" sz="2800" dirty="0">
                <a:solidFill>
                  <a:schemeClr val="bg1">
                    <a:lumMod val="95000"/>
                  </a:schemeClr>
                </a:solidFill>
                <a:latin typeface="Gulim" panose="020B0600000101010101" pitchFamily="34" charset="-127"/>
                <a:ea typeface="Gulim" panose="020B0600000101010101" pitchFamily="34" charset="-127"/>
              </a:rPr>
              <a:t> </a:t>
            </a:r>
          </a:p>
        </p:txBody>
      </p:sp>
    </p:spTree>
    <p:extLst>
      <p:ext uri="{BB962C8B-B14F-4D97-AF65-F5344CB8AC3E}">
        <p14:creationId xmlns:p14="http://schemas.microsoft.com/office/powerpoint/2010/main" val="2719896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7114.pptx"/>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1239</TotalTime>
  <Words>2536</Words>
  <Application>Microsoft Office PowerPoint</Application>
  <PresentationFormat>宽屏</PresentationFormat>
  <Paragraphs>254</Paragraphs>
  <Slides>31</Slides>
  <Notes>31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31</vt:i4>
      </vt:variant>
    </vt:vector>
  </HeadingPairs>
  <TitlesOfParts>
    <vt:vector size="41" baseType="lpstr">
      <vt:lpstr>-apple-system</vt:lpstr>
      <vt:lpstr>Gulim</vt:lpstr>
      <vt:lpstr>quote-cjk-patch</vt:lpstr>
      <vt:lpstr>Aharoni</vt:lpstr>
      <vt:lpstr>Arial</vt:lpstr>
      <vt:lpstr>Calibri</vt:lpstr>
      <vt:lpstr>Cambria Math</vt:lpstr>
      <vt:lpstr>Roboto</vt:lpstr>
      <vt:lpstr>Segoe UI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7114.pptx</dc:title>
  <dc:creator>Yuetong Li</dc:creator>
  <cp:lastModifiedBy>Yuetong Li</cp:lastModifiedBy>
  <cp:revision>117</cp:revision>
  <dcterms:created xsi:type="dcterms:W3CDTF">2017-06-24T03:08:00Z</dcterms:created>
  <dcterms:modified xsi:type="dcterms:W3CDTF">2025-06-03T03:44:25Z</dcterms:modified>
</cp:coreProperties>
</file>